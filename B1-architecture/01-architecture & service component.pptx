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40"/>
  </p:notesMasterIdLst>
  <p:sldIdLst>
    <p:sldId id="371" r:id="rId2"/>
    <p:sldId id="583" r:id="rId3"/>
    <p:sldId id="582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569" r:id="rId15"/>
    <p:sldId id="581" r:id="rId16"/>
    <p:sldId id="405" r:id="rId17"/>
    <p:sldId id="406" r:id="rId18"/>
    <p:sldId id="407" r:id="rId19"/>
    <p:sldId id="438" r:id="rId20"/>
    <p:sldId id="443" r:id="rId21"/>
    <p:sldId id="446" r:id="rId22"/>
    <p:sldId id="447" r:id="rId23"/>
    <p:sldId id="448" r:id="rId24"/>
    <p:sldId id="449" r:id="rId25"/>
    <p:sldId id="450" r:id="rId26"/>
    <p:sldId id="451" r:id="rId27"/>
    <p:sldId id="453" r:id="rId28"/>
    <p:sldId id="452" r:id="rId29"/>
    <p:sldId id="454" r:id="rId30"/>
    <p:sldId id="455" r:id="rId31"/>
    <p:sldId id="456" r:id="rId32"/>
    <p:sldId id="457" r:id="rId33"/>
    <p:sldId id="458" r:id="rId34"/>
    <p:sldId id="586" r:id="rId35"/>
    <p:sldId id="585" r:id="rId36"/>
    <p:sldId id="584" r:id="rId37"/>
    <p:sldId id="389" r:id="rId38"/>
    <p:sldId id="259" r:id="rId3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DBD8CF"/>
    <a:srgbClr val="C9C8B7"/>
    <a:srgbClr val="B9B799"/>
    <a:srgbClr val="A2F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52" autoAdjust="0"/>
    <p:restoredTop sz="93054" autoAdjust="0"/>
  </p:normalViewPr>
  <p:slideViewPr>
    <p:cSldViewPr>
      <p:cViewPr varScale="1">
        <p:scale>
          <a:sx n="176" d="100"/>
          <a:sy n="176" d="100"/>
        </p:scale>
        <p:origin x="1064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11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0D2F6-41A1-4FB9-8DEA-0C65FD35AB0D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221B5-E10A-485A-AB8F-213CB661A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87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7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alphaModFix amt="2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77"/>
                    </a14:imgEffect>
                  </a14:imgLayer>
                </a14:imgProps>
              </a:ext>
            </a:extLst>
          </a:blip>
          <a:srcRect/>
          <a:tile tx="-31750" ty="-31750" sx="40000" sy="4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单圆角矩形 6"/>
          <p:cNvSpPr/>
          <p:nvPr userDrawn="1"/>
        </p:nvSpPr>
        <p:spPr>
          <a:xfrm>
            <a:off x="-34456" y="1059582"/>
            <a:ext cx="6084168" cy="1982405"/>
          </a:xfrm>
          <a:prstGeom prst="round1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460" y="1271653"/>
            <a:ext cx="5490645" cy="1558265"/>
          </a:xfrm>
        </p:spPr>
        <p:txBody>
          <a:bodyPr anchor="ctr"/>
          <a:lstStyle>
            <a:lvl1pPr algn="l">
              <a:defRPr sz="4050" b="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131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1">
          <a:blip r:embed="rId2">
            <a:alphaModFix amt="2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77"/>
                    </a14:imgEffect>
                  </a14:imgLayer>
                </a14:imgProps>
              </a:ext>
            </a:extLst>
          </a:blip>
          <a:srcRect/>
          <a:tile tx="-31750" ty="-31750" sx="40000" sy="4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571472" y="589345"/>
            <a:ext cx="8143932" cy="1982405"/>
          </a:xfrm>
          <a:prstGeom prst="roundRect">
            <a:avLst>
              <a:gd name="adj" fmla="val 6209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7238" y="735546"/>
            <a:ext cx="7772400" cy="1674186"/>
          </a:xfrm>
        </p:spPr>
        <p:txBody>
          <a:bodyPr anchor="t"/>
          <a:lstStyle>
            <a:lvl1pPr algn="ctr">
              <a:defRPr sz="2100" b="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3038" y="2895786"/>
            <a:ext cx="6400800" cy="140415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  <a:latin typeface="Cambria" pitchFamily="18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-36512" y="4948014"/>
            <a:ext cx="9216000" cy="2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68441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72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61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39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5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流程图: 延期 21"/>
          <p:cNvSpPr/>
          <p:nvPr userDrawn="1"/>
        </p:nvSpPr>
        <p:spPr>
          <a:xfrm rot="16200000">
            <a:off x="4420251" y="419751"/>
            <a:ext cx="303498" cy="9144000"/>
          </a:xfrm>
          <a:prstGeom prst="flowChartDelay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0" name="矩形 19"/>
          <p:cNvSpPr/>
          <p:nvPr userDrawn="1"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4" y="105708"/>
            <a:ext cx="6817128" cy="413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845073"/>
            <a:ext cx="8784976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7504" y="4948014"/>
            <a:ext cx="2026096" cy="189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新宋体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12160" y="4925087"/>
            <a:ext cx="2895600" cy="195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pic>
        <p:nvPicPr>
          <p:cNvPr id="1026" name="Picture 2" descr="C:\Users\Administrator\Desktop\REINS.png"/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16" y="56257"/>
            <a:ext cx="1691680" cy="355253"/>
          </a:xfrm>
          <a:prstGeom prst="rect">
            <a:avLst/>
          </a:prstGeom>
          <a:noFill/>
          <a:ln w="9525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 userDrawn="1"/>
        </p:nvSpPr>
        <p:spPr>
          <a:xfrm>
            <a:off x="6876256" y="400404"/>
            <a:ext cx="2232248" cy="19620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dirty="0" err="1">
                <a:solidFill>
                  <a:schemeClr val="bg1"/>
                </a:solidFill>
                <a:effectLst/>
                <a:latin typeface="Cambria" pitchFamily="18" charset="0"/>
              </a:rPr>
              <a:t>REliable</a:t>
            </a:r>
            <a:r>
              <a:rPr lang="en-US" altLang="zh-CN" sz="675" dirty="0">
                <a:solidFill>
                  <a:schemeClr val="bg1"/>
                </a:solidFill>
                <a:effectLst/>
                <a:latin typeface="Cambria" pitchFamily="18" charset="0"/>
              </a:rPr>
              <a:t>, </a:t>
            </a:r>
            <a:r>
              <a:rPr lang="en-US" altLang="zh-CN" sz="675" dirty="0" err="1">
                <a:solidFill>
                  <a:schemeClr val="bg1"/>
                </a:solidFill>
                <a:effectLst/>
                <a:latin typeface="Cambria" pitchFamily="18" charset="0"/>
              </a:rPr>
              <a:t>INtelligent</a:t>
            </a:r>
            <a:r>
              <a:rPr lang="en-US" altLang="zh-CN" sz="675" baseline="0" dirty="0">
                <a:solidFill>
                  <a:schemeClr val="bg1"/>
                </a:solidFill>
                <a:effectLst/>
                <a:latin typeface="Cambria" pitchFamily="18" charset="0"/>
              </a:rPr>
              <a:t> &amp; Scalable Systems</a:t>
            </a:r>
            <a:endParaRPr lang="zh-CN" altLang="en-US" sz="675" dirty="0">
              <a:solidFill>
                <a:schemeClr val="bg1"/>
              </a:solidFill>
              <a:effectLst/>
              <a:latin typeface="Cambria" pitchFamily="18" charset="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6191250" y="575073"/>
            <a:ext cx="29527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600" dirty="0">
                <a:latin typeface="微软雅黑" pitchFamily="34" charset="-122"/>
                <a:ea typeface="微软雅黑" pitchFamily="34" charset="-122"/>
              </a:rPr>
              <a:t>                               </a:t>
            </a:r>
            <a:endParaRPr lang="zh-CN" altLang="en-US" sz="600" dirty="0">
              <a:solidFill>
                <a:schemeClr val="bg1"/>
              </a:solidFill>
              <a:effectLst/>
              <a:latin typeface="Cambria" pitchFamily="18" charset="0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4643438" y="575073"/>
            <a:ext cx="16192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3286125" y="575073"/>
            <a:ext cx="14033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2143125" y="575073"/>
            <a:ext cx="11874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14438" y="575073"/>
            <a:ext cx="9715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500063" y="575073"/>
            <a:ext cx="7556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0" y="573882"/>
            <a:ext cx="539750" cy="1083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067944" y="4894009"/>
            <a:ext cx="1008112" cy="23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 baseline="0">
                <a:solidFill>
                  <a:schemeClr val="bg1"/>
                </a:solidFill>
                <a:latin typeface="Tahoma" pitchFamily="34" charset="0"/>
                <a:ea typeface="微软雅黑" pitchFamily="34" charset="-122"/>
              </a:defRPr>
            </a:lvl1pPr>
          </a:lstStyle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922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0" r:id="rId3"/>
    <p:sldLayoutId id="2147483653" r:id="rId4"/>
    <p:sldLayoutId id="2147483654" r:id="rId5"/>
    <p:sldLayoutId id="2147483655" r:id="rId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685800" rtl="0" eaLnBrk="1" latinLnBrk="0" hangingPunct="1">
        <a:spcBef>
          <a:spcPct val="0"/>
        </a:spcBef>
        <a:buNone/>
        <a:defRPr sz="2400" b="0" kern="1200" baseline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ahoma" pitchFamily="34" charset="0"/>
          <a:ea typeface="微软雅黑" pitchFamily="34" charset="-122"/>
          <a:cs typeface="Tahoma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35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2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reins.se.sjtu.edu.cn/~chenhp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reins.se.sjtu.edu.cn/~chen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hyperlink" Target="https://www.openhome.cc/Gossip/ServletJSP/BehindHttpSession.html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C77sBcAtSQ" TargetMode="External"/><Relationship Id="rId2" Type="http://schemas.openxmlformats.org/officeDocument/2006/relationships/hyperlink" Target="https://github.com/brettwooldridge/HikariCP/wiki/About-Pool-Sizing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/docs/5.2.3.RELEASE/spring-framework-reference/core.html#beans-factory-scopes" TargetMode="External"/><Relationship Id="rId2" Type="http://schemas.openxmlformats.org/officeDocument/2006/relationships/hyperlink" Target="https://linux.cn/article-3166-1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blog.csdn.net/cuichunchi/article/details/79170240" TargetMode="External"/><Relationship Id="rId4" Type="http://schemas.openxmlformats.org/officeDocument/2006/relationships/hyperlink" Target="https://www.baeldung.com/spring-bean-scopes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sz="2400" dirty="0"/>
              <a:t>Architecture of Enterprise Applications 1</a:t>
            </a:r>
            <a:br>
              <a:rPr lang="en-US" altLang="zh-CN" sz="2400" dirty="0"/>
            </a:br>
            <a:r>
              <a:rPr lang="en-US" altLang="zh-CN" sz="2400" dirty="0"/>
              <a:t>Overview of Enterprise Applications</a:t>
            </a:r>
            <a:br>
              <a:rPr lang="en-US" altLang="zh-CN" sz="2400" dirty="0"/>
            </a:br>
            <a:endParaRPr lang="zh-CN" altLang="en-US" sz="1350" i="1" dirty="0">
              <a:solidFill>
                <a:schemeClr val="tx1"/>
              </a:solidFill>
              <a:effectLst/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225279" y="2895786"/>
            <a:ext cx="4800600" cy="1836204"/>
          </a:xfrm>
        </p:spPr>
        <p:txBody>
          <a:bodyPr>
            <a:normAutofit/>
          </a:bodyPr>
          <a:lstStyle/>
          <a:p>
            <a:r>
              <a:rPr lang="en-US" altLang="zh-CN" b="1" dirty="0"/>
              <a:t>Haopeng Chen</a:t>
            </a:r>
          </a:p>
          <a:p>
            <a:endParaRPr lang="en-US" altLang="zh-CN" dirty="0"/>
          </a:p>
          <a:p>
            <a:r>
              <a:rPr lang="en-US" altLang="zh-CN" sz="1350" b="1" i="1" dirty="0" err="1"/>
              <a:t>RE</a:t>
            </a:r>
            <a:r>
              <a:rPr lang="en-US" altLang="zh-CN" i="1" dirty="0" err="1"/>
              <a:t>liable</a:t>
            </a:r>
            <a:r>
              <a:rPr lang="en-US" altLang="zh-CN" i="1" dirty="0"/>
              <a:t>, </a:t>
            </a:r>
            <a:r>
              <a:rPr lang="en-US" altLang="zh-CN" sz="1350" b="1" i="1" dirty="0" err="1"/>
              <a:t>IN</a:t>
            </a:r>
            <a:r>
              <a:rPr lang="en-US" altLang="zh-CN" i="1" dirty="0" err="1"/>
              <a:t>telligent</a:t>
            </a:r>
            <a:r>
              <a:rPr lang="en-US" altLang="zh-CN" i="1" dirty="0"/>
              <a:t> and </a:t>
            </a:r>
            <a:r>
              <a:rPr lang="en-US" altLang="zh-CN" sz="1350" b="1" i="1" dirty="0"/>
              <a:t>S</a:t>
            </a:r>
            <a:r>
              <a:rPr lang="en-US" altLang="zh-CN" i="1" dirty="0"/>
              <a:t>calable Systems Group (</a:t>
            </a:r>
            <a:r>
              <a:rPr lang="en-US" altLang="zh-CN" b="1" i="1" dirty="0"/>
              <a:t>REINS</a:t>
            </a:r>
            <a:r>
              <a:rPr lang="en-US" altLang="zh-CN" i="1" dirty="0"/>
              <a:t>)</a:t>
            </a:r>
          </a:p>
          <a:p>
            <a:r>
              <a:rPr lang="en-US" altLang="zh-CN" dirty="0"/>
              <a:t>Shanghai Jiao Tong University</a:t>
            </a:r>
          </a:p>
          <a:p>
            <a:r>
              <a:rPr lang="en-US" altLang="zh-CN" dirty="0"/>
              <a:t>Shanghai, China</a:t>
            </a:r>
          </a:p>
          <a:p>
            <a:r>
              <a:rPr lang="en-US" altLang="zh-CN" u="sng" dirty="0">
                <a:hlinkClick r:id="rId2"/>
              </a:rPr>
              <a:t>http://reins.se.sjtu.edu.cn/~chenhp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e-mail: chen-hp@sjtu.edu.cn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69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A853E97-3670-BD40-BF2A-4A1FE216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A97B685-C3E5-334E-ADED-F663AD90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Contents</a:t>
            </a:r>
          </a:p>
          <a:p>
            <a:pPr lvl="1"/>
            <a:r>
              <a:rPr lang="en-US" altLang="zh-CN" sz="2100" dirty="0"/>
              <a:t>Architecture</a:t>
            </a:r>
            <a:r>
              <a:rPr lang="zh-CN" altLang="en-US" sz="2100" dirty="0"/>
              <a:t> </a:t>
            </a:r>
            <a:endParaRPr lang="en-US" altLang="zh-CN" sz="2100" dirty="0"/>
          </a:p>
          <a:p>
            <a:pPr lvl="1"/>
            <a:r>
              <a:rPr lang="en-US" altLang="zh-CN" sz="2100" dirty="0"/>
              <a:t>Scope</a:t>
            </a:r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/>
              <a:t>Objectives</a:t>
            </a:r>
          </a:p>
          <a:p>
            <a:pPr lvl="1"/>
            <a:r>
              <a:rPr lang="zh-CN" altLang="en-US" sz="1800" dirty="0">
                <a:latin typeface="DengXian" panose="02010600030101010101" pitchFamily="2" charset="-122"/>
                <a:ea typeface="DengXian" panose="02010600030101010101" pitchFamily="2" charset="-122"/>
              </a:rPr>
              <a:t>能够根据应用系统的规模，确定适合的技术路线，从单机部署到分布式集群部署，再到微服务架构和云部署</a:t>
            </a:r>
            <a:endParaRPr lang="en-US" altLang="zh-CN" sz="18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DengXian" panose="02010600030101010101" pitchFamily="2" charset="-122"/>
                <a:ea typeface="DengXian" panose="02010600030101010101" pitchFamily="2" charset="-122"/>
              </a:rPr>
              <a:t>能够根据系统需求，设计并实现由合理的有状态服务与无状态服务构成服务层</a:t>
            </a:r>
          </a:p>
        </p:txBody>
      </p:sp>
    </p:spTree>
    <p:extLst>
      <p:ext uri="{BB962C8B-B14F-4D97-AF65-F5344CB8AC3E}">
        <p14:creationId xmlns:p14="http://schemas.microsoft.com/office/powerpoint/2010/main" val="306122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96F4FF-FDE7-4B44-8027-9807DD2DF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5" y="1230390"/>
            <a:ext cx="38671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1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6EC0DE-2A44-1F49-AAD0-0FED55E8D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1244678"/>
            <a:ext cx="37909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2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8E886D-33AB-BE42-939C-EBE5EA0EA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877965"/>
            <a:ext cx="3733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15BCC5-B366-064A-ABAC-74D0B4EE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8" y="951570"/>
            <a:ext cx="595312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4155F-D568-9543-A149-678D421F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278" y="681540"/>
            <a:ext cx="5751444" cy="411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C2F5C8-DFAD-3543-9B25-96FBB10ED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55" y="735546"/>
            <a:ext cx="5837290" cy="40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3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B2605E-179E-114F-A6BB-29529876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56" y="897565"/>
            <a:ext cx="6021288" cy="377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62CACB-2EA3-2F4B-B251-AD74227F9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79" y="735546"/>
            <a:ext cx="5595442" cy="402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1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027AD1-A3A9-EB43-9AEC-5B8641631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65" y="897564"/>
            <a:ext cx="5859270" cy="380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E9EA0A-4585-AA4A-AD0D-2B53469F7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21" y="897564"/>
            <a:ext cx="642995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0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sz="2400" dirty="0"/>
              <a:t>Architecture of Enterprise Applications 1</a:t>
            </a:r>
            <a:br>
              <a:rPr lang="en-US" altLang="zh-CN" sz="2400" dirty="0"/>
            </a:br>
            <a:r>
              <a:rPr lang="en-US" altLang="zh-Hans" sz="2400" dirty="0" err="1"/>
              <a:t>Stateful</a:t>
            </a:r>
            <a:r>
              <a:rPr lang="zh-Hans" altLang="en-US" sz="2400" dirty="0"/>
              <a:t> </a:t>
            </a:r>
            <a:r>
              <a:rPr lang="en-US" altLang="zh-Hans" sz="2400" dirty="0"/>
              <a:t>and</a:t>
            </a:r>
            <a:r>
              <a:rPr lang="zh-Hans" altLang="en-US" sz="2400" dirty="0"/>
              <a:t> </a:t>
            </a:r>
            <a:r>
              <a:rPr lang="en-US" altLang="zh-Hans" sz="2400" dirty="0"/>
              <a:t>Stateless</a:t>
            </a:r>
            <a:r>
              <a:rPr lang="zh-Hans" altLang="en-US" sz="2400" dirty="0"/>
              <a:t> </a:t>
            </a:r>
            <a:r>
              <a:rPr lang="en-US" altLang="zh-Hans" sz="2400" dirty="0"/>
              <a:t>Services</a:t>
            </a:r>
            <a:br>
              <a:rPr lang="en-US" altLang="zh-CN" sz="2400" dirty="0"/>
            </a:br>
            <a:endParaRPr lang="zh-CN" altLang="en-US" sz="1350" i="1" dirty="0">
              <a:solidFill>
                <a:schemeClr val="tx1"/>
              </a:solidFill>
              <a:effectLst/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225279" y="2895786"/>
            <a:ext cx="4800600" cy="1836204"/>
          </a:xfrm>
        </p:spPr>
        <p:txBody>
          <a:bodyPr>
            <a:normAutofit/>
          </a:bodyPr>
          <a:lstStyle/>
          <a:p>
            <a:r>
              <a:rPr lang="en-US" altLang="zh-CN" b="1" dirty="0"/>
              <a:t>Haopeng Chen</a:t>
            </a:r>
          </a:p>
          <a:p>
            <a:endParaRPr lang="en-US" altLang="zh-CN" dirty="0"/>
          </a:p>
          <a:p>
            <a:r>
              <a:rPr lang="en-US" altLang="zh-CN" sz="1350" b="1" i="1" dirty="0" err="1"/>
              <a:t>RE</a:t>
            </a:r>
            <a:r>
              <a:rPr lang="en-US" altLang="zh-CN" i="1" dirty="0" err="1"/>
              <a:t>liable</a:t>
            </a:r>
            <a:r>
              <a:rPr lang="en-US" altLang="zh-CN" i="1" dirty="0"/>
              <a:t>, </a:t>
            </a:r>
            <a:r>
              <a:rPr lang="en-US" altLang="zh-CN" sz="1350" b="1" i="1" dirty="0" err="1"/>
              <a:t>IN</a:t>
            </a:r>
            <a:r>
              <a:rPr lang="en-US" altLang="zh-CN" i="1" dirty="0" err="1"/>
              <a:t>telligent</a:t>
            </a:r>
            <a:r>
              <a:rPr lang="en-US" altLang="zh-CN" i="1" dirty="0"/>
              <a:t> and </a:t>
            </a:r>
            <a:r>
              <a:rPr lang="en-US" altLang="zh-CN" sz="1350" b="1" i="1" dirty="0"/>
              <a:t>S</a:t>
            </a:r>
            <a:r>
              <a:rPr lang="en-US" altLang="zh-CN" i="1" dirty="0"/>
              <a:t>calable Systems Group (</a:t>
            </a:r>
            <a:r>
              <a:rPr lang="en-US" altLang="zh-CN" b="1" i="1" dirty="0"/>
              <a:t>REINS</a:t>
            </a:r>
            <a:r>
              <a:rPr lang="en-US" altLang="zh-CN" i="1" dirty="0"/>
              <a:t>)</a:t>
            </a:r>
          </a:p>
          <a:p>
            <a:r>
              <a:rPr lang="en-US" altLang="zh-CN" dirty="0"/>
              <a:t>Shanghai Jiao Tong University</a:t>
            </a:r>
          </a:p>
          <a:p>
            <a:r>
              <a:rPr lang="en-US" altLang="zh-CN" dirty="0"/>
              <a:t>Shanghai, China</a:t>
            </a:r>
          </a:p>
          <a:p>
            <a:r>
              <a:rPr lang="en-US" altLang="zh-CN" u="sng" dirty="0">
                <a:hlinkClick r:id="rId3"/>
              </a:rPr>
              <a:t>http://reins.se.sjtu.edu.cn/~chenhp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e-mail: chen-hp@sjtu.edu.cn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092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Recall: HTTP session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HTTP is a </a:t>
            </a:r>
            <a:r>
              <a:rPr lang="en-US" altLang="zh-CN" dirty="0">
                <a:solidFill>
                  <a:srgbClr val="FF0000"/>
                </a:solidFill>
              </a:rPr>
              <a:t>stateless</a:t>
            </a:r>
            <a:r>
              <a:rPr lang="en-US" altLang="zh-CN" dirty="0"/>
              <a:t> protocol</a:t>
            </a:r>
          </a:p>
          <a:p>
            <a:pPr lvl="1"/>
            <a:r>
              <a:rPr lang="en-US" altLang="zh-CN" dirty="0"/>
              <a:t>A stateless protocol does not require the HTTP server to retain information or status about each user for the duration of multiple requests. 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i="1" dirty="0"/>
              <a:t>from:</a:t>
            </a:r>
            <a:r>
              <a:rPr lang="zh-CN" altLang="en-US" i="1" dirty="0"/>
              <a:t> </a:t>
            </a:r>
            <a:r>
              <a:rPr lang="en-US" altLang="zh-CN" i="1" dirty="0">
                <a:hlinkClick r:id="rId2"/>
              </a:rPr>
              <a:t>https://www.openhome.cc/Gossip/ServletJSP/BehindHttpSession.html</a:t>
            </a:r>
            <a:r>
              <a:rPr lang="zh-CN" altLang="en-US" i="1" dirty="0"/>
              <a:t>    </a:t>
            </a:r>
            <a:endParaRPr lang="en-US" altLang="zh-CN" i="1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757" y="1728501"/>
            <a:ext cx="4374486" cy="217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7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Recall: HTTP session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HTTP is a </a:t>
            </a:r>
            <a:r>
              <a:rPr lang="en-US" altLang="zh-CN" dirty="0">
                <a:solidFill>
                  <a:srgbClr val="FF0000"/>
                </a:solidFill>
              </a:rPr>
              <a:t>stateless</a:t>
            </a:r>
            <a:r>
              <a:rPr lang="en-US" altLang="zh-CN" dirty="0"/>
              <a:t> protocol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DB2DF9-2BB3-3840-AEF9-8EAAE6E77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75606"/>
            <a:ext cx="6858000" cy="34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8E320-C4F7-BC47-8E82-39196310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Spring Bean Scopes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0D1C4-07AF-3D44-814F-6D42E8E84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Hans" dirty="0"/>
              <a:t>What’s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the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meaning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of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scope?</a:t>
            </a:r>
            <a:endParaRPr kumimoji="1" lang="en-US" altLang="zh-CN" dirty="0">
              <a:solidFill>
                <a:schemeClr val="tx2"/>
              </a:solidFill>
            </a:endParaRPr>
          </a:p>
          <a:p>
            <a:endParaRPr kumimoji="1" lang="zh-CN" altLang="en-US" dirty="0">
              <a:solidFill>
                <a:schemeClr val="tx2"/>
              </a:solidFill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E9FFE1B2-E7F7-0645-84E8-B9FA846F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0F4A99-7A83-AE44-B150-AE8453A60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452146"/>
            <a:ext cx="6858000" cy="284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733F7-1ACE-E548-BB4D-4CD9D148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</a:t>
            </a:r>
            <a:r>
              <a:rPr kumimoji="1" lang="en-US" altLang="zh-Hans" dirty="0"/>
              <a:t>cope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CEE6E-97B9-FE4D-8AE7-8BF7DFE69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</a:t>
            </a:r>
            <a:r>
              <a:rPr kumimoji="1" lang="en-US" altLang="zh-Hans" dirty="0"/>
              <a:t>ingleton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: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Stateless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8657E05C-4BC7-3849-A8CD-6A09C44C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464723-3841-5249-8DA0-C84A4B5B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86" y="1396560"/>
            <a:ext cx="5704417" cy="283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8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733F7-1ACE-E548-BB4D-4CD9D148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</a:t>
            </a:r>
            <a:r>
              <a:rPr kumimoji="1" lang="en-US" altLang="zh-Hans" dirty="0"/>
              <a:t>cope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CEE6E-97B9-FE4D-8AE7-8BF7DFE69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Hans" dirty="0"/>
              <a:t>Prototype</a:t>
            </a:r>
            <a:r>
              <a:rPr kumimoji="1" lang="zh-Hans" altLang="en-US" dirty="0"/>
              <a:t> </a:t>
            </a:r>
            <a:r>
              <a:rPr kumimoji="1" lang="en-US" altLang="zh-Hans" dirty="0"/>
              <a:t>:</a:t>
            </a:r>
            <a:r>
              <a:rPr kumimoji="1" lang="zh-Hans" altLang="en-US" dirty="0"/>
              <a:t> </a:t>
            </a:r>
            <a:r>
              <a:rPr kumimoji="1" lang="en-US" altLang="zh-Hans" dirty="0" err="1"/>
              <a:t>Stateful</a:t>
            </a:r>
            <a:endParaRPr kumimoji="1" lang="en-US" altLang="zh-Hans" dirty="0"/>
          </a:p>
          <a:p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8657E05C-4BC7-3849-A8CD-6A09C44C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82F934-773A-4345-A71B-F2D94315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31" y="1399354"/>
            <a:ext cx="5721939" cy="283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8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Default Scope - singleton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FE2AB6-AD12-5D4F-9278-81A0588F3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11" y="1024304"/>
            <a:ext cx="2355631" cy="359472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0E9FEAD-FBBD-804D-B2EE-60A1E9569F2F}"/>
              </a:ext>
            </a:extLst>
          </p:cNvPr>
          <p:cNvSpPr/>
          <p:nvPr/>
        </p:nvSpPr>
        <p:spPr>
          <a:xfrm>
            <a:off x="3723521" y="783967"/>
            <a:ext cx="4212468" cy="2192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userService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808080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>
                <a:solidFill>
                  <a:srgbClr val="9876AA"/>
                </a:solidFill>
              </a:rPr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>
                <a:solidFill>
                  <a:srgbClr val="9876AA"/>
                </a:solidFill>
              </a:rPr>
              <a:t>userService</a:t>
            </a:r>
            <a:r>
              <a:rPr lang="en" altLang="zh-CN" sz="1050" dirty="0" err="1"/>
              <a:t>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302117"/>
            <a:ext cx="4268606" cy="18697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88273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CFB703-274B-CB6D-6486-D470F77C6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65" y="2049167"/>
            <a:ext cx="6858000" cy="161397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2C1F9A0-B244-7C49-B332-22202940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Default Scope - singleton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0D7B2-9D04-8744-A591-89E9D591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93003F-8DBA-9D47-9684-CE89306E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26A4DCF-06A5-8E48-ABE0-47259F37AAD7}"/>
              </a:ext>
            </a:extLst>
          </p:cNvPr>
          <p:cNvSpPr txBox="1"/>
          <p:nvPr/>
        </p:nvSpPr>
        <p:spPr>
          <a:xfrm>
            <a:off x="1628673" y="4165519"/>
            <a:ext cx="18902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Single Service instance</a:t>
            </a:r>
            <a:endParaRPr kumimoji="1" lang="zh-CN" altLang="en-US" sz="1350" dirty="0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A9C1481F-183B-0E4B-B76E-0FC9CA66DB74}"/>
              </a:ext>
            </a:extLst>
          </p:cNvPr>
          <p:cNvSpPr/>
          <p:nvPr/>
        </p:nvSpPr>
        <p:spPr>
          <a:xfrm rot="16200000">
            <a:off x="2185675" y="3633232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46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prototype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E9FEAD-FBBD-804D-B2EE-60A1E9569F2F}"/>
              </a:ext>
            </a:extLst>
          </p:cNvPr>
          <p:cNvSpPr/>
          <p:nvPr/>
        </p:nvSpPr>
        <p:spPr>
          <a:xfrm>
            <a:off x="3723521" y="783967"/>
            <a:ext cx="4212468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endParaRPr lang="en" altLang="zh-CN" sz="1050" dirty="0">
              <a:solidFill>
                <a:srgbClr val="BBB529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@Scope("prototype")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userService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808080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>
                <a:solidFill>
                  <a:srgbClr val="9876AA"/>
                </a:solidFill>
              </a:rPr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>
                <a:solidFill>
                  <a:srgbClr val="9876AA"/>
                </a:solidFill>
              </a:rPr>
              <a:t>userService</a:t>
            </a:r>
            <a:r>
              <a:rPr lang="en" altLang="zh-CN" sz="1050" dirty="0" err="1"/>
              <a:t>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137015"/>
            <a:ext cx="4268606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@Scope("prototype")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0E9A062-1795-E04F-889F-CAD9DB7C3C46}"/>
              </a:ext>
            </a:extLst>
          </p:cNvPr>
          <p:cNvSpPr/>
          <p:nvPr/>
        </p:nvSpPr>
        <p:spPr>
          <a:xfrm>
            <a:off x="2859425" y="3345668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67B4F-FB7C-CA4E-87CD-10D02E694D73}"/>
              </a:ext>
            </a:extLst>
          </p:cNvPr>
          <p:cNvSpPr txBox="1"/>
          <p:nvPr/>
        </p:nvSpPr>
        <p:spPr>
          <a:xfrm>
            <a:off x="1907705" y="3459364"/>
            <a:ext cx="9517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prototype</a:t>
            </a:r>
            <a:endParaRPr kumimoji="1" lang="zh-CN" altLang="en-US" sz="1350" dirty="0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0306BC3-53D7-5C4E-9F10-D48876D09B1E}"/>
              </a:ext>
            </a:extLst>
          </p:cNvPr>
          <p:cNvSpPr/>
          <p:nvPr/>
        </p:nvSpPr>
        <p:spPr>
          <a:xfrm>
            <a:off x="2859425" y="969404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4243BC-D414-0F44-9418-6AEFD99AE911}"/>
              </a:ext>
            </a:extLst>
          </p:cNvPr>
          <p:cNvSpPr txBox="1"/>
          <p:nvPr/>
        </p:nvSpPr>
        <p:spPr>
          <a:xfrm>
            <a:off x="1907705" y="1083100"/>
            <a:ext cx="9517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prototype</a:t>
            </a:r>
            <a:endParaRPr kumimoji="1"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65846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1F9A0-B244-7C49-B332-22202940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prototype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0D7B2-9D04-8744-A591-89E9D591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93003F-8DBA-9D47-9684-CE89306E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9332C00-88DF-1B4C-83F7-EF2986DD14CF}"/>
              </a:ext>
            </a:extLst>
          </p:cNvPr>
          <p:cNvSpPr txBox="1"/>
          <p:nvPr/>
        </p:nvSpPr>
        <p:spPr>
          <a:xfrm>
            <a:off x="1712870" y="4627568"/>
            <a:ext cx="23762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Now different. But not good!</a:t>
            </a:r>
            <a:endParaRPr kumimoji="1" lang="zh-CN" altLang="en-US" sz="1350" dirty="0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63CD3B34-598E-4247-B42E-45D3EF87DC1C}"/>
              </a:ext>
            </a:extLst>
          </p:cNvPr>
          <p:cNvSpPr/>
          <p:nvPr/>
        </p:nvSpPr>
        <p:spPr>
          <a:xfrm rot="16200000">
            <a:off x="2134857" y="4068870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9D8B12-1141-0777-8411-E649DD381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88122"/>
            <a:ext cx="6858000" cy="160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prototype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137015"/>
            <a:ext cx="4268606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@Scope("prototype")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0E9A062-1795-E04F-889F-CAD9DB7C3C46}"/>
              </a:ext>
            </a:extLst>
          </p:cNvPr>
          <p:cNvSpPr/>
          <p:nvPr/>
        </p:nvSpPr>
        <p:spPr>
          <a:xfrm>
            <a:off x="2859425" y="3345668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67B4F-FB7C-CA4E-87CD-10D02E694D73}"/>
              </a:ext>
            </a:extLst>
          </p:cNvPr>
          <p:cNvSpPr txBox="1"/>
          <p:nvPr/>
        </p:nvSpPr>
        <p:spPr>
          <a:xfrm>
            <a:off x="1907705" y="3459364"/>
            <a:ext cx="9517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prototype</a:t>
            </a:r>
            <a:endParaRPr kumimoji="1" lang="zh-CN" altLang="en-US" sz="1350" dirty="0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0306BC3-53D7-5C4E-9F10-D48876D09B1E}"/>
              </a:ext>
            </a:extLst>
          </p:cNvPr>
          <p:cNvSpPr/>
          <p:nvPr/>
        </p:nvSpPr>
        <p:spPr>
          <a:xfrm>
            <a:off x="2868299" y="1214933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4243BC-D414-0F44-9418-6AEFD99AE911}"/>
              </a:ext>
            </a:extLst>
          </p:cNvPr>
          <p:cNvSpPr txBox="1"/>
          <p:nvPr/>
        </p:nvSpPr>
        <p:spPr>
          <a:xfrm>
            <a:off x="971600" y="1328629"/>
            <a:ext cx="19542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WebApplicationContext</a:t>
            </a:r>
            <a:endParaRPr kumimoji="1"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BFF37-E2D3-AF4A-9A33-F23ABACF6637}"/>
              </a:ext>
            </a:extLst>
          </p:cNvPr>
          <p:cNvSpPr/>
          <p:nvPr/>
        </p:nvSpPr>
        <p:spPr>
          <a:xfrm>
            <a:off x="3732395" y="758625"/>
            <a:ext cx="5332902" cy="2192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 err="1"/>
              <a:t>WebApplicationContext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=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 err="1"/>
              <a:t>.getBean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UserService.</a:t>
            </a:r>
            <a:r>
              <a:rPr lang="en" altLang="zh-CN" sz="1050" dirty="0" err="1">
                <a:solidFill>
                  <a:srgbClr val="CC7832"/>
                </a:solidFill>
              </a:rPr>
              <a:t>class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/>
              <a:t>userService.findUserById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9DB19DB-E36B-CB43-AE4A-F0FD36BE2E67}"/>
              </a:ext>
            </a:extLst>
          </p:cNvPr>
          <p:cNvSpPr/>
          <p:nvPr/>
        </p:nvSpPr>
        <p:spPr>
          <a:xfrm>
            <a:off x="2836769" y="1885404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37EB0C-952E-D446-A2AA-695BA60BD32E}"/>
              </a:ext>
            </a:extLst>
          </p:cNvPr>
          <p:cNvSpPr txBox="1"/>
          <p:nvPr/>
        </p:nvSpPr>
        <p:spPr>
          <a:xfrm>
            <a:off x="1763689" y="1999100"/>
            <a:ext cx="11046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UserService</a:t>
            </a:r>
            <a:endParaRPr kumimoji="1"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12648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1F9A0-B244-7C49-B332-22202940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prototype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0D7B2-9D04-8744-A591-89E9D591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93003F-8DBA-9D47-9684-CE89306E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9332C00-88DF-1B4C-83F7-EF2986DD14CF}"/>
              </a:ext>
            </a:extLst>
          </p:cNvPr>
          <p:cNvSpPr txBox="1"/>
          <p:nvPr/>
        </p:nvSpPr>
        <p:spPr>
          <a:xfrm>
            <a:off x="1223628" y="4191929"/>
            <a:ext cx="31323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Now different. Why is this solution better?</a:t>
            </a:r>
            <a:endParaRPr kumimoji="1" lang="zh-CN" altLang="en-US" sz="1350" dirty="0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63CD3B34-598E-4247-B42E-45D3EF87DC1C}"/>
              </a:ext>
            </a:extLst>
          </p:cNvPr>
          <p:cNvSpPr/>
          <p:nvPr/>
        </p:nvSpPr>
        <p:spPr>
          <a:xfrm rot="16200000">
            <a:off x="2185675" y="3633232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C7689C-FC7C-42EA-28B8-0F53F35A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85603"/>
            <a:ext cx="6858000" cy="155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8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137015"/>
            <a:ext cx="4268606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@Scope(”session")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0E9A062-1795-E04F-889F-CAD9DB7C3C46}"/>
              </a:ext>
            </a:extLst>
          </p:cNvPr>
          <p:cNvSpPr/>
          <p:nvPr/>
        </p:nvSpPr>
        <p:spPr>
          <a:xfrm>
            <a:off x="2859425" y="3345668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67B4F-FB7C-CA4E-87CD-10D02E694D73}"/>
              </a:ext>
            </a:extLst>
          </p:cNvPr>
          <p:cNvSpPr txBox="1"/>
          <p:nvPr/>
        </p:nvSpPr>
        <p:spPr>
          <a:xfrm>
            <a:off x="1995329" y="3459364"/>
            <a:ext cx="8640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session</a:t>
            </a:r>
            <a:endParaRPr kumimoji="1" lang="zh-CN" altLang="en-US" sz="1350" dirty="0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0306BC3-53D7-5C4E-9F10-D48876D09B1E}"/>
              </a:ext>
            </a:extLst>
          </p:cNvPr>
          <p:cNvSpPr/>
          <p:nvPr/>
        </p:nvSpPr>
        <p:spPr>
          <a:xfrm>
            <a:off x="2868299" y="1214933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4243BC-D414-0F44-9418-6AEFD99AE911}"/>
              </a:ext>
            </a:extLst>
          </p:cNvPr>
          <p:cNvSpPr txBox="1"/>
          <p:nvPr/>
        </p:nvSpPr>
        <p:spPr>
          <a:xfrm>
            <a:off x="971600" y="1328629"/>
            <a:ext cx="19542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WebApplicationContext</a:t>
            </a:r>
            <a:endParaRPr kumimoji="1"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BFF37-E2D3-AF4A-9A33-F23ABACF6637}"/>
              </a:ext>
            </a:extLst>
          </p:cNvPr>
          <p:cNvSpPr/>
          <p:nvPr/>
        </p:nvSpPr>
        <p:spPr>
          <a:xfrm>
            <a:off x="3732395" y="758625"/>
            <a:ext cx="5332902" cy="2192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 err="1"/>
              <a:t>WebApplicationContext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=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 err="1"/>
              <a:t>.getBean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UserService.</a:t>
            </a:r>
            <a:r>
              <a:rPr lang="en" altLang="zh-CN" sz="1050" dirty="0" err="1">
                <a:solidFill>
                  <a:srgbClr val="CC7832"/>
                </a:solidFill>
              </a:rPr>
              <a:t>class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/>
              <a:t>userService.findUserById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9DB19DB-E36B-CB43-AE4A-F0FD36BE2E67}"/>
              </a:ext>
            </a:extLst>
          </p:cNvPr>
          <p:cNvSpPr/>
          <p:nvPr/>
        </p:nvSpPr>
        <p:spPr>
          <a:xfrm>
            <a:off x="2836769" y="1885404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37EB0C-952E-D446-A2AA-695BA60BD32E}"/>
              </a:ext>
            </a:extLst>
          </p:cNvPr>
          <p:cNvSpPr txBox="1"/>
          <p:nvPr/>
        </p:nvSpPr>
        <p:spPr>
          <a:xfrm>
            <a:off x="1763689" y="1999100"/>
            <a:ext cx="11046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UserService</a:t>
            </a:r>
            <a:endParaRPr kumimoji="1"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49334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1F9A0-B244-7C49-B332-22202940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0D7B2-9D04-8744-A591-89E9D591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93003F-8DBA-9D47-9684-CE89306E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9332C00-88DF-1B4C-83F7-EF2986DD14CF}"/>
              </a:ext>
            </a:extLst>
          </p:cNvPr>
          <p:cNvSpPr txBox="1"/>
          <p:nvPr/>
        </p:nvSpPr>
        <p:spPr>
          <a:xfrm>
            <a:off x="1750186" y="4182757"/>
            <a:ext cx="17957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Two Service instances</a:t>
            </a:r>
            <a:endParaRPr kumimoji="1" lang="zh-CN" altLang="en-US" sz="1350" dirty="0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63CD3B34-598E-4247-B42E-45D3EF87DC1C}"/>
              </a:ext>
            </a:extLst>
          </p:cNvPr>
          <p:cNvSpPr/>
          <p:nvPr/>
        </p:nvSpPr>
        <p:spPr>
          <a:xfrm rot="16200000">
            <a:off x="2185675" y="3633232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733941-9E3B-3FE3-48EB-9846881D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10836"/>
            <a:ext cx="6858000" cy="156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137015"/>
            <a:ext cx="4268606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@Scope(”prototype")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0E9A062-1795-E04F-889F-CAD9DB7C3C46}"/>
              </a:ext>
            </a:extLst>
          </p:cNvPr>
          <p:cNvSpPr/>
          <p:nvPr/>
        </p:nvSpPr>
        <p:spPr>
          <a:xfrm>
            <a:off x="2859425" y="3345668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67B4F-FB7C-CA4E-87CD-10D02E694D73}"/>
              </a:ext>
            </a:extLst>
          </p:cNvPr>
          <p:cNvSpPr txBox="1"/>
          <p:nvPr/>
        </p:nvSpPr>
        <p:spPr>
          <a:xfrm>
            <a:off x="1754815" y="3459364"/>
            <a:ext cx="11046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prototype</a:t>
            </a:r>
            <a:endParaRPr kumimoji="1" lang="zh-CN" altLang="en-US" sz="1350" dirty="0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0306BC3-53D7-5C4E-9F10-D48876D09B1E}"/>
              </a:ext>
            </a:extLst>
          </p:cNvPr>
          <p:cNvSpPr/>
          <p:nvPr/>
        </p:nvSpPr>
        <p:spPr>
          <a:xfrm>
            <a:off x="2863853" y="1426563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4243BC-D414-0F44-9418-6AEFD99AE911}"/>
              </a:ext>
            </a:extLst>
          </p:cNvPr>
          <p:cNvSpPr txBox="1"/>
          <p:nvPr/>
        </p:nvSpPr>
        <p:spPr>
          <a:xfrm>
            <a:off x="899592" y="1556086"/>
            <a:ext cx="20262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WebApplicationContext</a:t>
            </a:r>
            <a:endParaRPr kumimoji="1"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BFF37-E2D3-AF4A-9A33-F23ABACF6637}"/>
              </a:ext>
            </a:extLst>
          </p:cNvPr>
          <p:cNvSpPr/>
          <p:nvPr/>
        </p:nvSpPr>
        <p:spPr>
          <a:xfrm>
            <a:off x="3732395" y="758625"/>
            <a:ext cx="533290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endParaRPr lang="en" altLang="zh-CN" sz="1050" dirty="0">
              <a:solidFill>
                <a:srgbClr val="BBB529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@Scope(”session")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 err="1"/>
              <a:t>WebApplicationContext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=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 err="1"/>
              <a:t>.getBean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UserService.</a:t>
            </a:r>
            <a:r>
              <a:rPr lang="en" altLang="zh-CN" sz="1050" dirty="0" err="1">
                <a:solidFill>
                  <a:srgbClr val="CC7832"/>
                </a:solidFill>
              </a:rPr>
              <a:t>class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</a:p>
          <a:p>
            <a:r>
              <a:rPr lang="en" altLang="zh-CN" sz="1050" dirty="0"/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CC7832"/>
                </a:solidFill>
              </a:rPr>
              <a:t>this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/>
              <a:t>userService.findUserById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9DB19DB-E36B-CB43-AE4A-F0FD36BE2E67}"/>
              </a:ext>
            </a:extLst>
          </p:cNvPr>
          <p:cNvSpPr/>
          <p:nvPr/>
        </p:nvSpPr>
        <p:spPr>
          <a:xfrm>
            <a:off x="2855104" y="1921401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37EB0C-952E-D446-A2AA-695BA60BD32E}"/>
              </a:ext>
            </a:extLst>
          </p:cNvPr>
          <p:cNvSpPr txBox="1"/>
          <p:nvPr/>
        </p:nvSpPr>
        <p:spPr>
          <a:xfrm>
            <a:off x="1762816" y="2050586"/>
            <a:ext cx="11046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UserService</a:t>
            </a:r>
            <a:endParaRPr kumimoji="1" lang="zh-CN" altLang="en-US" sz="1350" dirty="0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E7E4A3A2-117B-3F47-AEF8-E35653BA321B}"/>
              </a:ext>
            </a:extLst>
          </p:cNvPr>
          <p:cNvSpPr/>
          <p:nvPr/>
        </p:nvSpPr>
        <p:spPr>
          <a:xfrm>
            <a:off x="2869290" y="1001529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126200-5ABF-0A4C-89D3-69986EB5BD06}"/>
              </a:ext>
            </a:extLst>
          </p:cNvPr>
          <p:cNvSpPr txBox="1"/>
          <p:nvPr/>
        </p:nvSpPr>
        <p:spPr>
          <a:xfrm>
            <a:off x="2005194" y="1115225"/>
            <a:ext cx="8640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session</a:t>
            </a:r>
            <a:endParaRPr kumimoji="1" lang="zh-CN" altLang="en-US" sz="1350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67C2B9E4-3D64-6D40-87C2-0A551FA07678}"/>
              </a:ext>
            </a:extLst>
          </p:cNvPr>
          <p:cNvSpPr/>
          <p:nvPr/>
        </p:nvSpPr>
        <p:spPr>
          <a:xfrm>
            <a:off x="2859425" y="2369024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999B06-4562-8249-8204-351437B86939}"/>
              </a:ext>
            </a:extLst>
          </p:cNvPr>
          <p:cNvSpPr txBox="1"/>
          <p:nvPr/>
        </p:nvSpPr>
        <p:spPr>
          <a:xfrm>
            <a:off x="2201785" y="2482720"/>
            <a:ext cx="5174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350" dirty="0"/>
              <a:t>this</a:t>
            </a:r>
            <a:endParaRPr kumimoji="1"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18997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1FB41-A6DE-E848-B476-A28FF6B7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36A04-D6C9-9947-922E-678DBA07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4B88AB-C2B2-2C4D-B5C7-DECEFDD7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F45D17A-FF89-6641-ABC7-788BFECEBFD7}"/>
              </a:ext>
            </a:extLst>
          </p:cNvPr>
          <p:cNvSpPr txBox="1"/>
          <p:nvPr/>
        </p:nvSpPr>
        <p:spPr>
          <a:xfrm>
            <a:off x="1898703" y="4182757"/>
            <a:ext cx="19172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Two Controller instances</a:t>
            </a:r>
          </a:p>
          <a:p>
            <a:r>
              <a:rPr kumimoji="1" lang="en-US" altLang="zh-CN" sz="1350" dirty="0"/>
              <a:t>Four Service instances</a:t>
            </a:r>
            <a:endParaRPr kumimoji="1" lang="zh-CN" altLang="en-US" sz="1350" dirty="0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0B39FC1A-3736-A743-B99A-58E7CECC1809}"/>
              </a:ext>
            </a:extLst>
          </p:cNvPr>
          <p:cNvSpPr/>
          <p:nvPr/>
        </p:nvSpPr>
        <p:spPr>
          <a:xfrm rot="16200000">
            <a:off x="2185675" y="3633232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88FC10FB-619C-AAE4-1BA4-C8E0B0AE9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1C67738-B57F-2846-0436-30A158E31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67694"/>
            <a:ext cx="6858000" cy="154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2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137015"/>
            <a:ext cx="4268606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@Scope(”session")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0E9A062-1795-E04F-889F-CAD9DB7C3C46}"/>
              </a:ext>
            </a:extLst>
          </p:cNvPr>
          <p:cNvSpPr/>
          <p:nvPr/>
        </p:nvSpPr>
        <p:spPr>
          <a:xfrm>
            <a:off x="2859425" y="3345668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67B4F-FB7C-CA4E-87CD-10D02E694D73}"/>
              </a:ext>
            </a:extLst>
          </p:cNvPr>
          <p:cNvSpPr txBox="1"/>
          <p:nvPr/>
        </p:nvSpPr>
        <p:spPr>
          <a:xfrm>
            <a:off x="1763689" y="3459364"/>
            <a:ext cx="8640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350" dirty="0"/>
              <a:t>session</a:t>
            </a:r>
            <a:endParaRPr kumimoji="1" lang="zh-CN" altLang="en-US" sz="1350" dirty="0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0306BC3-53D7-5C4E-9F10-D48876D09B1E}"/>
              </a:ext>
            </a:extLst>
          </p:cNvPr>
          <p:cNvSpPr/>
          <p:nvPr/>
        </p:nvSpPr>
        <p:spPr>
          <a:xfrm>
            <a:off x="2868299" y="1438920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4243BC-D414-0F44-9418-6AEFD99AE911}"/>
              </a:ext>
            </a:extLst>
          </p:cNvPr>
          <p:cNvSpPr txBox="1"/>
          <p:nvPr/>
        </p:nvSpPr>
        <p:spPr>
          <a:xfrm>
            <a:off x="871515" y="1545275"/>
            <a:ext cx="20262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WebApplicationContext</a:t>
            </a:r>
            <a:endParaRPr kumimoji="1"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BFF37-E2D3-AF4A-9A33-F23ABACF6637}"/>
              </a:ext>
            </a:extLst>
          </p:cNvPr>
          <p:cNvSpPr/>
          <p:nvPr/>
        </p:nvSpPr>
        <p:spPr>
          <a:xfrm>
            <a:off x="3732395" y="758625"/>
            <a:ext cx="533290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endParaRPr lang="en" altLang="zh-CN" sz="1050" dirty="0">
              <a:solidFill>
                <a:srgbClr val="BBB529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@Scope(”session")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 err="1"/>
              <a:t>WebApplicationContext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=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 err="1"/>
              <a:t>.getBean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UserService.</a:t>
            </a:r>
            <a:r>
              <a:rPr lang="en" altLang="zh-CN" sz="1050" dirty="0" err="1">
                <a:solidFill>
                  <a:srgbClr val="CC7832"/>
                </a:solidFill>
              </a:rPr>
              <a:t>class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</a:p>
          <a:p>
            <a:r>
              <a:rPr lang="en" altLang="zh-CN" sz="1050" dirty="0"/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CC7832"/>
                </a:solidFill>
              </a:rPr>
              <a:t>this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/>
              <a:t>userService.findUserById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9DB19DB-E36B-CB43-AE4A-F0FD36BE2E67}"/>
              </a:ext>
            </a:extLst>
          </p:cNvPr>
          <p:cNvSpPr/>
          <p:nvPr/>
        </p:nvSpPr>
        <p:spPr>
          <a:xfrm>
            <a:off x="2867308" y="1895515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37EB0C-952E-D446-A2AA-695BA60BD32E}"/>
              </a:ext>
            </a:extLst>
          </p:cNvPr>
          <p:cNvSpPr txBox="1"/>
          <p:nvPr/>
        </p:nvSpPr>
        <p:spPr>
          <a:xfrm>
            <a:off x="1763689" y="1999100"/>
            <a:ext cx="11046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UserService</a:t>
            </a:r>
            <a:endParaRPr kumimoji="1" lang="zh-CN" altLang="en-US" sz="1350" dirty="0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E7E4A3A2-117B-3F47-AEF8-E35653BA321B}"/>
              </a:ext>
            </a:extLst>
          </p:cNvPr>
          <p:cNvSpPr/>
          <p:nvPr/>
        </p:nvSpPr>
        <p:spPr>
          <a:xfrm>
            <a:off x="2869290" y="1001529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126200-5ABF-0A4C-89D3-69986EB5BD06}"/>
              </a:ext>
            </a:extLst>
          </p:cNvPr>
          <p:cNvSpPr txBox="1"/>
          <p:nvPr/>
        </p:nvSpPr>
        <p:spPr>
          <a:xfrm>
            <a:off x="2005194" y="1115225"/>
            <a:ext cx="8640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session</a:t>
            </a:r>
            <a:endParaRPr kumimoji="1" lang="zh-CN" altLang="en-US" sz="1350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67C2B9E4-3D64-6D40-87C2-0A551FA07678}"/>
              </a:ext>
            </a:extLst>
          </p:cNvPr>
          <p:cNvSpPr/>
          <p:nvPr/>
        </p:nvSpPr>
        <p:spPr>
          <a:xfrm>
            <a:off x="2859425" y="2369024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999B06-4562-8249-8204-351437B86939}"/>
              </a:ext>
            </a:extLst>
          </p:cNvPr>
          <p:cNvSpPr txBox="1"/>
          <p:nvPr/>
        </p:nvSpPr>
        <p:spPr>
          <a:xfrm>
            <a:off x="2201785" y="2482720"/>
            <a:ext cx="5174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350" dirty="0"/>
              <a:t>this</a:t>
            </a:r>
            <a:endParaRPr kumimoji="1"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54060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1FB41-A6DE-E848-B476-A28FF6B7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36A04-D6C9-9947-922E-678DBA07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4B88AB-C2B2-2C4D-B5C7-DECEFDD7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F45D17A-FF89-6641-ABC7-788BFECEBFD7}"/>
              </a:ext>
            </a:extLst>
          </p:cNvPr>
          <p:cNvSpPr txBox="1"/>
          <p:nvPr/>
        </p:nvSpPr>
        <p:spPr>
          <a:xfrm>
            <a:off x="1898703" y="4182757"/>
            <a:ext cx="19172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Two Controller instances</a:t>
            </a:r>
          </a:p>
          <a:p>
            <a:r>
              <a:rPr kumimoji="1" lang="en-US" altLang="zh-CN" sz="1350" dirty="0"/>
              <a:t>Two Service instances</a:t>
            </a:r>
            <a:endParaRPr kumimoji="1" lang="zh-CN" altLang="en-US" sz="1350" dirty="0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0B39FC1A-3736-A743-B99A-58E7CECC1809}"/>
              </a:ext>
            </a:extLst>
          </p:cNvPr>
          <p:cNvSpPr/>
          <p:nvPr/>
        </p:nvSpPr>
        <p:spPr>
          <a:xfrm rot="16200000">
            <a:off x="2185675" y="3633232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DE6613-AC7D-FDCD-1D01-78C4334AD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3718"/>
            <a:ext cx="6858000" cy="127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6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A388A-9904-E84F-8245-568F60E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FBF29F0-0C79-E64B-BA39-C33F4E4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027E0-E222-6E45-B205-83C9CE4EF66A}"/>
              </a:ext>
            </a:extLst>
          </p:cNvPr>
          <p:cNvSpPr/>
          <p:nvPr/>
        </p:nvSpPr>
        <p:spPr>
          <a:xfrm>
            <a:off x="3732394" y="3137015"/>
            <a:ext cx="4268606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UserServiceImpl.java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@Service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@Scope(”session")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UserServiceImpl</a:t>
            </a:r>
            <a:r>
              <a:rPr lang="en" altLang="zh-CN" sz="1050" dirty="0"/>
              <a:t> </a:t>
            </a:r>
            <a:r>
              <a:rPr lang="en" altLang="zh-CN" sz="1050" dirty="0">
                <a:solidFill>
                  <a:srgbClr val="CC7832"/>
                </a:solidFill>
              </a:rPr>
              <a:t>implements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private </a:t>
            </a:r>
            <a:r>
              <a:rPr lang="en" altLang="zh-CN" sz="1050" dirty="0" err="1"/>
              <a:t>UserDao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@Override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findUserById</a:t>
            </a:r>
            <a:r>
              <a:rPr lang="en" altLang="zh-CN" sz="1050" dirty="0"/>
              <a:t>(Integer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>
                <a:solidFill>
                  <a:srgbClr val="CC7832"/>
                </a:solidFill>
              </a:rPr>
              <a:t>return </a:t>
            </a:r>
            <a:r>
              <a:rPr lang="en" altLang="zh-CN" sz="1050" dirty="0" err="1">
                <a:solidFill>
                  <a:srgbClr val="9876AA"/>
                </a:solidFill>
              </a:rPr>
              <a:t>userDao</a:t>
            </a:r>
            <a:r>
              <a:rPr lang="en" altLang="zh-CN" sz="1050" dirty="0" err="1"/>
              <a:t>.findOne</a:t>
            </a:r>
            <a:r>
              <a:rPr lang="en" altLang="zh-CN" sz="1050" dirty="0"/>
              <a:t>(id)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br>
              <a:rPr lang="en" altLang="zh-CN" sz="1050" dirty="0"/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0E9A062-1795-E04F-889F-CAD9DB7C3C46}"/>
              </a:ext>
            </a:extLst>
          </p:cNvPr>
          <p:cNvSpPr/>
          <p:nvPr/>
        </p:nvSpPr>
        <p:spPr>
          <a:xfrm>
            <a:off x="2859425" y="3345668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367B4F-FB7C-CA4E-87CD-10D02E694D73}"/>
              </a:ext>
            </a:extLst>
          </p:cNvPr>
          <p:cNvSpPr txBox="1"/>
          <p:nvPr/>
        </p:nvSpPr>
        <p:spPr>
          <a:xfrm>
            <a:off x="1763689" y="3459364"/>
            <a:ext cx="8640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350" dirty="0"/>
              <a:t>session</a:t>
            </a:r>
            <a:endParaRPr kumimoji="1" lang="zh-CN" altLang="en-US" sz="1350" dirty="0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0306BC3-53D7-5C4E-9F10-D48876D09B1E}"/>
              </a:ext>
            </a:extLst>
          </p:cNvPr>
          <p:cNvSpPr/>
          <p:nvPr/>
        </p:nvSpPr>
        <p:spPr>
          <a:xfrm>
            <a:off x="2868300" y="1433079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4243BC-D414-0F44-9418-6AEFD99AE911}"/>
              </a:ext>
            </a:extLst>
          </p:cNvPr>
          <p:cNvSpPr txBox="1"/>
          <p:nvPr/>
        </p:nvSpPr>
        <p:spPr>
          <a:xfrm>
            <a:off x="971600" y="1557457"/>
            <a:ext cx="19542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WebApplicationContext</a:t>
            </a:r>
            <a:endParaRPr kumimoji="1"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BFF37-E2D3-AF4A-9A33-F23ABACF6637}"/>
              </a:ext>
            </a:extLst>
          </p:cNvPr>
          <p:cNvSpPr/>
          <p:nvPr/>
        </p:nvSpPr>
        <p:spPr>
          <a:xfrm>
            <a:off x="3732395" y="758625"/>
            <a:ext cx="533290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050" dirty="0" err="1">
                <a:solidFill>
                  <a:schemeClr val="tx2"/>
                </a:solidFill>
              </a:rPr>
              <a:t>UserController.java</a:t>
            </a:r>
            <a:endParaRPr lang="en" altLang="zh-CN" sz="1050" dirty="0">
              <a:solidFill>
                <a:schemeClr val="tx2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RestController</a:t>
            </a:r>
            <a:endParaRPr lang="en" altLang="zh-CN" sz="1050" dirty="0">
              <a:solidFill>
                <a:srgbClr val="BBB529"/>
              </a:solidFill>
            </a:endParaRPr>
          </a:p>
          <a:p>
            <a:r>
              <a:rPr lang="en" altLang="zh-CN" sz="1050" dirty="0">
                <a:solidFill>
                  <a:srgbClr val="BBB529"/>
                </a:solidFill>
              </a:rPr>
              <a:t>@Scope(”prototype")</a:t>
            </a:r>
            <a:br>
              <a:rPr lang="en" altLang="zh-CN" sz="1050" dirty="0">
                <a:solidFill>
                  <a:srgbClr val="808080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public class </a:t>
            </a:r>
            <a:r>
              <a:rPr lang="en" altLang="zh-CN" sz="1050" dirty="0" err="1"/>
              <a:t>UserController</a:t>
            </a:r>
            <a:r>
              <a:rPr lang="en" altLang="zh-CN" sz="1050" dirty="0"/>
              <a:t> {</a:t>
            </a:r>
            <a:br>
              <a:rPr lang="en" altLang="zh-CN" sz="1050" dirty="0"/>
            </a:br>
            <a:r>
              <a:rPr lang="en" altLang="zh-CN" sz="1050" dirty="0">
                <a:solidFill>
                  <a:srgbClr val="808080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Autowired</a:t>
            </a:r>
            <a:br>
              <a:rPr lang="en" altLang="zh-CN" sz="1050" dirty="0">
                <a:solidFill>
                  <a:srgbClr val="BBB529"/>
                </a:solidFill>
              </a:rPr>
            </a:br>
            <a:r>
              <a:rPr lang="en" altLang="zh-CN" sz="1050" dirty="0">
                <a:solidFill>
                  <a:srgbClr val="BBB529"/>
                </a:solidFill>
              </a:rPr>
              <a:t>    </a:t>
            </a:r>
            <a:r>
              <a:rPr lang="en" altLang="zh-CN" sz="1050" dirty="0" err="1"/>
              <a:t>WebApplicationContext</a:t>
            </a:r>
            <a:r>
              <a:rPr lang="en" altLang="zh-CN" sz="1050" dirty="0"/>
              <a:t>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GetMapping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D0D0FF"/>
                </a:solidFill>
              </a:rPr>
              <a:t>value </a:t>
            </a:r>
            <a:r>
              <a:rPr lang="en" altLang="zh-CN" sz="1050" dirty="0"/>
              <a:t>= </a:t>
            </a:r>
            <a:r>
              <a:rPr lang="en" altLang="zh-CN" sz="1050" dirty="0">
                <a:solidFill>
                  <a:srgbClr val="6A8759"/>
                </a:solidFill>
              </a:rPr>
              <a:t>"/</a:t>
            </a:r>
            <a:r>
              <a:rPr lang="en" altLang="zh-CN" sz="1050" dirty="0" err="1">
                <a:solidFill>
                  <a:srgbClr val="6A8759"/>
                </a:solidFill>
              </a:rPr>
              <a:t>findUser</a:t>
            </a:r>
            <a:r>
              <a:rPr lang="en" altLang="zh-CN" sz="1050" dirty="0">
                <a:solidFill>
                  <a:srgbClr val="6A8759"/>
                </a:solidFill>
              </a:rPr>
              <a:t>/{id}"</a:t>
            </a:r>
            <a:r>
              <a:rPr lang="en" altLang="zh-CN" sz="1050" dirty="0"/>
              <a:t>)</a:t>
            </a:r>
            <a:br>
              <a:rPr lang="en" altLang="zh-CN" sz="1050" dirty="0"/>
            </a:br>
            <a:r>
              <a:rPr lang="en" altLang="zh-CN" sz="1050" dirty="0"/>
              <a:t>    </a:t>
            </a:r>
            <a:r>
              <a:rPr lang="en" altLang="zh-CN" sz="1050" dirty="0">
                <a:solidFill>
                  <a:srgbClr val="CC7832"/>
                </a:solidFill>
              </a:rPr>
              <a:t>public </a:t>
            </a:r>
            <a:r>
              <a:rPr lang="en" altLang="zh-CN" sz="1050" dirty="0"/>
              <a:t>User </a:t>
            </a:r>
            <a:r>
              <a:rPr lang="en" altLang="zh-CN" sz="1050" dirty="0" err="1">
                <a:solidFill>
                  <a:srgbClr val="FFC66D"/>
                </a:solidFill>
              </a:rPr>
              <a:t>findOne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BBB529"/>
                </a:solidFill>
              </a:rPr>
              <a:t>@</a:t>
            </a:r>
            <a:r>
              <a:rPr lang="en" altLang="zh-CN" sz="1050" dirty="0" err="1">
                <a:solidFill>
                  <a:srgbClr val="BBB529"/>
                </a:solidFill>
              </a:rPr>
              <a:t>PathVariable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6A8759"/>
                </a:solidFill>
              </a:rPr>
              <a:t>"id"</a:t>
            </a:r>
            <a:r>
              <a:rPr lang="en" altLang="zh-CN" sz="1050" dirty="0"/>
              <a:t>) String id) {</a:t>
            </a:r>
            <a:br>
              <a:rPr lang="en" altLang="zh-CN" sz="1050" dirty="0"/>
            </a:br>
            <a:r>
              <a:rPr lang="en" altLang="zh-CN" sz="1050" dirty="0"/>
              <a:t>       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 = </a:t>
            </a:r>
            <a:r>
              <a:rPr lang="en" altLang="zh-CN" sz="1050" dirty="0" err="1">
                <a:solidFill>
                  <a:srgbClr val="9876AA"/>
                </a:solidFill>
              </a:rPr>
              <a:t>applicationContext</a:t>
            </a:r>
            <a:r>
              <a:rPr lang="en" altLang="zh-CN" sz="1050" dirty="0" err="1"/>
              <a:t>.getBean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UserService.</a:t>
            </a:r>
            <a:r>
              <a:rPr lang="en" altLang="zh-CN" sz="1050" dirty="0" err="1">
                <a:solidFill>
                  <a:srgbClr val="CC7832"/>
                </a:solidFill>
              </a:rPr>
              <a:t>class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 err="1"/>
              <a:t>userService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</a:p>
          <a:p>
            <a:r>
              <a:rPr lang="en" altLang="zh-CN" sz="1050" dirty="0"/>
              <a:t>        </a:t>
            </a:r>
            <a:r>
              <a:rPr lang="en" altLang="zh-CN" sz="1050" dirty="0" err="1"/>
              <a:t>System.</a:t>
            </a:r>
            <a:r>
              <a:rPr lang="en" altLang="zh-CN" sz="1050" i="1" dirty="0" err="1">
                <a:solidFill>
                  <a:srgbClr val="9876AA"/>
                </a:solidFill>
              </a:rPr>
              <a:t>out</a:t>
            </a:r>
            <a:r>
              <a:rPr lang="en" altLang="zh-CN" sz="1050" dirty="0" err="1"/>
              <a:t>.println</a:t>
            </a:r>
            <a:r>
              <a:rPr lang="en" altLang="zh-CN" sz="1050" dirty="0"/>
              <a:t>(</a:t>
            </a:r>
            <a:r>
              <a:rPr lang="en" altLang="zh-CN" sz="1050" dirty="0">
                <a:solidFill>
                  <a:srgbClr val="CC7832"/>
                </a:solidFill>
              </a:rPr>
              <a:t>this</a:t>
            </a:r>
            <a:r>
              <a:rPr lang="en" altLang="zh-CN" sz="1050" dirty="0"/>
              <a:t>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    return </a:t>
            </a:r>
            <a:r>
              <a:rPr lang="en" altLang="zh-CN" sz="1050" dirty="0" err="1"/>
              <a:t>userService.findUserById</a:t>
            </a:r>
            <a:r>
              <a:rPr lang="en" altLang="zh-CN" sz="1050" dirty="0"/>
              <a:t>(</a:t>
            </a:r>
            <a:r>
              <a:rPr lang="en" altLang="zh-CN" sz="1050" dirty="0" err="1"/>
              <a:t>Integer.</a:t>
            </a:r>
            <a:r>
              <a:rPr lang="en" altLang="zh-CN" sz="1050" i="1" dirty="0" err="1"/>
              <a:t>valueOf</a:t>
            </a:r>
            <a:r>
              <a:rPr lang="en" altLang="zh-CN" sz="1050" dirty="0"/>
              <a:t>(id))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>
                <a:solidFill>
                  <a:srgbClr val="CC7832"/>
                </a:solidFill>
              </a:rPr>
              <a:t>    </a:t>
            </a:r>
            <a:r>
              <a:rPr lang="en" altLang="zh-CN" sz="1050" dirty="0"/>
              <a:t>}</a:t>
            </a:r>
            <a:r>
              <a:rPr lang="en" altLang="zh-CN" sz="1050" dirty="0">
                <a:solidFill>
                  <a:srgbClr val="CC7832"/>
                </a:solidFill>
              </a:rPr>
              <a:t>;</a:t>
            </a:r>
            <a:br>
              <a:rPr lang="en" altLang="zh-CN" sz="1050" dirty="0">
                <a:solidFill>
                  <a:srgbClr val="CC7832"/>
                </a:solidFill>
              </a:rPr>
            </a:br>
            <a:r>
              <a:rPr lang="en" altLang="zh-CN" sz="1050" dirty="0"/>
              <a:t>}</a:t>
            </a:r>
            <a:endParaRPr lang="zh-CN" altLang="en-US" sz="1050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9DB19DB-E36B-CB43-AE4A-F0FD36BE2E67}"/>
              </a:ext>
            </a:extLst>
          </p:cNvPr>
          <p:cNvSpPr/>
          <p:nvPr/>
        </p:nvSpPr>
        <p:spPr>
          <a:xfrm>
            <a:off x="2877174" y="1901796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37EB0C-952E-D446-A2AA-695BA60BD32E}"/>
              </a:ext>
            </a:extLst>
          </p:cNvPr>
          <p:cNvSpPr txBox="1"/>
          <p:nvPr/>
        </p:nvSpPr>
        <p:spPr>
          <a:xfrm>
            <a:off x="1763689" y="1999100"/>
            <a:ext cx="11046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 err="1"/>
              <a:t>UserService</a:t>
            </a:r>
            <a:endParaRPr kumimoji="1" lang="zh-CN" altLang="en-US" sz="1350" dirty="0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E7E4A3A2-117B-3F47-AEF8-E35653BA321B}"/>
              </a:ext>
            </a:extLst>
          </p:cNvPr>
          <p:cNvSpPr/>
          <p:nvPr/>
        </p:nvSpPr>
        <p:spPr>
          <a:xfrm>
            <a:off x="2869290" y="1001529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126200-5ABF-0A4C-89D3-69986EB5BD06}"/>
              </a:ext>
            </a:extLst>
          </p:cNvPr>
          <p:cNvSpPr txBox="1"/>
          <p:nvPr/>
        </p:nvSpPr>
        <p:spPr>
          <a:xfrm>
            <a:off x="1907704" y="1115225"/>
            <a:ext cx="9615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prototype</a:t>
            </a:r>
            <a:endParaRPr kumimoji="1" lang="zh-CN" altLang="en-US" sz="1350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67C2B9E4-3D64-6D40-87C2-0A551FA07678}"/>
              </a:ext>
            </a:extLst>
          </p:cNvPr>
          <p:cNvSpPr/>
          <p:nvPr/>
        </p:nvSpPr>
        <p:spPr>
          <a:xfrm>
            <a:off x="2859425" y="2369024"/>
            <a:ext cx="864096" cy="504393"/>
          </a:xfrm>
          <a:prstGeom prst="righ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999B06-4562-8249-8204-351437B86939}"/>
              </a:ext>
            </a:extLst>
          </p:cNvPr>
          <p:cNvSpPr txBox="1"/>
          <p:nvPr/>
        </p:nvSpPr>
        <p:spPr>
          <a:xfrm>
            <a:off x="2201785" y="2482720"/>
            <a:ext cx="5174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350" dirty="0"/>
              <a:t>this</a:t>
            </a:r>
            <a:endParaRPr kumimoji="1"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74822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1FB41-A6DE-E848-B476-A28FF6B7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Scope - session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36A04-D6C9-9947-922E-678DBA07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4B88AB-C2B2-2C4D-B5C7-DECEFDD7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9612"/>
            <a:ext cx="6858000" cy="70964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F45D17A-FF89-6641-ABC7-788BFECEBFD7}"/>
              </a:ext>
            </a:extLst>
          </p:cNvPr>
          <p:cNvSpPr txBox="1"/>
          <p:nvPr/>
        </p:nvSpPr>
        <p:spPr>
          <a:xfrm>
            <a:off x="1898703" y="4296167"/>
            <a:ext cx="21692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Four Controller instances</a:t>
            </a:r>
          </a:p>
          <a:p>
            <a:r>
              <a:rPr kumimoji="1" lang="en-US" altLang="zh-CN" sz="1350" dirty="0"/>
              <a:t>Two Service instances</a:t>
            </a:r>
            <a:endParaRPr kumimoji="1" lang="zh-CN" altLang="en-US" sz="1350" dirty="0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0B39FC1A-3736-A743-B99A-58E7CECC1809}"/>
              </a:ext>
            </a:extLst>
          </p:cNvPr>
          <p:cNvSpPr/>
          <p:nvPr/>
        </p:nvSpPr>
        <p:spPr>
          <a:xfrm rot="16200000">
            <a:off x="2185675" y="3746642"/>
            <a:ext cx="560183" cy="504393"/>
          </a:xfrm>
          <a:prstGeom prst="rightArrow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050" dirty="0" err="1">
              <a:solidFill>
                <a:schemeClr val="tx2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C2C6D1-949E-E3A8-423D-3690A77B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99013"/>
            <a:ext cx="6858000" cy="146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2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D54A8-E8DE-954B-96EB-B4C02D3E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2B9668-8FFD-C841-9D83-0921E7FA8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2 Browsers(2 Sessions), 4 Requests( 2 times / session)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How should we design the scopes of Beans?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8E41B4-9EA0-CD45-B0F8-71409D29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C8C3BB-B6FB-2D49-8775-F29FE51BC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04975"/>
              </p:ext>
            </p:extLst>
          </p:nvPr>
        </p:nvGraphicFramePr>
        <p:xfrm>
          <a:off x="1403648" y="1437624"/>
          <a:ext cx="6408712" cy="189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301">
                  <a:extLst>
                    <a:ext uri="{9D8B030D-6E8A-4147-A177-3AD203B41FA5}">
                      <a16:colId xmlns:a16="http://schemas.microsoft.com/office/drawing/2014/main" val="2953784519"/>
                    </a:ext>
                  </a:extLst>
                </a:gridCol>
                <a:gridCol w="1135528">
                  <a:extLst>
                    <a:ext uri="{9D8B030D-6E8A-4147-A177-3AD203B41FA5}">
                      <a16:colId xmlns:a16="http://schemas.microsoft.com/office/drawing/2014/main" val="2270116919"/>
                    </a:ext>
                  </a:extLst>
                </a:gridCol>
                <a:gridCol w="2017153">
                  <a:extLst>
                    <a:ext uri="{9D8B030D-6E8A-4147-A177-3AD203B41FA5}">
                      <a16:colId xmlns:a16="http://schemas.microsoft.com/office/drawing/2014/main" val="3246731162"/>
                    </a:ext>
                  </a:extLst>
                </a:gridCol>
                <a:gridCol w="2322730">
                  <a:extLst>
                    <a:ext uri="{9D8B030D-6E8A-4147-A177-3AD203B41FA5}">
                      <a16:colId xmlns:a16="http://schemas.microsoft.com/office/drawing/2014/main" val="673279247"/>
                    </a:ext>
                  </a:extLst>
                </a:gridCol>
              </a:tblGrid>
              <a:tr h="393480">
                <a:tc rowSpan="2" gridSpan="2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Controller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34319"/>
                  </a:ext>
                </a:extLst>
              </a:tr>
              <a:tr h="393480">
                <a:tc gridSpan="2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Prototype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session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74725422"/>
                  </a:ext>
                </a:extLst>
              </a:tr>
              <a:tr h="533623">
                <a:tc rowSpan="2">
                  <a:txBody>
                    <a:bodyPr/>
                    <a:lstStyle/>
                    <a:p>
                      <a:r>
                        <a:rPr lang="en-US" altLang="zh-CN" sz="1600" dirty="0"/>
                        <a:t>Service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prototype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 service instances</a:t>
                      </a:r>
                    </a:p>
                    <a:p>
                      <a:r>
                        <a:rPr lang="en-US" altLang="zh-CN" sz="1600" dirty="0"/>
                        <a:t>4 controller instances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 service instances</a:t>
                      </a:r>
                    </a:p>
                    <a:p>
                      <a:r>
                        <a:rPr lang="en-US" altLang="zh-CN" sz="1600" dirty="0"/>
                        <a:t>2 controller instances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89765303"/>
                  </a:ext>
                </a:extLst>
              </a:tr>
              <a:tr h="53362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session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 service instances</a:t>
                      </a:r>
                    </a:p>
                    <a:p>
                      <a:r>
                        <a:rPr lang="en-US" altLang="zh-CN" sz="1600" dirty="0"/>
                        <a:t>4 controller instances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 service instances</a:t>
                      </a:r>
                    </a:p>
                    <a:p>
                      <a:r>
                        <a:rPr lang="en-US" altLang="zh-CN" sz="1600" dirty="0"/>
                        <a:t>2 controller instances</a:t>
                      </a:r>
                      <a:endParaRPr lang="zh-CN" altLang="en-US" sz="16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37990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12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79AF-F290-FA67-5A77-F57C2E2E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3C510-2269-3A94-7E2F-D688E2D8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</a:rPr>
              <a:t>Scoped</a:t>
            </a:r>
            <a:r>
              <a:rPr lang="zh-CN" altLang="en-US" dirty="0">
                <a:effectLst/>
              </a:rPr>
              <a:t> </a:t>
            </a:r>
            <a:r>
              <a:rPr lang="en" altLang="zh-CN" dirty="0">
                <a:effectLst/>
              </a:rPr>
              <a:t>Proxy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8417B-DB6C-8CE8-3B4C-AA5FAEF43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 err="1"/>
              <a:t>MyController.java</a:t>
            </a:r>
            <a:endParaRPr kumimoji="1" lang="en-US" altLang="zh-CN" dirty="0"/>
          </a:p>
          <a:p>
            <a:pPr marL="0" indent="0">
              <a:buNone/>
            </a:pPr>
            <a:endParaRPr lang="en" altLang="zh-CN" dirty="0">
              <a:solidFill>
                <a:srgbClr val="9E880D"/>
              </a:solidFill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9E880D"/>
                </a:solidFill>
              </a:rPr>
              <a:t>@</a:t>
            </a:r>
            <a:r>
              <a:rPr lang="en" altLang="zh-CN" dirty="0" err="1">
                <a:solidFill>
                  <a:srgbClr val="9E880D"/>
                </a:solidFill>
              </a:rPr>
              <a:t>RestController</a:t>
            </a:r>
            <a:br>
              <a:rPr lang="en" altLang="zh-CN" dirty="0">
                <a:solidFill>
                  <a:srgbClr val="9E880D"/>
                </a:solidFill>
              </a:rPr>
            </a:br>
            <a:r>
              <a:rPr lang="en" altLang="zh-CN" dirty="0">
                <a:solidFill>
                  <a:srgbClr val="0033B3"/>
                </a:solidFill>
              </a:rPr>
              <a:t>public class </a:t>
            </a:r>
            <a:r>
              <a:rPr lang="en" altLang="zh-CN" dirty="0" err="1">
                <a:solidFill>
                  <a:srgbClr val="000000"/>
                </a:solidFill>
              </a:rPr>
              <a:t>MyController</a:t>
            </a:r>
            <a:r>
              <a:rPr lang="en" altLang="zh-CN" dirty="0">
                <a:solidFill>
                  <a:srgbClr val="000000"/>
                </a:solidFill>
              </a:rPr>
              <a:t> </a:t>
            </a:r>
            <a:r>
              <a:rPr lang="en" altLang="zh-CN" dirty="0">
                <a:solidFill>
                  <a:srgbClr val="080808"/>
                </a:solidFill>
              </a:rPr>
              <a:t>{</a:t>
            </a:r>
            <a:br>
              <a:rPr lang="en" altLang="zh-CN" dirty="0">
                <a:solidFill>
                  <a:srgbClr val="080808"/>
                </a:solidFill>
              </a:rPr>
            </a:b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</a:t>
            </a:r>
            <a:r>
              <a:rPr lang="en" altLang="zh-CN" dirty="0">
                <a:solidFill>
                  <a:srgbClr val="9E880D"/>
                </a:solidFill>
              </a:rPr>
              <a:t>@</a:t>
            </a:r>
            <a:r>
              <a:rPr lang="en" altLang="zh-CN" dirty="0" err="1">
                <a:solidFill>
                  <a:srgbClr val="9E880D"/>
                </a:solidFill>
              </a:rPr>
              <a:t>Autowired</a:t>
            </a:r>
            <a:br>
              <a:rPr lang="en" altLang="zh-CN" dirty="0">
                <a:solidFill>
                  <a:srgbClr val="9E880D"/>
                </a:solidFill>
              </a:rPr>
            </a:br>
            <a:r>
              <a:rPr lang="en" altLang="zh-CN" dirty="0">
                <a:solidFill>
                  <a:srgbClr val="9E880D"/>
                </a:solidFill>
              </a:rPr>
              <a:t>    </a:t>
            </a:r>
            <a:r>
              <a:rPr lang="en" altLang="zh-CN" dirty="0">
                <a:solidFill>
                  <a:srgbClr val="0033B3"/>
                </a:solidFill>
              </a:rPr>
              <a:t>private </a:t>
            </a:r>
            <a:r>
              <a:rPr lang="en" altLang="zh-CN" dirty="0" err="1">
                <a:solidFill>
                  <a:srgbClr val="000000"/>
                </a:solidFill>
              </a:rPr>
              <a:t>RequestContext</a:t>
            </a:r>
            <a:r>
              <a:rPr lang="en" altLang="zh-CN" dirty="0">
                <a:solidFill>
                  <a:srgbClr val="000000"/>
                </a:solidFill>
              </a:rPr>
              <a:t> </a:t>
            </a:r>
            <a:r>
              <a:rPr lang="en" altLang="zh-CN" dirty="0" err="1">
                <a:solidFill>
                  <a:srgbClr val="871094"/>
                </a:solidFill>
              </a:rPr>
              <a:t>requestContext</a:t>
            </a:r>
            <a:r>
              <a:rPr lang="en" altLang="zh-CN" dirty="0">
                <a:solidFill>
                  <a:srgbClr val="080808"/>
                </a:solidFill>
              </a:rPr>
              <a:t>;</a:t>
            </a:r>
            <a:br>
              <a:rPr lang="en" altLang="zh-CN" dirty="0">
                <a:solidFill>
                  <a:srgbClr val="080808"/>
                </a:solidFill>
              </a:rPr>
            </a:b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</a:t>
            </a:r>
            <a:r>
              <a:rPr lang="en" altLang="zh-CN" dirty="0">
                <a:solidFill>
                  <a:srgbClr val="9E880D"/>
                </a:solidFill>
              </a:rPr>
              <a:t>@</a:t>
            </a:r>
            <a:r>
              <a:rPr lang="en" altLang="zh-CN" dirty="0" err="1">
                <a:solidFill>
                  <a:srgbClr val="9E880D"/>
                </a:solidFill>
              </a:rPr>
              <a:t>GetMapping</a:t>
            </a:r>
            <a:r>
              <a:rPr lang="en" altLang="zh-CN" dirty="0">
                <a:solidFill>
                  <a:srgbClr val="080808"/>
                </a:solidFill>
              </a:rPr>
              <a:t>(</a:t>
            </a:r>
            <a:r>
              <a:rPr lang="en" altLang="zh-CN" dirty="0">
                <a:solidFill>
                  <a:srgbClr val="067D17"/>
                </a:solidFill>
              </a:rPr>
              <a:t>"/demo"</a:t>
            </a:r>
            <a:r>
              <a:rPr lang="en" altLang="zh-CN" dirty="0">
                <a:solidFill>
                  <a:srgbClr val="080808"/>
                </a:solidFill>
              </a:rPr>
              <a:t>)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</a:t>
            </a:r>
            <a:r>
              <a:rPr lang="en" altLang="zh-CN" dirty="0">
                <a:solidFill>
                  <a:srgbClr val="0033B3"/>
                </a:solidFill>
              </a:rPr>
              <a:t>public </a:t>
            </a:r>
            <a:r>
              <a:rPr lang="en" altLang="zh-CN" dirty="0">
                <a:solidFill>
                  <a:srgbClr val="000000"/>
                </a:solidFill>
              </a:rPr>
              <a:t>String </a:t>
            </a:r>
            <a:r>
              <a:rPr lang="en" altLang="zh-CN" dirty="0">
                <a:solidFill>
                  <a:srgbClr val="00627A"/>
                </a:solidFill>
              </a:rPr>
              <a:t>demo</a:t>
            </a:r>
            <a:r>
              <a:rPr lang="en" altLang="zh-CN" dirty="0">
                <a:solidFill>
                  <a:srgbClr val="080808"/>
                </a:solidFill>
              </a:rPr>
              <a:t>() </a:t>
            </a:r>
            <a:r>
              <a:rPr lang="en" altLang="zh-CN" dirty="0">
                <a:solidFill>
                  <a:srgbClr val="0033B3"/>
                </a:solidFill>
              </a:rPr>
              <a:t>throws </a:t>
            </a:r>
            <a:r>
              <a:rPr lang="en" altLang="zh-CN" dirty="0" err="1">
                <a:solidFill>
                  <a:srgbClr val="000000"/>
                </a:solidFill>
              </a:rPr>
              <a:t>InterruptedException</a:t>
            </a:r>
            <a:r>
              <a:rPr lang="en" altLang="zh-CN" dirty="0">
                <a:solidFill>
                  <a:srgbClr val="000000"/>
                </a:solidFill>
              </a:rPr>
              <a:t> </a:t>
            </a:r>
            <a:r>
              <a:rPr lang="en" altLang="zh-CN" dirty="0">
                <a:solidFill>
                  <a:srgbClr val="080808"/>
                </a:solidFill>
              </a:rPr>
              <a:t>{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</a:rPr>
              <a:t>Thread</a:t>
            </a:r>
            <a:r>
              <a:rPr lang="en" altLang="zh-CN" dirty="0" err="1">
                <a:solidFill>
                  <a:srgbClr val="080808"/>
                </a:solidFill>
              </a:rPr>
              <a:t>.</a:t>
            </a:r>
            <a:r>
              <a:rPr lang="en" altLang="zh-CN" i="1" dirty="0" err="1">
                <a:solidFill>
                  <a:srgbClr val="080808"/>
                </a:solidFill>
              </a:rPr>
              <a:t>sleep</a:t>
            </a:r>
            <a:r>
              <a:rPr lang="en" altLang="zh-CN" dirty="0">
                <a:solidFill>
                  <a:srgbClr val="080808"/>
                </a:solidFill>
              </a:rPr>
              <a:t>(</a:t>
            </a:r>
            <a:r>
              <a:rPr lang="en" altLang="zh-CN" dirty="0">
                <a:solidFill>
                  <a:srgbClr val="1750EB"/>
                </a:solidFill>
              </a:rPr>
              <a:t>100</a:t>
            </a:r>
            <a:r>
              <a:rPr lang="en" altLang="zh-CN" dirty="0">
                <a:solidFill>
                  <a:srgbClr val="080808"/>
                </a:solidFill>
              </a:rPr>
              <a:t>);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    </a:t>
            </a:r>
            <a:r>
              <a:rPr lang="en" altLang="zh-CN" dirty="0">
                <a:solidFill>
                  <a:srgbClr val="0033B3"/>
                </a:solidFill>
              </a:rPr>
              <a:t>return </a:t>
            </a:r>
            <a:r>
              <a:rPr lang="en" altLang="zh-CN" dirty="0">
                <a:solidFill>
                  <a:srgbClr val="067D17"/>
                </a:solidFill>
              </a:rPr>
              <a:t>"Trace ID: " </a:t>
            </a:r>
            <a:r>
              <a:rPr lang="en" altLang="zh-CN" dirty="0">
                <a:solidFill>
                  <a:srgbClr val="080808"/>
                </a:solidFill>
              </a:rPr>
              <a:t>+ </a:t>
            </a:r>
            <a:r>
              <a:rPr lang="en" altLang="zh-CN" dirty="0" err="1">
                <a:solidFill>
                  <a:srgbClr val="871094"/>
                </a:solidFill>
              </a:rPr>
              <a:t>requestContext</a:t>
            </a:r>
            <a:r>
              <a:rPr lang="en" altLang="zh-CN" dirty="0" err="1">
                <a:solidFill>
                  <a:srgbClr val="080808"/>
                </a:solidFill>
              </a:rPr>
              <a:t>.getTraceId</a:t>
            </a:r>
            <a:r>
              <a:rPr lang="en" altLang="zh-CN" dirty="0">
                <a:solidFill>
                  <a:srgbClr val="080808"/>
                </a:solidFill>
              </a:rPr>
              <a:t>();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}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}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2021E-F4F1-79F2-6A90-367E4A43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711CCC-4E4A-C14F-7BFC-F61ECC912CD7}"/>
              </a:ext>
            </a:extLst>
          </p:cNvPr>
          <p:cNvSpPr txBox="1"/>
          <p:nvPr/>
        </p:nvSpPr>
        <p:spPr>
          <a:xfrm>
            <a:off x="4860032" y="1707654"/>
            <a:ext cx="3096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80808"/>
                </a:solidFill>
                <a:effectLst/>
              </a:rPr>
              <a:t>Singleton Scoped Controller</a:t>
            </a:r>
          </a:p>
        </p:txBody>
      </p:sp>
      <p:sp>
        <p:nvSpPr>
          <p:cNvPr id="7" name="左箭头 6">
            <a:extLst>
              <a:ext uri="{FF2B5EF4-FFF2-40B4-BE49-F238E27FC236}">
                <a16:creationId xmlns:a16="http://schemas.microsoft.com/office/drawing/2014/main" id="{EAD99C2B-5C19-3F01-AECF-35CF87272F70}"/>
              </a:ext>
            </a:extLst>
          </p:cNvPr>
          <p:cNvSpPr/>
          <p:nvPr/>
        </p:nvSpPr>
        <p:spPr>
          <a:xfrm>
            <a:off x="3923928" y="1715446"/>
            <a:ext cx="864096" cy="297324"/>
          </a:xfrm>
          <a:prstGeom prst="lef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400" dirty="0" err="1">
              <a:solidFill>
                <a:schemeClr val="tx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B7F2A9-2BED-B41C-8CDD-5699065F3A02}"/>
              </a:ext>
            </a:extLst>
          </p:cNvPr>
          <p:cNvSpPr txBox="1"/>
          <p:nvPr/>
        </p:nvSpPr>
        <p:spPr>
          <a:xfrm>
            <a:off x="5580112" y="2416074"/>
            <a:ext cx="3096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80808"/>
                </a:solidFill>
                <a:effectLst/>
              </a:rPr>
              <a:t>Request</a:t>
            </a:r>
            <a:r>
              <a:rPr lang="en-US" altLang="zh-CN" dirty="0">
                <a:solidFill>
                  <a:srgbClr val="080808"/>
                </a:solidFill>
              </a:rPr>
              <a:t>/Session Scoped Bean</a:t>
            </a:r>
            <a:endParaRPr lang="en" altLang="zh-CN" dirty="0">
              <a:solidFill>
                <a:srgbClr val="080808"/>
              </a:solidFill>
              <a:effectLst/>
            </a:endParaRP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5D77F17B-391C-EFC9-3E4F-F604282717B7}"/>
              </a:ext>
            </a:extLst>
          </p:cNvPr>
          <p:cNvSpPr/>
          <p:nvPr/>
        </p:nvSpPr>
        <p:spPr>
          <a:xfrm>
            <a:off x="4644008" y="2423866"/>
            <a:ext cx="864096" cy="297324"/>
          </a:xfrm>
          <a:prstGeom prst="leftArrow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l"/>
            <a:endParaRPr kumimoji="1" lang="zh-CN" altLang="en-US" sz="14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59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F6BB0-51E7-2318-9C9D-91D4CE59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</a:rPr>
              <a:t>Scoped</a:t>
            </a:r>
            <a:r>
              <a:rPr lang="zh-CN" altLang="en-US" dirty="0">
                <a:effectLst/>
              </a:rPr>
              <a:t> </a:t>
            </a:r>
            <a:r>
              <a:rPr lang="en" altLang="zh-CN" dirty="0">
                <a:effectLst/>
              </a:rPr>
              <a:t>Proxy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21C904-611C-8FC8-87F8-306D8B30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RequestContext.java</a:t>
            </a:r>
            <a:endParaRPr kumimoji="1" lang="en-US" altLang="zh-CN" dirty="0"/>
          </a:p>
          <a:p>
            <a:pPr marL="0" indent="0">
              <a:buNone/>
            </a:pPr>
            <a:endParaRPr lang="en" altLang="zh-CN" dirty="0">
              <a:solidFill>
                <a:srgbClr val="9E880D"/>
              </a:solidFill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9E880D"/>
                </a:solidFill>
              </a:rPr>
              <a:t>@Component</a:t>
            </a:r>
            <a:br>
              <a:rPr lang="en" altLang="zh-CN" dirty="0">
                <a:solidFill>
                  <a:srgbClr val="9E880D"/>
                </a:solidFill>
              </a:rPr>
            </a:br>
            <a:r>
              <a:rPr lang="en" altLang="zh-CN" dirty="0">
                <a:solidFill>
                  <a:srgbClr val="9E880D"/>
                </a:solidFill>
              </a:rPr>
              <a:t>@Scope</a:t>
            </a:r>
            <a:r>
              <a:rPr lang="en" altLang="zh-CN" dirty="0">
                <a:solidFill>
                  <a:srgbClr val="080808"/>
                </a:solidFill>
              </a:rPr>
              <a:t>(value = </a:t>
            </a:r>
            <a:r>
              <a:rPr lang="en" altLang="zh-CN" dirty="0" err="1">
                <a:solidFill>
                  <a:srgbClr val="000000"/>
                </a:solidFill>
              </a:rPr>
              <a:t>WebApplicationContext</a:t>
            </a:r>
            <a:r>
              <a:rPr lang="en" altLang="zh-CN" dirty="0" err="1">
                <a:solidFill>
                  <a:srgbClr val="080808"/>
                </a:solidFill>
              </a:rPr>
              <a:t>.</a:t>
            </a:r>
            <a:r>
              <a:rPr lang="en" altLang="zh-CN" i="1" dirty="0" err="1">
                <a:solidFill>
                  <a:srgbClr val="871094"/>
                </a:solidFill>
              </a:rPr>
              <a:t>SCOPE_REQUEST</a:t>
            </a:r>
            <a:r>
              <a:rPr lang="en" altLang="zh-CN" dirty="0">
                <a:solidFill>
                  <a:srgbClr val="080808"/>
                </a:solidFill>
              </a:rPr>
              <a:t>, 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80808"/>
                </a:solidFill>
              </a:rPr>
              <a:t>                 </a:t>
            </a:r>
            <a:r>
              <a:rPr lang="en" altLang="zh-CN" dirty="0" err="1">
                <a:solidFill>
                  <a:srgbClr val="080808"/>
                </a:solidFill>
              </a:rPr>
              <a:t>proxyMode</a:t>
            </a:r>
            <a:r>
              <a:rPr lang="en" altLang="zh-CN" dirty="0">
                <a:solidFill>
                  <a:srgbClr val="080808"/>
                </a:solidFill>
              </a:rPr>
              <a:t> = </a:t>
            </a:r>
            <a:r>
              <a:rPr lang="en" altLang="zh-CN" dirty="0" err="1">
                <a:solidFill>
                  <a:srgbClr val="000000"/>
                </a:solidFill>
              </a:rPr>
              <a:t>ScopedProxyMode</a:t>
            </a:r>
            <a:r>
              <a:rPr lang="en" altLang="zh-CN" dirty="0" err="1">
                <a:solidFill>
                  <a:srgbClr val="080808"/>
                </a:solidFill>
              </a:rPr>
              <a:t>.</a:t>
            </a:r>
            <a:r>
              <a:rPr lang="en" altLang="zh-CN" i="1" dirty="0" err="1">
                <a:solidFill>
                  <a:srgbClr val="871094"/>
                </a:solidFill>
              </a:rPr>
              <a:t>TARGET_CLASS</a:t>
            </a:r>
            <a:r>
              <a:rPr lang="en" altLang="zh-CN" dirty="0">
                <a:solidFill>
                  <a:srgbClr val="080808"/>
                </a:solidFill>
              </a:rPr>
              <a:t>)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033B3"/>
                </a:solidFill>
              </a:rPr>
              <a:t>public class </a:t>
            </a:r>
            <a:r>
              <a:rPr lang="en" altLang="zh-CN" dirty="0" err="1">
                <a:solidFill>
                  <a:srgbClr val="000000"/>
                </a:solidFill>
              </a:rPr>
              <a:t>RequestContext</a:t>
            </a:r>
            <a:r>
              <a:rPr lang="en" altLang="zh-CN" dirty="0">
                <a:solidFill>
                  <a:srgbClr val="000000"/>
                </a:solidFill>
              </a:rPr>
              <a:t> </a:t>
            </a:r>
            <a:r>
              <a:rPr lang="en" altLang="zh-CN" dirty="0">
                <a:solidFill>
                  <a:srgbClr val="080808"/>
                </a:solidFill>
              </a:rPr>
              <a:t>{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</a:t>
            </a:r>
            <a:r>
              <a:rPr lang="en" altLang="zh-CN" dirty="0">
                <a:solidFill>
                  <a:srgbClr val="0033B3"/>
                </a:solidFill>
              </a:rPr>
              <a:t>private final </a:t>
            </a:r>
            <a:r>
              <a:rPr lang="en" altLang="zh-CN" dirty="0">
                <a:solidFill>
                  <a:srgbClr val="000000"/>
                </a:solidFill>
              </a:rPr>
              <a:t>String </a:t>
            </a:r>
            <a:r>
              <a:rPr lang="en" altLang="zh-CN" dirty="0" err="1">
                <a:solidFill>
                  <a:srgbClr val="871094"/>
                </a:solidFill>
              </a:rPr>
              <a:t>traceId</a:t>
            </a:r>
            <a:r>
              <a:rPr lang="en" altLang="zh-CN" dirty="0">
                <a:solidFill>
                  <a:srgbClr val="871094"/>
                </a:solidFill>
              </a:rPr>
              <a:t> </a:t>
            </a:r>
            <a:r>
              <a:rPr lang="en" altLang="zh-CN" dirty="0">
                <a:solidFill>
                  <a:srgbClr val="080808"/>
                </a:solidFill>
              </a:rPr>
              <a:t>= </a:t>
            </a:r>
            <a:r>
              <a:rPr lang="en" altLang="zh-CN" dirty="0" err="1">
                <a:solidFill>
                  <a:srgbClr val="000000"/>
                </a:solidFill>
              </a:rPr>
              <a:t>UUID</a:t>
            </a:r>
            <a:r>
              <a:rPr lang="en" altLang="zh-CN" dirty="0" err="1">
                <a:solidFill>
                  <a:srgbClr val="080808"/>
                </a:solidFill>
              </a:rPr>
              <a:t>.</a:t>
            </a:r>
            <a:r>
              <a:rPr lang="en" altLang="zh-CN" i="1" dirty="0" err="1">
                <a:solidFill>
                  <a:srgbClr val="080808"/>
                </a:solidFill>
              </a:rPr>
              <a:t>randomUUID</a:t>
            </a:r>
            <a:r>
              <a:rPr lang="en" altLang="zh-CN" dirty="0">
                <a:solidFill>
                  <a:srgbClr val="080808"/>
                </a:solidFill>
              </a:rPr>
              <a:t>().</a:t>
            </a:r>
            <a:r>
              <a:rPr lang="en" altLang="zh-CN" dirty="0" err="1">
                <a:solidFill>
                  <a:srgbClr val="080808"/>
                </a:solidFill>
              </a:rPr>
              <a:t>toString</a:t>
            </a:r>
            <a:r>
              <a:rPr lang="en" altLang="zh-CN" dirty="0">
                <a:solidFill>
                  <a:srgbClr val="080808"/>
                </a:solidFill>
              </a:rPr>
              <a:t>();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    </a:t>
            </a:r>
            <a:r>
              <a:rPr lang="en" altLang="zh-CN" dirty="0">
                <a:solidFill>
                  <a:srgbClr val="0033B3"/>
                </a:solidFill>
              </a:rPr>
              <a:t>public </a:t>
            </a:r>
            <a:r>
              <a:rPr lang="en" altLang="zh-CN" dirty="0">
                <a:solidFill>
                  <a:srgbClr val="000000"/>
                </a:solidFill>
              </a:rPr>
              <a:t>String </a:t>
            </a:r>
            <a:r>
              <a:rPr lang="en" altLang="zh-CN" dirty="0" err="1">
                <a:solidFill>
                  <a:srgbClr val="00627A"/>
                </a:solidFill>
              </a:rPr>
              <a:t>getTraceId</a:t>
            </a:r>
            <a:r>
              <a:rPr lang="en" altLang="zh-CN" dirty="0">
                <a:solidFill>
                  <a:srgbClr val="080808"/>
                </a:solidFill>
              </a:rPr>
              <a:t>() { </a:t>
            </a:r>
            <a:r>
              <a:rPr lang="en" altLang="zh-CN" dirty="0">
                <a:solidFill>
                  <a:srgbClr val="0033B3"/>
                </a:solidFill>
              </a:rPr>
              <a:t>return </a:t>
            </a:r>
            <a:r>
              <a:rPr lang="en" altLang="zh-CN" dirty="0" err="1">
                <a:solidFill>
                  <a:srgbClr val="871094"/>
                </a:solidFill>
              </a:rPr>
              <a:t>traceId</a:t>
            </a:r>
            <a:r>
              <a:rPr lang="en" altLang="zh-CN" dirty="0">
                <a:solidFill>
                  <a:srgbClr val="080808"/>
                </a:solidFill>
              </a:rPr>
              <a:t>; }</a:t>
            </a:r>
            <a:br>
              <a:rPr lang="en" altLang="zh-CN" dirty="0">
                <a:solidFill>
                  <a:srgbClr val="080808"/>
                </a:solidFill>
              </a:rPr>
            </a:br>
            <a:r>
              <a:rPr lang="en" altLang="zh-CN" dirty="0">
                <a:solidFill>
                  <a:srgbClr val="080808"/>
                </a:solidFill>
              </a:rPr>
              <a:t>}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539455-5A1A-7377-F7A9-B7DA5527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33BDA6-B8CE-9EB1-65C4-4BA86E925E50}"/>
              </a:ext>
            </a:extLst>
          </p:cNvPr>
          <p:cNvSpPr txBox="1"/>
          <p:nvPr/>
        </p:nvSpPr>
        <p:spPr>
          <a:xfrm>
            <a:off x="179512" y="3795886"/>
            <a:ext cx="8262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Spring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提供了解决此问题的机制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—— </a:t>
            </a:r>
            <a:r>
              <a:rPr lang="zh-CN" altLang="en-US" b="1" dirty="0">
                <a:latin typeface="DengXian" panose="02010600030101010101" pitchFamily="2" charset="-122"/>
                <a:ea typeface="DengXian" panose="02010600030101010101" pitchFamily="2" charset="-122"/>
              </a:rPr>
              <a:t>通过代理来延迟注入 </a:t>
            </a:r>
            <a:r>
              <a:rPr lang="en" altLang="zh-CN" b="1" dirty="0">
                <a:latin typeface="DengXian" panose="02010600030101010101" pitchFamily="2" charset="-122"/>
                <a:ea typeface="DengXian" panose="02010600030101010101" pitchFamily="2" charset="-122"/>
              </a:rPr>
              <a:t>request-scoped Bean</a:t>
            </a:r>
            <a:r>
              <a:rPr lang="zh-CN" altLang="en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即用一个代理对象占位，等请求来了再实际生成 </a:t>
            </a:r>
            <a:r>
              <a:rPr lang="en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Bean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实例。</a:t>
            </a:r>
          </a:p>
        </p:txBody>
      </p:sp>
    </p:spTree>
    <p:extLst>
      <p:ext uri="{BB962C8B-B14F-4D97-AF65-F5344CB8AC3E}">
        <p14:creationId xmlns:p14="http://schemas.microsoft.com/office/powerpoint/2010/main" val="352820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6C237-FA49-1BF4-1E0D-8D259AD7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Database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Connection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Pool</a:t>
            </a:r>
            <a:r>
              <a:rPr kumimoji="1" lang="zh-CN" altLang="en-US" dirty="0"/>
              <a:t> </a:t>
            </a:r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AF3B8-B869-1DF8-B062-543BA4DEF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200" dirty="0">
                <a:hlinkClick r:id="rId2"/>
              </a:rPr>
              <a:t>https://github.com/brettwooldridge/HikariCP/wiki/About-Pool-Sizing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>
                <a:hlinkClick r:id="rId3"/>
              </a:rPr>
              <a:t>https://www.youtube.com/watch?v=_C77sBcAtSQ</a:t>
            </a:r>
            <a:r>
              <a:rPr kumimoji="1" lang="zh-CN" altLang="en-US" sz="1200" dirty="0"/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517F7-21A9-F427-6ED6-A41FA95F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19AA25-3467-2B7A-7C76-D091AC25A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347615"/>
            <a:ext cx="4176464" cy="34575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E1B1358-4C5A-7EDD-C500-8D1BC6652399}"/>
              </a:ext>
            </a:extLst>
          </p:cNvPr>
          <p:cNvSpPr txBox="1"/>
          <p:nvPr/>
        </p:nvSpPr>
        <p:spPr>
          <a:xfrm>
            <a:off x="4875376" y="1635499"/>
            <a:ext cx="4285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>
                <a:effectLst/>
                <a:latin typeface="-apple-system"/>
              </a:rPr>
              <a:t>connections =</a:t>
            </a:r>
          </a:p>
          <a:p>
            <a:pPr algn="l"/>
            <a:r>
              <a:rPr lang="en-US" altLang="zh-CN" i="0" dirty="0">
                <a:effectLst/>
                <a:latin typeface="-apple-system"/>
              </a:rPr>
              <a:t>((</a:t>
            </a:r>
            <a:r>
              <a:rPr lang="en-US" altLang="zh-CN" i="0" dirty="0" err="1">
                <a:effectLst/>
                <a:latin typeface="-apple-system"/>
              </a:rPr>
              <a:t>core_count</a:t>
            </a:r>
            <a:r>
              <a:rPr lang="en-US" altLang="zh-CN" i="0" dirty="0">
                <a:effectLst/>
                <a:latin typeface="-apple-system"/>
              </a:rPr>
              <a:t> * 2) + </a:t>
            </a:r>
            <a:r>
              <a:rPr lang="en-US" altLang="zh-CN" i="0" dirty="0" err="1">
                <a:effectLst/>
                <a:latin typeface="-apple-system"/>
              </a:rPr>
              <a:t>effective_spindle_count</a:t>
            </a:r>
            <a:r>
              <a:rPr lang="en-US" altLang="zh-CN" i="0" dirty="0">
                <a:effectLst/>
                <a:latin typeface="-apple-system"/>
              </a:rPr>
              <a:t>)</a:t>
            </a:r>
          </a:p>
          <a:p>
            <a:pPr algn="l"/>
            <a:br>
              <a:rPr lang="en-US" altLang="zh-CN" i="0" dirty="0">
                <a:effectLst/>
                <a:latin typeface="-apple-system"/>
              </a:rPr>
            </a:br>
            <a:endParaRPr lang="en-US" altLang="zh-CN" i="0" dirty="0"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0D8505-EAA7-6AAB-0CCD-F81E0BD24A60}"/>
              </a:ext>
            </a:extLst>
          </p:cNvPr>
          <p:cNvSpPr txBox="1"/>
          <p:nvPr/>
        </p:nvSpPr>
        <p:spPr>
          <a:xfrm>
            <a:off x="4875376" y="2979923"/>
            <a:ext cx="4104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>
                <a:effectLst/>
                <a:latin typeface="-apple-system"/>
              </a:rPr>
              <a:t>Axiom: You want a small pool, saturated with threads waiting for connections.</a:t>
            </a:r>
          </a:p>
        </p:txBody>
      </p:sp>
    </p:spTree>
    <p:extLst>
      <p:ext uri="{BB962C8B-B14F-4D97-AF65-F5344CB8AC3E}">
        <p14:creationId xmlns:p14="http://schemas.microsoft.com/office/powerpoint/2010/main" val="308774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Web</a:t>
            </a:r>
            <a:r>
              <a:rPr lang="zh-CN" altLang="en-US" dirty="0"/>
              <a:t>开发的发展史</a:t>
            </a:r>
          </a:p>
          <a:p>
            <a:pPr lvl="1"/>
            <a:r>
              <a:rPr lang="en-US" altLang="zh-CN" dirty="0">
                <a:hlinkClick r:id="rId2"/>
              </a:rPr>
              <a:t>https://linux.cn/article-3166-1.html</a:t>
            </a:r>
            <a:endParaRPr lang="en-US" altLang="zh-CN" dirty="0"/>
          </a:p>
          <a:p>
            <a:r>
              <a:rPr lang="en" altLang="zh-CN" dirty="0"/>
              <a:t>The IoC Container- Bean Scopes</a:t>
            </a:r>
            <a:endParaRPr lang="en" altLang="zh-CN" dirty="0">
              <a:hlinkClick r:id="rId3"/>
            </a:endParaRPr>
          </a:p>
          <a:p>
            <a:pPr lvl="1"/>
            <a:r>
              <a:rPr lang="en" altLang="zh-CN" dirty="0">
                <a:hlinkClick r:id="rId3"/>
              </a:rPr>
              <a:t>https://docs.spring.io/spring/docs/5.2.3.RELEASE/spring-framework-reference/core.html#beans-factory-scopes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</a:p>
          <a:p>
            <a:r>
              <a:rPr lang="en" altLang="zh-CN" dirty="0"/>
              <a:t>Quick Guide to Spring Bean Scopes</a:t>
            </a:r>
            <a:endParaRPr lang="en-US" altLang="zh-Hans" dirty="0"/>
          </a:p>
          <a:p>
            <a:pPr lvl="1"/>
            <a:r>
              <a:rPr lang="en" altLang="zh-CN" dirty="0">
                <a:hlinkClick r:id="rId4"/>
              </a:rPr>
              <a:t>https://www.baeldung.com/spring-bean-scopes</a:t>
            </a:r>
            <a:endParaRPr lang="en" altLang="zh-CN" dirty="0"/>
          </a:p>
          <a:p>
            <a:r>
              <a:rPr lang="en" altLang="zh-CN" dirty="0"/>
              <a:t>Spring</a:t>
            </a:r>
            <a:r>
              <a:rPr lang="zh-CN" altLang="en-US" dirty="0"/>
              <a:t>注解中</a:t>
            </a:r>
            <a:r>
              <a:rPr lang="en-US" altLang="zh-CN" dirty="0"/>
              <a:t>@</a:t>
            </a:r>
            <a:r>
              <a:rPr lang="en" altLang="zh-CN" dirty="0"/>
              <a:t>Scope </a:t>
            </a:r>
            <a:r>
              <a:rPr lang="zh-CN" altLang="en-US" dirty="0"/>
              <a:t>的使用解说</a:t>
            </a:r>
          </a:p>
          <a:p>
            <a:pPr lvl="1"/>
            <a:r>
              <a:rPr lang="en" altLang="zh-CN" dirty="0">
                <a:hlinkClick r:id="rId5"/>
              </a:rPr>
              <a:t>https://blog.csdn.net/cuichunchi/article/details/79170240</a:t>
            </a:r>
            <a:r>
              <a:rPr lang="en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9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1670" y="3327834"/>
            <a:ext cx="35103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 You!</a:t>
            </a:r>
            <a:endParaRPr lang="zh-CN" altLang="en-US" sz="45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08" y="489226"/>
            <a:ext cx="1848521" cy="517586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0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algn="l">
          <a:defRPr sz="1400" dirty="0" err="1" smtClean="0">
            <a:solidFill>
              <a:schemeClr val="tx2"/>
            </a:solidFill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21682</TotalTime>
  <Words>1829</Words>
  <Application>Microsoft Macintosh PowerPoint</Application>
  <PresentationFormat>全屏显示(16:9)</PresentationFormat>
  <Paragraphs>232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-apple-system</vt:lpstr>
      <vt:lpstr>DengXian</vt:lpstr>
      <vt:lpstr>微软雅黑</vt:lpstr>
      <vt:lpstr>Arial</vt:lpstr>
      <vt:lpstr>Calibri</vt:lpstr>
      <vt:lpstr>Cambria</vt:lpstr>
      <vt:lpstr>Tahoma</vt:lpstr>
      <vt:lpstr>Times New Roman</vt:lpstr>
      <vt:lpstr>Office 主题​​</vt:lpstr>
      <vt:lpstr>Architecture of Enterprise Applications 1 Overview of Enterprise Applications </vt:lpstr>
      <vt:lpstr>Contents and Objectives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Java Web Application</vt:lpstr>
      <vt:lpstr>Architecture of Enterprise Applications 1 Stateful and Stateless Services </vt:lpstr>
      <vt:lpstr> Recall: HTTP session state</vt:lpstr>
      <vt:lpstr> Recall: HTTP session state</vt:lpstr>
      <vt:lpstr>Spring Bean Scopes</vt:lpstr>
      <vt:lpstr>Scope</vt:lpstr>
      <vt:lpstr>Scope</vt:lpstr>
      <vt:lpstr>Default Scope - singleton</vt:lpstr>
      <vt:lpstr>Default Scope - singleton</vt:lpstr>
      <vt:lpstr>Scope - prototype</vt:lpstr>
      <vt:lpstr>Scope - prototype</vt:lpstr>
      <vt:lpstr>Scope - prototype</vt:lpstr>
      <vt:lpstr>Scope - prototype</vt:lpstr>
      <vt:lpstr>Scope - session</vt:lpstr>
      <vt:lpstr>Scope - session</vt:lpstr>
      <vt:lpstr>Scope - session</vt:lpstr>
      <vt:lpstr>Scope - session</vt:lpstr>
      <vt:lpstr>Scope - session</vt:lpstr>
      <vt:lpstr>Scope - session</vt:lpstr>
      <vt:lpstr>Scope - session</vt:lpstr>
      <vt:lpstr>Scope - session</vt:lpstr>
      <vt:lpstr>Summary</vt:lpstr>
      <vt:lpstr>Scoped Proxy</vt:lpstr>
      <vt:lpstr>Scoped Proxy</vt:lpstr>
      <vt:lpstr>Database Connection Pool Size</vt:lpstr>
      <vt:lpstr>References</vt:lpstr>
      <vt:lpstr>PowerPoint 演示文稿</vt:lpstr>
    </vt:vector>
  </TitlesOfParts>
  <Company>REINS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REINS PPT</dc:title>
  <dc:subject>REINS BLUE</dc:subject>
  <dc:creator>REINS</dc:creator>
  <cp:lastModifiedBy>Haopeng Chen chen</cp:lastModifiedBy>
  <cp:revision>1341</cp:revision>
  <cp:lastPrinted>2019-02-24T06:24:38Z</cp:lastPrinted>
  <dcterms:created xsi:type="dcterms:W3CDTF">2011-12-13T14:18:46Z</dcterms:created>
  <dcterms:modified xsi:type="dcterms:W3CDTF">2025-09-27T01:26:04Z</dcterms:modified>
</cp:coreProperties>
</file>