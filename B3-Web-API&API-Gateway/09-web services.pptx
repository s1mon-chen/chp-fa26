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63"/>
  </p:notesMasterIdLst>
  <p:sldIdLst>
    <p:sldId id="256" r:id="rId2"/>
    <p:sldId id="538" r:id="rId3"/>
    <p:sldId id="399" r:id="rId4"/>
    <p:sldId id="401" r:id="rId5"/>
    <p:sldId id="402" r:id="rId6"/>
    <p:sldId id="403" r:id="rId7"/>
    <p:sldId id="404" r:id="rId8"/>
    <p:sldId id="405" r:id="rId9"/>
    <p:sldId id="409" r:id="rId10"/>
    <p:sldId id="484" r:id="rId11"/>
    <p:sldId id="486" r:id="rId12"/>
    <p:sldId id="487" r:id="rId13"/>
    <p:sldId id="488" r:id="rId14"/>
    <p:sldId id="489" r:id="rId15"/>
    <p:sldId id="490" r:id="rId16"/>
    <p:sldId id="491" r:id="rId17"/>
    <p:sldId id="492" r:id="rId18"/>
    <p:sldId id="493" r:id="rId19"/>
    <p:sldId id="499" r:id="rId20"/>
    <p:sldId id="481" r:id="rId21"/>
    <p:sldId id="494" r:id="rId22"/>
    <p:sldId id="496" r:id="rId23"/>
    <p:sldId id="500" r:id="rId24"/>
    <p:sldId id="502" r:id="rId25"/>
    <p:sldId id="501" r:id="rId26"/>
    <p:sldId id="497" r:id="rId27"/>
    <p:sldId id="392" r:id="rId28"/>
    <p:sldId id="393" r:id="rId29"/>
    <p:sldId id="539" r:id="rId30"/>
    <p:sldId id="540" r:id="rId31"/>
    <p:sldId id="541" r:id="rId32"/>
    <p:sldId id="542" r:id="rId33"/>
    <p:sldId id="543" r:id="rId34"/>
    <p:sldId id="427" r:id="rId35"/>
    <p:sldId id="428" r:id="rId36"/>
    <p:sldId id="429" r:id="rId37"/>
    <p:sldId id="430" r:id="rId38"/>
    <p:sldId id="431" r:id="rId39"/>
    <p:sldId id="432" r:id="rId40"/>
    <p:sldId id="433" r:id="rId41"/>
    <p:sldId id="406" r:id="rId42"/>
    <p:sldId id="407" r:id="rId43"/>
    <p:sldId id="408" r:id="rId44"/>
    <p:sldId id="421" r:id="rId45"/>
    <p:sldId id="420" r:id="rId46"/>
    <p:sldId id="434" r:id="rId47"/>
    <p:sldId id="435" r:id="rId48"/>
    <p:sldId id="436" r:id="rId49"/>
    <p:sldId id="437" r:id="rId50"/>
    <p:sldId id="438" r:id="rId51"/>
    <p:sldId id="415" r:id="rId52"/>
    <p:sldId id="416" r:id="rId53"/>
    <p:sldId id="482" r:id="rId54"/>
    <p:sldId id="505" r:id="rId55"/>
    <p:sldId id="506" r:id="rId56"/>
    <p:sldId id="507" r:id="rId57"/>
    <p:sldId id="508" r:id="rId58"/>
    <p:sldId id="417" r:id="rId59"/>
    <p:sldId id="418" r:id="rId60"/>
    <p:sldId id="397" r:id="rId61"/>
    <p:sldId id="259" r:id="rId6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  <a:srgbClr val="DBD8CF"/>
    <a:srgbClr val="C9C8B7"/>
    <a:srgbClr val="B9B799"/>
    <a:srgbClr val="A2F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83265" autoAdjust="0"/>
  </p:normalViewPr>
  <p:slideViewPr>
    <p:cSldViewPr>
      <p:cViewPr varScale="1">
        <p:scale>
          <a:sx n="141" d="100"/>
          <a:sy n="141" d="100"/>
        </p:scale>
        <p:origin x="1384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11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0D2F6-41A1-4FB9-8DEA-0C65FD35AB0D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221B5-E10A-485A-AB8F-213CB661A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87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981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392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先运行</a:t>
            </a:r>
            <a:r>
              <a:rPr kumimoji="1" lang="en-US" altLang="zh-CN" dirty="0"/>
              <a:t>Tomcat</a:t>
            </a:r>
            <a:r>
              <a:rPr kumimoji="1" lang="zh-CN" altLang="en-US" dirty="0"/>
              <a:t>，然后运行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562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839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76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355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991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089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503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281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921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533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0011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631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0878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74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5294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4886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0855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8560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1749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6103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8610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0706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org.reins.wssample.wsdl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793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alphaModFix amt="23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77"/>
                    </a14:imgEffect>
                  </a14:imgLayer>
                </a14:imgProps>
              </a:ext>
            </a:extLst>
          </a:blip>
          <a:srcRect/>
          <a:tile tx="-31750" ty="-31750" sx="40000" sy="4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单圆角矩形 6"/>
          <p:cNvSpPr/>
          <p:nvPr userDrawn="1"/>
        </p:nvSpPr>
        <p:spPr>
          <a:xfrm>
            <a:off x="-34456" y="1059582"/>
            <a:ext cx="6084168" cy="1982405"/>
          </a:xfrm>
          <a:prstGeom prst="round1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460" y="1271653"/>
            <a:ext cx="5490645" cy="1558265"/>
          </a:xfrm>
        </p:spPr>
        <p:txBody>
          <a:bodyPr anchor="ctr"/>
          <a:lstStyle>
            <a:lvl1pPr algn="l">
              <a:defRPr sz="4050" b="0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131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1">
          <a:blip r:embed="rId2">
            <a:alphaModFix amt="23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77"/>
                    </a14:imgEffect>
                  </a14:imgLayer>
                </a14:imgProps>
              </a:ext>
            </a:extLst>
          </a:blip>
          <a:srcRect/>
          <a:tile tx="-31750" ty="-31750" sx="40000" sy="4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571472" y="589345"/>
            <a:ext cx="8143932" cy="1982405"/>
          </a:xfrm>
          <a:prstGeom prst="roundRect">
            <a:avLst>
              <a:gd name="adj" fmla="val 6209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7238" y="735546"/>
            <a:ext cx="7772400" cy="1674186"/>
          </a:xfrm>
        </p:spPr>
        <p:txBody>
          <a:bodyPr anchor="t"/>
          <a:lstStyle>
            <a:lvl1pPr algn="ctr">
              <a:defRPr sz="2100" b="0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43038" y="2895786"/>
            <a:ext cx="6400800" cy="1404156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baseline="0">
                <a:solidFill>
                  <a:schemeClr val="tx1"/>
                </a:solidFill>
                <a:latin typeface="Cambria" pitchFamily="18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-36512" y="4948014"/>
            <a:ext cx="9216000" cy="216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68441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672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4611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339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785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流程图: 延期 21"/>
          <p:cNvSpPr/>
          <p:nvPr userDrawn="1"/>
        </p:nvSpPr>
        <p:spPr>
          <a:xfrm rot="16200000">
            <a:off x="4420251" y="419751"/>
            <a:ext cx="303498" cy="9144000"/>
          </a:xfrm>
          <a:prstGeom prst="flowChartDelay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20" name="矩形 19"/>
          <p:cNvSpPr/>
          <p:nvPr userDrawn="1"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7504" y="105708"/>
            <a:ext cx="6817128" cy="413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7504" y="845073"/>
            <a:ext cx="8784976" cy="3940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7504" y="4948014"/>
            <a:ext cx="2026096" cy="189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新宋体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012160" y="4925087"/>
            <a:ext cx="2895600" cy="195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pic>
        <p:nvPicPr>
          <p:cNvPr id="1026" name="Picture 2" descr="C:\Users\Administrator\Desktop\REINS.png"/>
          <p:cNvPicPr>
            <a:picLocks noChangeAspect="1" noChangeArrowheads="1"/>
          </p:cNvPicPr>
          <p:nvPr userDrawn="1"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816" y="56257"/>
            <a:ext cx="1691680" cy="355253"/>
          </a:xfrm>
          <a:prstGeom prst="rect">
            <a:avLst/>
          </a:prstGeom>
          <a:noFill/>
          <a:ln w="9525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/>
          <p:cNvSpPr txBox="1"/>
          <p:nvPr userDrawn="1"/>
        </p:nvSpPr>
        <p:spPr>
          <a:xfrm>
            <a:off x="6876256" y="400404"/>
            <a:ext cx="2232248" cy="196208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675" dirty="0" err="1">
                <a:solidFill>
                  <a:schemeClr val="bg1"/>
                </a:solidFill>
                <a:effectLst/>
                <a:latin typeface="Cambria" pitchFamily="18" charset="0"/>
              </a:rPr>
              <a:t>REliable</a:t>
            </a:r>
            <a:r>
              <a:rPr lang="en-US" altLang="zh-CN" sz="675" dirty="0">
                <a:solidFill>
                  <a:schemeClr val="bg1"/>
                </a:solidFill>
                <a:effectLst/>
                <a:latin typeface="Cambria" pitchFamily="18" charset="0"/>
              </a:rPr>
              <a:t>, </a:t>
            </a:r>
            <a:r>
              <a:rPr lang="en-US" altLang="zh-CN" sz="675" dirty="0" err="1">
                <a:solidFill>
                  <a:schemeClr val="bg1"/>
                </a:solidFill>
                <a:effectLst/>
                <a:latin typeface="Cambria" pitchFamily="18" charset="0"/>
              </a:rPr>
              <a:t>INtelligent</a:t>
            </a:r>
            <a:r>
              <a:rPr lang="en-US" altLang="zh-CN" sz="675" baseline="0" dirty="0">
                <a:solidFill>
                  <a:schemeClr val="bg1"/>
                </a:solidFill>
                <a:effectLst/>
                <a:latin typeface="Cambria" pitchFamily="18" charset="0"/>
              </a:rPr>
              <a:t> &amp; Scalable Systems</a:t>
            </a:r>
            <a:endParaRPr lang="zh-CN" altLang="en-US" sz="675" dirty="0">
              <a:solidFill>
                <a:schemeClr val="bg1"/>
              </a:solidFill>
              <a:effectLst/>
              <a:latin typeface="Cambria" pitchFamily="18" charset="0"/>
            </a:endParaRPr>
          </a:p>
        </p:txBody>
      </p:sp>
      <p:sp>
        <p:nvSpPr>
          <p:cNvPr id="31" name="矩形 30"/>
          <p:cNvSpPr/>
          <p:nvPr userDrawn="1"/>
        </p:nvSpPr>
        <p:spPr>
          <a:xfrm>
            <a:off x="6191250" y="575073"/>
            <a:ext cx="2952750" cy="1071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600" dirty="0">
                <a:latin typeface="微软雅黑" pitchFamily="34" charset="-122"/>
                <a:ea typeface="微软雅黑" pitchFamily="34" charset="-122"/>
              </a:rPr>
              <a:t>                               </a:t>
            </a:r>
            <a:endParaRPr lang="zh-CN" altLang="en-US" sz="600" dirty="0">
              <a:solidFill>
                <a:schemeClr val="bg1"/>
              </a:solidFill>
              <a:effectLst/>
              <a:latin typeface="Cambria" pitchFamily="18" charset="0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4643438" y="575073"/>
            <a:ext cx="1619250" cy="107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32"/>
          <p:cNvSpPr/>
          <p:nvPr userDrawn="1"/>
        </p:nvSpPr>
        <p:spPr>
          <a:xfrm>
            <a:off x="3286125" y="575073"/>
            <a:ext cx="1403350" cy="1071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矩形 33"/>
          <p:cNvSpPr/>
          <p:nvPr userDrawn="1"/>
        </p:nvSpPr>
        <p:spPr>
          <a:xfrm>
            <a:off x="2143125" y="575073"/>
            <a:ext cx="1187450" cy="107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1214438" y="575073"/>
            <a:ext cx="971550" cy="1071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500063" y="575073"/>
            <a:ext cx="755650" cy="107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36"/>
          <p:cNvSpPr/>
          <p:nvPr userDrawn="1"/>
        </p:nvSpPr>
        <p:spPr>
          <a:xfrm>
            <a:off x="0" y="573882"/>
            <a:ext cx="539750" cy="1083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067944" y="4894009"/>
            <a:ext cx="1008112" cy="23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 baseline="0">
                <a:solidFill>
                  <a:schemeClr val="bg1"/>
                </a:solidFill>
                <a:latin typeface="Tahoma" pitchFamily="34" charset="0"/>
                <a:ea typeface="微软雅黑" pitchFamily="34" charset="-122"/>
              </a:defRPr>
            </a:lvl1pPr>
          </a:lstStyle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922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  <p:sldLayoutId id="2147483650" r:id="rId3"/>
    <p:sldLayoutId id="2147483653" r:id="rId4"/>
    <p:sldLayoutId id="2147483654" r:id="rId5"/>
    <p:sldLayoutId id="2147483655" r:id="rId6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l" defTabSz="685800" rtl="0" eaLnBrk="1" latinLnBrk="0" hangingPunct="1">
        <a:spcBef>
          <a:spcPct val="0"/>
        </a:spcBef>
        <a:buNone/>
        <a:defRPr sz="2400" b="0" kern="1200" baseline="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ahoma" pitchFamily="34" charset="0"/>
          <a:ea typeface="微软雅黑" pitchFamily="34" charset="-122"/>
          <a:cs typeface="Tahoma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35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20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20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reins.se.sjtu.edu.cn/~chenhp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guides/gs/producing-web-service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pring.io/guides/gs/rest-service/" TargetMode="External"/><Relationship Id="rId4" Type="http://schemas.openxmlformats.org/officeDocument/2006/relationships/hyperlink" Target="https://spring.io/guides/gs/consuming-web-service/" TargetMode="Externa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CN" sz="2400" dirty="0"/>
              <a:t>Architecture of Enterprise Applications 9</a:t>
            </a:r>
            <a:br>
              <a:rPr lang="en-US" altLang="zh-CN" sz="2400" dirty="0"/>
            </a:br>
            <a:r>
              <a:rPr lang="en-US" altLang="zh-CN" sz="2400" dirty="0"/>
              <a:t>Web Services</a:t>
            </a:r>
            <a:br>
              <a:rPr lang="en-US" altLang="zh-CN" sz="2400" dirty="0"/>
            </a:br>
            <a:endParaRPr lang="zh-CN" altLang="en-US" sz="1350" i="1" dirty="0">
              <a:solidFill>
                <a:schemeClr val="tx1"/>
              </a:solidFill>
              <a:effectLst/>
              <a:latin typeface="Times New Roman" pitchFamily="18" charset="0"/>
              <a:ea typeface="幼圆" pitchFamily="49" charset="-122"/>
              <a:cs typeface="Times New Roman" pitchFamily="18" charset="0"/>
            </a:endParaRP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2225279" y="2895786"/>
            <a:ext cx="4800600" cy="1836204"/>
          </a:xfrm>
        </p:spPr>
        <p:txBody>
          <a:bodyPr>
            <a:normAutofit/>
          </a:bodyPr>
          <a:lstStyle/>
          <a:p>
            <a:r>
              <a:rPr lang="en-US" altLang="zh-CN" b="1" dirty="0"/>
              <a:t>Haopeng Chen</a:t>
            </a:r>
          </a:p>
          <a:p>
            <a:endParaRPr lang="en-US" altLang="zh-CN" dirty="0"/>
          </a:p>
          <a:p>
            <a:r>
              <a:rPr lang="en-US" altLang="zh-CN" sz="1350" b="1" i="1" dirty="0" err="1"/>
              <a:t>RE</a:t>
            </a:r>
            <a:r>
              <a:rPr lang="en-US" altLang="zh-CN" i="1" dirty="0" err="1"/>
              <a:t>liable</a:t>
            </a:r>
            <a:r>
              <a:rPr lang="en-US" altLang="zh-CN" i="1" dirty="0"/>
              <a:t>, </a:t>
            </a:r>
            <a:r>
              <a:rPr lang="en-US" altLang="zh-CN" sz="1350" b="1" i="1" dirty="0" err="1"/>
              <a:t>IN</a:t>
            </a:r>
            <a:r>
              <a:rPr lang="en-US" altLang="zh-CN" i="1" dirty="0" err="1"/>
              <a:t>telligent</a:t>
            </a:r>
            <a:r>
              <a:rPr lang="en-US" altLang="zh-CN" i="1" dirty="0"/>
              <a:t> and </a:t>
            </a:r>
            <a:r>
              <a:rPr lang="en-US" altLang="zh-CN" sz="1350" b="1" i="1" dirty="0"/>
              <a:t>S</a:t>
            </a:r>
            <a:r>
              <a:rPr lang="en-US" altLang="zh-CN" i="1" dirty="0"/>
              <a:t>calable Systems Group (</a:t>
            </a:r>
            <a:r>
              <a:rPr lang="en-US" altLang="zh-CN" b="1" i="1" dirty="0"/>
              <a:t>REINS</a:t>
            </a:r>
            <a:r>
              <a:rPr lang="en-US" altLang="zh-CN" i="1" dirty="0"/>
              <a:t>)</a:t>
            </a:r>
          </a:p>
          <a:p>
            <a:r>
              <a:rPr lang="en-US" altLang="zh-CN" dirty="0"/>
              <a:t>Shanghai Jiao Tong University</a:t>
            </a:r>
          </a:p>
          <a:p>
            <a:r>
              <a:rPr lang="en-US" altLang="zh-CN" dirty="0"/>
              <a:t>Shanghai, China</a:t>
            </a:r>
          </a:p>
          <a:p>
            <a:r>
              <a:rPr lang="en-US" altLang="zh-CN" u="sng" dirty="0">
                <a:hlinkClick r:id="rId2"/>
              </a:rPr>
              <a:t>http://reins.se.sjtu.edu.cn/~chenhp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e-mail: chen-hp@sjtu.edu.cn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512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7646D9B-B892-AC4C-8F51-4EFB3D77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Objectives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2C99027-522D-8949-AEAA-BB43DA242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Contents</a:t>
            </a:r>
          </a:p>
          <a:p>
            <a:pPr lvl="1"/>
            <a:r>
              <a:rPr lang="en-US" altLang="zh-CN" sz="2100" dirty="0"/>
              <a:t>WS</a:t>
            </a:r>
            <a:r>
              <a:rPr lang="zh-CN" altLang="en-US" sz="2100" dirty="0"/>
              <a:t> </a:t>
            </a:r>
            <a:r>
              <a:rPr lang="en-US" altLang="zh-CN" sz="2100" dirty="0"/>
              <a:t>Overview</a:t>
            </a:r>
          </a:p>
          <a:p>
            <a:pPr lvl="1"/>
            <a:r>
              <a:rPr lang="en-US" altLang="zh-CN" sz="2100" dirty="0"/>
              <a:t>SOAP</a:t>
            </a:r>
            <a:r>
              <a:rPr lang="zh-CN" altLang="en-US" sz="2100" dirty="0"/>
              <a:t> </a:t>
            </a:r>
            <a:r>
              <a:rPr lang="en-US" altLang="zh-CN" sz="2100" dirty="0"/>
              <a:t>WS</a:t>
            </a:r>
          </a:p>
          <a:p>
            <a:pPr lvl="1"/>
            <a:r>
              <a:rPr lang="en-US" altLang="zh-CN" sz="2100" dirty="0"/>
              <a:t>RESTful</a:t>
            </a:r>
            <a:r>
              <a:rPr lang="zh-CN" altLang="en-US" sz="2100" dirty="0"/>
              <a:t> </a:t>
            </a:r>
            <a:r>
              <a:rPr lang="en-US" altLang="zh-CN" sz="2100" dirty="0"/>
              <a:t>WS</a:t>
            </a:r>
          </a:p>
          <a:p>
            <a:endParaRPr lang="en-US" altLang="zh-CN" sz="2400" dirty="0"/>
          </a:p>
          <a:p>
            <a:r>
              <a:rPr lang="en-US" altLang="zh-CN" sz="2400" dirty="0"/>
              <a:t>Objectives</a:t>
            </a:r>
          </a:p>
          <a:p>
            <a:pPr lvl="1"/>
            <a:r>
              <a:rPr lang="zh-CN" altLang="en-US" sz="2100" dirty="0">
                <a:latin typeface="DengXian" panose="02010600030101010101" pitchFamily="2" charset="-122"/>
                <a:ea typeface="DengXian" panose="02010600030101010101" pitchFamily="2" charset="-122"/>
              </a:rPr>
              <a:t>能够根据业务需求，识别需要封装为</a:t>
            </a:r>
            <a:r>
              <a:rPr lang="en-US" altLang="zh-CN" sz="2100" dirty="0">
                <a:latin typeface="DengXian" panose="02010600030101010101" pitchFamily="2" charset="-122"/>
                <a:ea typeface="DengXian" panose="02010600030101010101" pitchFamily="2" charset="-122"/>
              </a:rPr>
              <a:t>Web</a:t>
            </a:r>
            <a:r>
              <a:rPr lang="zh-CN" altLang="en-US" sz="2100" dirty="0">
                <a:latin typeface="DengXian" panose="02010600030101010101" pitchFamily="2" charset="-122"/>
                <a:ea typeface="DengXian" panose="02010600030101010101" pitchFamily="2" charset="-122"/>
              </a:rPr>
              <a:t>服务的业务功能，并能够将其实现为</a:t>
            </a:r>
            <a:r>
              <a:rPr lang="en-US" altLang="zh-CN" sz="2100" dirty="0">
                <a:latin typeface="DengXian" panose="02010600030101010101" pitchFamily="2" charset="-122"/>
                <a:ea typeface="DengXian" panose="02010600030101010101" pitchFamily="2" charset="-122"/>
              </a:rPr>
              <a:t>Restful Web</a:t>
            </a:r>
            <a:r>
              <a:rPr lang="zh-CN" altLang="en-US" sz="2100" dirty="0">
                <a:latin typeface="DengXian" panose="02010600030101010101" pitchFamily="2" charset="-122"/>
                <a:ea typeface="DengXian" panose="02010600030101010101" pitchFamily="2" charset="-122"/>
              </a:rPr>
              <a:t>服务</a:t>
            </a:r>
          </a:p>
        </p:txBody>
      </p:sp>
    </p:spTree>
    <p:extLst>
      <p:ext uri="{BB962C8B-B14F-4D97-AF65-F5344CB8AC3E}">
        <p14:creationId xmlns:p14="http://schemas.microsoft.com/office/powerpoint/2010/main" val="183112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 Services Overview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Web Services </a:t>
            </a:r>
          </a:p>
          <a:p>
            <a:pPr lvl="1"/>
            <a:r>
              <a:rPr lang="en-US" altLang="zh-CN" dirty="0"/>
              <a:t>present the opportunity for real interoperability across hardware, operating systems, programming languages, and applications. </a:t>
            </a:r>
          </a:p>
          <a:p>
            <a:endParaRPr lang="en-US" altLang="zh-CN" dirty="0"/>
          </a:p>
          <a:p>
            <a:r>
              <a:rPr lang="en-US" altLang="zh-CN" dirty="0"/>
              <a:t>Web</a:t>
            </a:r>
          </a:p>
          <a:p>
            <a:pPr lvl="1"/>
            <a:r>
              <a:rPr lang="en-US" altLang="zh-CN" dirty="0"/>
              <a:t>Access with web protocols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Services</a:t>
            </a:r>
          </a:p>
          <a:p>
            <a:pPr lvl="1"/>
            <a:r>
              <a:rPr lang="en-US" altLang="zh-CN" dirty="0"/>
              <a:t>Independent of the implementation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371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SOAP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sz="1500" dirty="0"/>
              <a:t>SOAP is defined by its own XML Schema and relies heavily on the use of XML Namespaces. </a:t>
            </a:r>
          </a:p>
          <a:p>
            <a:pPr lvl="1">
              <a:defRPr/>
            </a:pPr>
            <a:r>
              <a:rPr lang="en-US" altLang="zh-CN" sz="1350" dirty="0"/>
              <a:t>Here's a SOAP request message that might be sent from a client to a server:</a:t>
            </a:r>
          </a:p>
          <a:p>
            <a:pPr marL="0" indent="0">
              <a:buNone/>
              <a:defRPr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&lt;?xml version='1.0' encoding='UTF-8' ?&gt;</a:t>
            </a:r>
          </a:p>
          <a:p>
            <a:pPr marL="0" indent="0">
              <a:buNone/>
              <a:defRPr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&lt;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env:Envelope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  <a:defRPr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xmlns:env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="http://schemas.xmlsoap.org/soap/envelope/"&gt; </a:t>
            </a:r>
          </a:p>
          <a:p>
            <a:pPr marL="0" indent="0">
              <a:buNone/>
              <a:defRPr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&lt;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env:Header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/&gt; </a:t>
            </a:r>
          </a:p>
          <a:p>
            <a:pPr marL="0" indent="0">
              <a:buNone/>
              <a:defRPr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&lt;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env:Body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  <a:defRPr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&lt;reservation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="http://www.titan.com/Reservation"&gt;</a:t>
            </a:r>
          </a:p>
          <a:p>
            <a:pPr marL="0" indent="0">
              <a:buNone/>
              <a:defRPr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&lt;customer&gt; </a:t>
            </a:r>
          </a:p>
          <a:p>
            <a:pPr marL="0" indent="0">
              <a:buNone/>
              <a:defRPr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&lt;!-- customer info goes here --&gt; </a:t>
            </a:r>
          </a:p>
          <a:p>
            <a:pPr marL="0" indent="0">
              <a:buNone/>
              <a:defRPr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&lt;/customer&gt;</a:t>
            </a:r>
          </a:p>
          <a:p>
            <a:pPr marL="0" indent="0">
              <a:buNone/>
              <a:defRPr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&lt;/reservation&gt;</a:t>
            </a:r>
          </a:p>
          <a:p>
            <a:pPr marL="0" indent="0">
              <a:buNone/>
              <a:defRPr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&lt;/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env:Body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</a:p>
          <a:p>
            <a:pPr marL="0" indent="0">
              <a:buNone/>
              <a:defRPr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&lt;/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env:Envelope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993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WSDL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dirty="0"/>
              <a:t>Imagine that you want to develop a web services component that implements the following interface:</a:t>
            </a:r>
          </a:p>
          <a:p>
            <a:pPr>
              <a:lnSpc>
                <a:spcPct val="80000"/>
              </a:lnSpc>
              <a:defRPr/>
            </a:pPr>
            <a:endParaRPr lang="en-US" altLang="zh-CN" sz="1650" dirty="0"/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interface 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TravelAgent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public String 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makeReservation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cruiseID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cabinID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customerId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double price); 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746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WSDL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altLang="zh-CN" sz="1650" dirty="0"/>
              <a:t>A WSDL document that describes the 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makeReservation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) </a:t>
            </a:r>
            <a:r>
              <a:rPr lang="en-US" altLang="zh-CN" sz="1650" dirty="0"/>
              <a:t>method might look like this: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/>
              <a:t>       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&lt;?xml version="1.0"?&gt;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&lt;definitions name="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TravelAgent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="http://schemas.xmlsoap.org/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wsdl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/"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xmlns:soap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="http://schemas.xmlsoap.org/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wsdl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/soap/"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xmlns:xsd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="http://www.w3.org/2001/XMLSchema"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xmlns:titan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="http://www.titan.com/TravelAgent"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targetNamespace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="http://www.titan.com/TravelAgent"&gt;       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&lt;!-- message elements describe the parameters and return values --&gt;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&lt;message name="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RequestMessage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&lt;part name="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cruiseId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type="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xsd:int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/&gt;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&lt;part name="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cabinId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type="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xsd:int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/&gt;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&lt;part name="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customerId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type="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xsd:int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/&gt;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&lt;part name="price" type="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xsd:double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/&gt;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&lt;/message&gt;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&lt;message name="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ResponseMessage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&lt;part name="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reservationId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type="</a:t>
            </a:r>
            <a:r>
              <a:rPr lang="en-US" altLang="zh-CN" sz="16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xsd:string</a:t>
            </a: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/&gt;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16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&lt;/message&gt;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2029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WSDL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&lt;!--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portType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element describes the abstract interface of a web service --&gt;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portType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name="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TravelAgent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&lt;operation name="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makeReservation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&lt;input message="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titan:RequestMessage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"/&gt;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&lt;output message="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titan:ResponseMessage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"/&gt;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&lt;/operation&gt;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portType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&lt;!--binding element tells us which protocols and encoding styles are used --&gt;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&lt;binding name="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TravelAgentBinding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type="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titan:TravelAgent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soap:binding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style="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rpc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 transport="http://schemas.xmlsoap.org/soap/http"/&gt;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&lt;operation name="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makeReservation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soap:operation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soapAction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="" /&gt;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&lt;input&gt;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soap:body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use="literal" namespace="http://www.titan.com/TravelAgent"/&gt;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&lt;/input&gt;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&lt;output&gt;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soap:body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use="literal" namespace="http://www.titan.com/TravelAgent"/&gt;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&lt;/output&gt;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&lt;/operation&gt;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&lt;/binding&gt;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784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WSDL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zh-CN" sz="1350" dirty="0">
                <a:solidFill>
                  <a:schemeClr val="tx2"/>
                </a:solidFill>
              </a:rPr>
              <a:t>       &lt;!-- service element tells us the Internet address of a web service --&gt; </a:t>
            </a:r>
          </a:p>
          <a:p>
            <a:pPr marL="0" indent="0">
              <a:buNone/>
              <a:defRPr/>
            </a:pPr>
            <a:r>
              <a:rPr lang="en-US" altLang="zh-CN" sz="1350" dirty="0">
                <a:solidFill>
                  <a:schemeClr val="tx2"/>
                </a:solidFill>
              </a:rPr>
              <a:t>       &lt;service name="</a:t>
            </a:r>
            <a:r>
              <a:rPr lang="en-US" altLang="zh-CN" sz="1350" dirty="0" err="1">
                <a:solidFill>
                  <a:schemeClr val="tx2"/>
                </a:solidFill>
              </a:rPr>
              <a:t>TravelAgentService</a:t>
            </a:r>
            <a:r>
              <a:rPr lang="en-US" altLang="zh-CN" sz="1350" dirty="0">
                <a:solidFill>
                  <a:schemeClr val="tx2"/>
                </a:solidFill>
              </a:rPr>
              <a:t>"&gt;</a:t>
            </a:r>
          </a:p>
          <a:p>
            <a:pPr marL="0" indent="0">
              <a:buNone/>
              <a:defRPr/>
            </a:pPr>
            <a:r>
              <a:rPr lang="en-US" altLang="zh-CN" sz="1350" dirty="0">
                <a:solidFill>
                  <a:schemeClr val="tx2"/>
                </a:solidFill>
              </a:rPr>
              <a:t>           &lt;port name="</a:t>
            </a:r>
            <a:r>
              <a:rPr lang="en-US" altLang="zh-CN" sz="1350" dirty="0" err="1">
                <a:solidFill>
                  <a:schemeClr val="tx2"/>
                </a:solidFill>
              </a:rPr>
              <a:t>TravelAgentPort</a:t>
            </a:r>
            <a:r>
              <a:rPr lang="en-US" altLang="zh-CN" sz="1350" dirty="0">
                <a:solidFill>
                  <a:schemeClr val="tx2"/>
                </a:solidFill>
              </a:rPr>
              <a:t>" binding="</a:t>
            </a:r>
            <a:r>
              <a:rPr lang="en-US" altLang="zh-CN" sz="1350" dirty="0" err="1">
                <a:solidFill>
                  <a:schemeClr val="tx2"/>
                </a:solidFill>
              </a:rPr>
              <a:t>titan:TravelAgentBinding</a:t>
            </a:r>
            <a:r>
              <a:rPr lang="en-US" altLang="zh-CN" sz="1350" dirty="0">
                <a:solidFill>
                  <a:schemeClr val="tx2"/>
                </a:solidFill>
              </a:rPr>
              <a:t>"&gt; </a:t>
            </a:r>
          </a:p>
          <a:p>
            <a:pPr marL="0" indent="0">
              <a:buNone/>
              <a:defRPr/>
            </a:pPr>
            <a:r>
              <a:rPr lang="en-US" altLang="zh-CN" sz="1350" dirty="0">
                <a:solidFill>
                  <a:schemeClr val="tx2"/>
                </a:solidFill>
              </a:rPr>
              <a:t>               &lt;</a:t>
            </a:r>
            <a:r>
              <a:rPr lang="en-US" altLang="zh-CN" sz="1350" dirty="0" err="1">
                <a:solidFill>
                  <a:schemeClr val="tx2"/>
                </a:solidFill>
              </a:rPr>
              <a:t>soap:address</a:t>
            </a:r>
            <a:r>
              <a:rPr lang="en-US" altLang="zh-CN" sz="1350" dirty="0">
                <a:solidFill>
                  <a:schemeClr val="tx2"/>
                </a:solidFill>
              </a:rPr>
              <a:t> location="http://www.titan.com/webservices/TravelAgent" /&gt; </a:t>
            </a:r>
          </a:p>
          <a:p>
            <a:pPr marL="0" indent="0">
              <a:buNone/>
              <a:defRPr/>
            </a:pPr>
            <a:r>
              <a:rPr lang="en-US" altLang="zh-CN" sz="1350" dirty="0">
                <a:solidFill>
                  <a:schemeClr val="tx2"/>
                </a:solidFill>
              </a:rPr>
              <a:t>           &lt;/port&gt; </a:t>
            </a:r>
          </a:p>
          <a:p>
            <a:pPr marL="0" indent="0">
              <a:buNone/>
              <a:defRPr/>
            </a:pPr>
            <a:r>
              <a:rPr lang="en-US" altLang="zh-CN" sz="1350" dirty="0">
                <a:solidFill>
                  <a:schemeClr val="tx2"/>
                </a:solidFill>
              </a:rPr>
              <a:t>       &lt;/service&gt; </a:t>
            </a:r>
          </a:p>
          <a:p>
            <a:pPr marL="0" indent="0">
              <a:buNone/>
              <a:defRPr/>
            </a:pPr>
            <a:r>
              <a:rPr lang="en-US" altLang="zh-CN" sz="1350" dirty="0">
                <a:solidFill>
                  <a:schemeClr val="tx2"/>
                </a:solidFill>
              </a:rPr>
              <a:t>   &lt;/definitions&gt;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726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Accessing Web Service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235" y="1834895"/>
            <a:ext cx="5073254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762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FA6AC-9219-7A48-A7D6-11C58C290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SOAP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54A54F-6403-F643-A743-C5F0119E6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pom.xml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71D1D9-1E8C-264A-BF8B-E06703776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210ABB-1CD3-CD41-B23D-231D4DCFB65F}"/>
              </a:ext>
            </a:extLst>
          </p:cNvPr>
          <p:cNvSpPr/>
          <p:nvPr/>
        </p:nvSpPr>
        <p:spPr>
          <a:xfrm>
            <a:off x="1439652" y="845073"/>
            <a:ext cx="637270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" altLang="zh-CN" sz="1350" dirty="0">
                <a:solidFill>
                  <a:srgbClr val="E8BF6A"/>
                </a:solidFill>
              </a:rPr>
            </a:b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&lt;dependencies&gt;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&lt;dependency&gt;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E8BF6A"/>
                </a:solidFill>
              </a:rPr>
              <a:t>groupId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r>
              <a:rPr lang="en" altLang="zh-CN" sz="1350" dirty="0" err="1"/>
              <a:t>org.springframework.boot</a:t>
            </a:r>
            <a:r>
              <a:rPr lang="en" altLang="zh-CN" sz="1350" dirty="0">
                <a:solidFill>
                  <a:srgbClr val="E8BF6A"/>
                </a:solidFill>
              </a:rPr>
              <a:t>&lt;/</a:t>
            </a:r>
            <a:r>
              <a:rPr lang="en" altLang="zh-CN" sz="1350" dirty="0" err="1">
                <a:solidFill>
                  <a:srgbClr val="E8BF6A"/>
                </a:solidFill>
              </a:rPr>
              <a:t>groupId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E8BF6A"/>
                </a:solidFill>
              </a:rPr>
              <a:t>artifactId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r>
              <a:rPr lang="en" altLang="zh-CN" sz="1350" dirty="0"/>
              <a:t>spring-boot-starter-web</a:t>
            </a:r>
            <a:r>
              <a:rPr lang="en" altLang="zh-CN" sz="1350" dirty="0">
                <a:solidFill>
                  <a:srgbClr val="E8BF6A"/>
                </a:solidFill>
              </a:rPr>
              <a:t>&lt;/</a:t>
            </a:r>
            <a:r>
              <a:rPr lang="en" altLang="zh-CN" sz="1350" dirty="0" err="1">
                <a:solidFill>
                  <a:srgbClr val="E8BF6A"/>
                </a:solidFill>
              </a:rPr>
              <a:t>artifactId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&lt;/dependency&gt;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&lt;dependency&gt;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E8BF6A"/>
                </a:solidFill>
              </a:rPr>
              <a:t>groupId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r>
              <a:rPr lang="en" altLang="zh-CN" sz="1350" dirty="0" err="1"/>
              <a:t>org.springframework.boot</a:t>
            </a:r>
            <a:r>
              <a:rPr lang="en" altLang="zh-CN" sz="1350" dirty="0">
                <a:solidFill>
                  <a:srgbClr val="E8BF6A"/>
                </a:solidFill>
              </a:rPr>
              <a:t>&lt;/</a:t>
            </a:r>
            <a:r>
              <a:rPr lang="en" altLang="zh-CN" sz="1350" dirty="0" err="1">
                <a:solidFill>
                  <a:srgbClr val="E8BF6A"/>
                </a:solidFill>
              </a:rPr>
              <a:t>groupId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E8BF6A"/>
                </a:solidFill>
              </a:rPr>
              <a:t>artifactId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r>
              <a:rPr lang="en" altLang="zh-CN" sz="1350" dirty="0"/>
              <a:t>spring-boot-starter-web-services</a:t>
            </a:r>
            <a:r>
              <a:rPr lang="en" altLang="zh-CN" sz="1350" dirty="0">
                <a:solidFill>
                  <a:srgbClr val="E8BF6A"/>
                </a:solidFill>
              </a:rPr>
              <a:t>&lt;/</a:t>
            </a:r>
            <a:r>
              <a:rPr lang="en" altLang="zh-CN" sz="1350" dirty="0" err="1">
                <a:solidFill>
                  <a:srgbClr val="E8BF6A"/>
                </a:solidFill>
              </a:rPr>
              <a:t>artifactId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&lt;/dependency&gt;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</a:t>
            </a:r>
            <a:r>
              <a:rPr lang="en" altLang="zh-CN" sz="1350" dirty="0">
                <a:solidFill>
                  <a:srgbClr val="808080"/>
                </a:solidFill>
              </a:rPr>
              <a:t>&lt;!-- tag::</a:t>
            </a:r>
            <a:r>
              <a:rPr lang="en" altLang="zh-CN" sz="1350" dirty="0" err="1">
                <a:solidFill>
                  <a:srgbClr val="808080"/>
                </a:solidFill>
              </a:rPr>
              <a:t>springws</a:t>
            </a:r>
            <a:r>
              <a:rPr lang="en" altLang="zh-CN" sz="1350" dirty="0">
                <a:solidFill>
                  <a:srgbClr val="808080"/>
                </a:solidFill>
              </a:rPr>
              <a:t>[] --&gt;</a:t>
            </a:r>
            <a:br>
              <a:rPr lang="en" altLang="zh-CN" sz="1350" dirty="0">
                <a:solidFill>
                  <a:srgbClr val="808080"/>
                </a:solidFill>
              </a:rPr>
            </a:br>
            <a:r>
              <a:rPr lang="en" altLang="zh-CN" sz="1350" dirty="0">
                <a:solidFill>
                  <a:srgbClr val="808080"/>
                </a:solidFill>
              </a:rPr>
              <a:t>        </a:t>
            </a:r>
            <a:r>
              <a:rPr lang="en" altLang="zh-CN" sz="1350" dirty="0">
                <a:solidFill>
                  <a:srgbClr val="E8BF6A"/>
                </a:solidFill>
              </a:rPr>
              <a:t>&lt;dependency&gt;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E8BF6A"/>
                </a:solidFill>
              </a:rPr>
              <a:t>groupId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r>
              <a:rPr lang="en" altLang="zh-CN" sz="1350" dirty="0"/>
              <a:t>wsdl4j</a:t>
            </a:r>
            <a:r>
              <a:rPr lang="en" altLang="zh-CN" sz="1350" dirty="0">
                <a:solidFill>
                  <a:srgbClr val="E8BF6A"/>
                </a:solidFill>
              </a:rPr>
              <a:t>&lt;/</a:t>
            </a:r>
            <a:r>
              <a:rPr lang="en" altLang="zh-CN" sz="1350" dirty="0" err="1">
                <a:solidFill>
                  <a:srgbClr val="E8BF6A"/>
                </a:solidFill>
              </a:rPr>
              <a:t>groupId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E8BF6A"/>
                </a:solidFill>
              </a:rPr>
              <a:t>artifactId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r>
              <a:rPr lang="en" altLang="zh-CN" sz="1350" dirty="0"/>
              <a:t>wsdl4j</a:t>
            </a:r>
            <a:r>
              <a:rPr lang="en" altLang="zh-CN" sz="1350" dirty="0">
                <a:solidFill>
                  <a:srgbClr val="E8BF6A"/>
                </a:solidFill>
              </a:rPr>
              <a:t>&lt;/</a:t>
            </a:r>
            <a:r>
              <a:rPr lang="en" altLang="zh-CN" sz="1350" dirty="0" err="1">
                <a:solidFill>
                  <a:srgbClr val="E8BF6A"/>
                </a:solidFill>
              </a:rPr>
              <a:t>artifactId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&lt;/dependency&gt;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</a:t>
            </a:r>
            <a:r>
              <a:rPr lang="en" altLang="zh-CN" sz="1350" dirty="0">
                <a:solidFill>
                  <a:srgbClr val="808080"/>
                </a:solidFill>
              </a:rPr>
              <a:t>&lt;!-- end::</a:t>
            </a:r>
            <a:r>
              <a:rPr lang="en" altLang="zh-CN" sz="1350" dirty="0" err="1">
                <a:solidFill>
                  <a:srgbClr val="808080"/>
                </a:solidFill>
              </a:rPr>
              <a:t>springws</a:t>
            </a:r>
            <a:r>
              <a:rPr lang="en" altLang="zh-CN" sz="1350" dirty="0">
                <a:solidFill>
                  <a:srgbClr val="808080"/>
                </a:solidFill>
              </a:rPr>
              <a:t>[] --&gt;</a:t>
            </a:r>
            <a:br>
              <a:rPr lang="en" altLang="zh-CN" sz="1350" dirty="0">
                <a:solidFill>
                  <a:srgbClr val="808080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&lt;/dependencies&gt;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</a:t>
            </a:r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4919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FA6AC-9219-7A48-A7D6-11C58C290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SOAP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54A54F-6403-F643-A743-C5F0119E6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pom.xml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71D1D9-1E8C-264A-BF8B-E06703776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210ABB-1CD3-CD41-B23D-231D4DCFB65F}"/>
              </a:ext>
            </a:extLst>
          </p:cNvPr>
          <p:cNvSpPr/>
          <p:nvPr/>
        </p:nvSpPr>
        <p:spPr>
          <a:xfrm>
            <a:off x="1475656" y="627534"/>
            <a:ext cx="637270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" altLang="zh-CN" sz="1200" dirty="0">
                <a:solidFill>
                  <a:srgbClr val="E8BF6A"/>
                </a:solidFill>
              </a:rPr>
            </a:b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</a:t>
            </a:r>
            <a:r>
              <a:rPr lang="en" altLang="zh-CN" sz="1200" dirty="0">
                <a:solidFill>
                  <a:srgbClr val="808080"/>
                </a:solidFill>
              </a:rPr>
              <a:t>&lt;!-- tag::</a:t>
            </a:r>
            <a:r>
              <a:rPr lang="en" altLang="zh-CN" sz="1200" dirty="0" err="1">
                <a:solidFill>
                  <a:srgbClr val="808080"/>
                </a:solidFill>
              </a:rPr>
              <a:t>xsd</a:t>
            </a:r>
            <a:r>
              <a:rPr lang="en" altLang="zh-CN" sz="1200" dirty="0">
                <a:solidFill>
                  <a:srgbClr val="808080"/>
                </a:solidFill>
              </a:rPr>
              <a:t>[] --&gt;</a:t>
            </a:r>
            <a:br>
              <a:rPr lang="en" altLang="zh-CN" sz="1200" dirty="0">
                <a:solidFill>
                  <a:srgbClr val="808080"/>
                </a:solidFill>
              </a:rPr>
            </a:br>
            <a:r>
              <a:rPr lang="en" altLang="zh-CN" sz="1200" dirty="0">
                <a:solidFill>
                  <a:srgbClr val="808080"/>
                </a:solidFill>
              </a:rPr>
              <a:t>            </a:t>
            </a:r>
            <a:r>
              <a:rPr lang="en" altLang="zh-CN" sz="1200" dirty="0">
                <a:solidFill>
                  <a:srgbClr val="E8BF6A"/>
                </a:solidFill>
              </a:rPr>
              <a:t>&lt;plugin&gt;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&lt;</a:t>
            </a:r>
            <a:r>
              <a:rPr lang="en" altLang="zh-CN" sz="1200" dirty="0" err="1">
                <a:solidFill>
                  <a:srgbClr val="E8BF6A"/>
                </a:solidFill>
              </a:rPr>
              <a:t>groupId</a:t>
            </a:r>
            <a:r>
              <a:rPr lang="en" altLang="zh-CN" sz="1200" dirty="0">
                <a:solidFill>
                  <a:srgbClr val="E8BF6A"/>
                </a:solidFill>
              </a:rPr>
              <a:t>&gt;</a:t>
            </a:r>
            <a:r>
              <a:rPr lang="en" altLang="zh-CN" sz="1200" dirty="0" err="1"/>
              <a:t>org.codehaus.mojo</a:t>
            </a:r>
            <a:r>
              <a:rPr lang="en" altLang="zh-CN" sz="1200" dirty="0">
                <a:solidFill>
                  <a:srgbClr val="E8BF6A"/>
                </a:solidFill>
              </a:rPr>
              <a:t>&lt;/</a:t>
            </a:r>
            <a:r>
              <a:rPr lang="en" altLang="zh-CN" sz="1200" dirty="0" err="1">
                <a:solidFill>
                  <a:srgbClr val="E8BF6A"/>
                </a:solidFill>
              </a:rPr>
              <a:t>groupId</a:t>
            </a:r>
            <a:r>
              <a:rPr lang="en" altLang="zh-CN" sz="1200" dirty="0">
                <a:solidFill>
                  <a:srgbClr val="E8BF6A"/>
                </a:solidFill>
              </a:rPr>
              <a:t>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&lt;</a:t>
            </a:r>
            <a:r>
              <a:rPr lang="en" altLang="zh-CN" sz="1200" dirty="0" err="1">
                <a:solidFill>
                  <a:srgbClr val="E8BF6A"/>
                </a:solidFill>
              </a:rPr>
              <a:t>artifactId</a:t>
            </a:r>
            <a:r>
              <a:rPr lang="en" altLang="zh-CN" sz="1200" dirty="0">
                <a:solidFill>
                  <a:srgbClr val="E8BF6A"/>
                </a:solidFill>
              </a:rPr>
              <a:t>&gt;</a:t>
            </a:r>
            <a:r>
              <a:rPr lang="en" altLang="zh-CN" sz="1200" dirty="0"/>
              <a:t>jaxb2-maven-plugin</a:t>
            </a:r>
            <a:r>
              <a:rPr lang="en" altLang="zh-CN" sz="1200" dirty="0">
                <a:solidFill>
                  <a:srgbClr val="E8BF6A"/>
                </a:solidFill>
              </a:rPr>
              <a:t>&lt;/</a:t>
            </a:r>
            <a:r>
              <a:rPr lang="en" altLang="zh-CN" sz="1200" dirty="0" err="1">
                <a:solidFill>
                  <a:srgbClr val="E8BF6A"/>
                </a:solidFill>
              </a:rPr>
              <a:t>artifactId</a:t>
            </a:r>
            <a:r>
              <a:rPr lang="en" altLang="zh-CN" sz="1200" dirty="0">
                <a:solidFill>
                  <a:srgbClr val="E8BF6A"/>
                </a:solidFill>
              </a:rPr>
              <a:t>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&lt;version&gt;</a:t>
            </a:r>
            <a:r>
              <a:rPr lang="en" altLang="zh-CN" sz="1200" dirty="0"/>
              <a:t>2.5.0</a:t>
            </a:r>
            <a:r>
              <a:rPr lang="en" altLang="zh-CN" sz="1200" dirty="0">
                <a:solidFill>
                  <a:srgbClr val="E8BF6A"/>
                </a:solidFill>
              </a:rPr>
              <a:t>&lt;/version&gt;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&lt;executions&gt;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    &lt;execution&gt;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        &lt;id&gt;</a:t>
            </a:r>
            <a:r>
              <a:rPr lang="en" altLang="zh-CN" sz="1200" dirty="0" err="1"/>
              <a:t>xjc</a:t>
            </a:r>
            <a:r>
              <a:rPr lang="en" altLang="zh-CN" sz="1200" dirty="0">
                <a:solidFill>
                  <a:srgbClr val="E8BF6A"/>
                </a:solidFill>
              </a:rPr>
              <a:t>&lt;/id&gt;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        &lt;goals&gt;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            &lt;goal&gt;</a:t>
            </a:r>
            <a:r>
              <a:rPr lang="en" altLang="zh-CN" sz="1200" dirty="0" err="1"/>
              <a:t>xjc</a:t>
            </a:r>
            <a:r>
              <a:rPr lang="en" altLang="zh-CN" sz="1200" dirty="0">
                <a:solidFill>
                  <a:srgbClr val="E8BF6A"/>
                </a:solidFill>
              </a:rPr>
              <a:t>&lt;/goal&gt;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        &lt;/goals&gt;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    &lt;/execution&gt;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&lt;/executions&gt;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&lt;configuration&gt;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    &lt;sources&gt;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        &lt;source&gt;</a:t>
            </a:r>
            <a:r>
              <a:rPr lang="en" altLang="zh-CN" sz="1200" dirty="0"/>
              <a:t>${</a:t>
            </a:r>
            <a:r>
              <a:rPr lang="en" altLang="zh-CN" sz="1200" dirty="0" err="1"/>
              <a:t>project.basedir</a:t>
            </a:r>
            <a:r>
              <a:rPr lang="en" altLang="zh-CN" sz="1200" dirty="0"/>
              <a:t>}/</a:t>
            </a:r>
            <a:r>
              <a:rPr lang="en" altLang="zh-CN" sz="1200" dirty="0" err="1"/>
              <a:t>src</a:t>
            </a:r>
            <a:r>
              <a:rPr lang="en" altLang="zh-CN" sz="1200" dirty="0"/>
              <a:t>/main/resources/</a:t>
            </a:r>
            <a:r>
              <a:rPr lang="en" altLang="zh-CN" sz="1200" dirty="0" err="1"/>
              <a:t>countries.xsd</a:t>
            </a:r>
            <a:r>
              <a:rPr lang="en" altLang="zh-CN" sz="1200" dirty="0">
                <a:solidFill>
                  <a:srgbClr val="E8BF6A"/>
                </a:solidFill>
              </a:rPr>
              <a:t>&lt;/source&gt;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    &lt;/sources&gt;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    &lt;/configuration&gt;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&lt;/plugin&gt;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</a:t>
            </a:r>
            <a:r>
              <a:rPr lang="en" altLang="zh-CN" sz="1200" dirty="0">
                <a:solidFill>
                  <a:srgbClr val="808080"/>
                </a:solidFill>
              </a:rPr>
              <a:t>&lt;!-- end::</a:t>
            </a:r>
            <a:r>
              <a:rPr lang="en" altLang="zh-CN" sz="1200" dirty="0" err="1">
                <a:solidFill>
                  <a:srgbClr val="808080"/>
                </a:solidFill>
              </a:rPr>
              <a:t>xsd</a:t>
            </a:r>
            <a:r>
              <a:rPr lang="en" altLang="zh-CN" sz="1200" dirty="0">
                <a:solidFill>
                  <a:srgbClr val="808080"/>
                </a:solidFill>
              </a:rPr>
              <a:t>[] --&gt;</a:t>
            </a:r>
            <a:br>
              <a:rPr lang="en" altLang="zh-CN" sz="1200" dirty="0">
                <a:solidFill>
                  <a:srgbClr val="808080"/>
                </a:solidFill>
              </a:rPr>
            </a:br>
            <a:br>
              <a:rPr lang="en" altLang="zh-CN" sz="1200" dirty="0">
                <a:solidFill>
                  <a:srgbClr val="E8BF6A"/>
                </a:solidFill>
              </a:rPr>
            </a:br>
            <a:br>
              <a:rPr lang="en" altLang="zh-CN" sz="1200" dirty="0">
                <a:solidFill>
                  <a:srgbClr val="E8BF6A"/>
                </a:solidFill>
              </a:rPr>
            </a:b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5870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A1665-35A9-AD45-A337-3014FCAF2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SOAP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BD7661-7C56-8F4B-B7FC-A3B851373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countries.xsd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AA7B72-63DE-9444-9BA5-92231CE5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D3CCCC-BD62-174F-9ADE-D69A80303C8F}"/>
              </a:ext>
            </a:extLst>
          </p:cNvPr>
          <p:cNvSpPr/>
          <p:nvPr/>
        </p:nvSpPr>
        <p:spPr>
          <a:xfrm>
            <a:off x="1601670" y="1161641"/>
            <a:ext cx="5940660" cy="36240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350" dirty="0">
                <a:solidFill>
                  <a:srgbClr val="E8BF6A"/>
                </a:solidFill>
              </a:rPr>
              <a:t>    </a:t>
            </a:r>
            <a:r>
              <a:rPr lang="en" altLang="zh-CN" sz="1350" dirty="0">
                <a:solidFill>
                  <a:srgbClr val="E8BF6A"/>
                </a:solidFill>
              </a:rPr>
              <a:t>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:element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>
                <a:solidFill>
                  <a:srgbClr val="BABABA"/>
                </a:solidFill>
              </a:rPr>
              <a:t>name</a:t>
            </a:r>
            <a:r>
              <a:rPr lang="en" altLang="zh-CN" sz="1350" dirty="0">
                <a:solidFill>
                  <a:srgbClr val="6A8759"/>
                </a:solidFill>
              </a:rPr>
              <a:t>="</a:t>
            </a:r>
            <a:r>
              <a:rPr lang="en" altLang="zh-CN" sz="1350" dirty="0" err="1">
                <a:solidFill>
                  <a:srgbClr val="6A8759"/>
                </a:solidFill>
              </a:rPr>
              <a:t>getCountryRequest</a:t>
            </a:r>
            <a:r>
              <a:rPr lang="en" altLang="zh-CN" sz="1350" dirty="0">
                <a:solidFill>
                  <a:srgbClr val="6A8759"/>
                </a:solidFill>
              </a:rPr>
              <a:t>"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:complexType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:sequence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:element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>
                <a:solidFill>
                  <a:srgbClr val="BABABA"/>
                </a:solidFill>
              </a:rPr>
              <a:t>name</a:t>
            </a:r>
            <a:r>
              <a:rPr lang="en" altLang="zh-CN" sz="1350" dirty="0">
                <a:solidFill>
                  <a:srgbClr val="6A8759"/>
                </a:solidFill>
              </a:rPr>
              <a:t>="name" </a:t>
            </a:r>
            <a:r>
              <a:rPr lang="en" altLang="zh-CN" sz="1350" dirty="0">
                <a:solidFill>
                  <a:srgbClr val="BABABA"/>
                </a:solidFill>
              </a:rPr>
              <a:t>type</a:t>
            </a:r>
            <a:r>
              <a:rPr lang="en" altLang="zh-CN" sz="1350" dirty="0">
                <a:solidFill>
                  <a:srgbClr val="6A8759"/>
                </a:solidFill>
              </a:rPr>
              <a:t>="</a:t>
            </a:r>
            <a:r>
              <a:rPr lang="en" altLang="zh-CN" sz="1350" dirty="0" err="1">
                <a:solidFill>
                  <a:srgbClr val="6A8759"/>
                </a:solidFill>
              </a:rPr>
              <a:t>xs:string</a:t>
            </a:r>
            <a:r>
              <a:rPr lang="en" altLang="zh-CN" sz="1350" dirty="0">
                <a:solidFill>
                  <a:srgbClr val="6A8759"/>
                </a:solidFill>
              </a:rPr>
              <a:t>"</a:t>
            </a:r>
            <a:r>
              <a:rPr lang="en" altLang="zh-CN" sz="1350" dirty="0">
                <a:solidFill>
                  <a:srgbClr val="E8BF6A"/>
                </a:solidFill>
              </a:rPr>
              <a:t>/&gt;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&lt;/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:sequence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&lt;/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:complexType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&lt;/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:element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:element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>
                <a:solidFill>
                  <a:srgbClr val="BABABA"/>
                </a:solidFill>
              </a:rPr>
              <a:t>name</a:t>
            </a:r>
            <a:r>
              <a:rPr lang="en" altLang="zh-CN" sz="1350" dirty="0">
                <a:solidFill>
                  <a:srgbClr val="6A8759"/>
                </a:solidFill>
              </a:rPr>
              <a:t>="</a:t>
            </a:r>
            <a:r>
              <a:rPr lang="en" altLang="zh-CN" sz="1350" dirty="0" err="1">
                <a:solidFill>
                  <a:srgbClr val="6A8759"/>
                </a:solidFill>
              </a:rPr>
              <a:t>getCountryResponse</a:t>
            </a:r>
            <a:r>
              <a:rPr lang="en" altLang="zh-CN" sz="1350" dirty="0">
                <a:solidFill>
                  <a:srgbClr val="6A8759"/>
                </a:solidFill>
              </a:rPr>
              <a:t>"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:complexType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:sequence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:element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>
                <a:solidFill>
                  <a:srgbClr val="BABABA"/>
                </a:solidFill>
              </a:rPr>
              <a:t>name</a:t>
            </a:r>
            <a:r>
              <a:rPr lang="en" altLang="zh-CN" sz="1350" dirty="0">
                <a:solidFill>
                  <a:srgbClr val="6A8759"/>
                </a:solidFill>
              </a:rPr>
              <a:t>="country" </a:t>
            </a:r>
            <a:r>
              <a:rPr lang="en" altLang="zh-CN" sz="1350" dirty="0">
                <a:solidFill>
                  <a:srgbClr val="BABABA"/>
                </a:solidFill>
              </a:rPr>
              <a:t>type</a:t>
            </a:r>
            <a:r>
              <a:rPr lang="en" altLang="zh-CN" sz="1350" dirty="0">
                <a:solidFill>
                  <a:srgbClr val="6A8759"/>
                </a:solidFill>
              </a:rPr>
              <a:t>="</a:t>
            </a:r>
            <a:r>
              <a:rPr lang="en" altLang="zh-CN" sz="1350" dirty="0" err="1">
                <a:solidFill>
                  <a:srgbClr val="6A8759"/>
                </a:solidFill>
              </a:rPr>
              <a:t>tns:country</a:t>
            </a:r>
            <a:r>
              <a:rPr lang="en" altLang="zh-CN" sz="1350" dirty="0">
                <a:solidFill>
                  <a:srgbClr val="6A8759"/>
                </a:solidFill>
              </a:rPr>
              <a:t>"</a:t>
            </a:r>
            <a:r>
              <a:rPr lang="en" altLang="zh-CN" sz="1350" dirty="0">
                <a:solidFill>
                  <a:srgbClr val="E8BF6A"/>
                </a:solidFill>
              </a:rPr>
              <a:t>/&gt;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&lt;/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:sequence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&lt;/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:complexType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&lt;/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:element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br>
              <a:rPr lang="en" altLang="zh-CN" sz="1350" dirty="0">
                <a:solidFill>
                  <a:srgbClr val="E8BF6A"/>
                </a:solidFill>
              </a:rPr>
            </a:br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213237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A1665-35A9-AD45-A337-3014FCAF2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SOAP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BD7661-7C56-8F4B-B7FC-A3B851373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countries.xsd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AA7B72-63DE-9444-9BA5-92231CE5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D3CCCC-BD62-174F-9ADE-D69A80303C8F}"/>
              </a:ext>
            </a:extLst>
          </p:cNvPr>
          <p:cNvSpPr/>
          <p:nvPr/>
        </p:nvSpPr>
        <p:spPr>
          <a:xfrm>
            <a:off x="1601670" y="1161641"/>
            <a:ext cx="5940660" cy="36240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350" dirty="0">
                <a:solidFill>
                  <a:srgbClr val="E8BF6A"/>
                </a:solidFill>
              </a:rPr>
              <a:t>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:complexType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>
                <a:solidFill>
                  <a:srgbClr val="BABABA"/>
                </a:solidFill>
              </a:rPr>
              <a:t>name</a:t>
            </a:r>
            <a:r>
              <a:rPr lang="en" altLang="zh-CN" sz="1350" dirty="0">
                <a:solidFill>
                  <a:srgbClr val="6A8759"/>
                </a:solidFill>
              </a:rPr>
              <a:t>="country"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:sequence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:element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>
                <a:solidFill>
                  <a:srgbClr val="BABABA"/>
                </a:solidFill>
              </a:rPr>
              <a:t>name</a:t>
            </a:r>
            <a:r>
              <a:rPr lang="en" altLang="zh-CN" sz="1350" dirty="0">
                <a:solidFill>
                  <a:srgbClr val="6A8759"/>
                </a:solidFill>
              </a:rPr>
              <a:t>="name" </a:t>
            </a:r>
            <a:r>
              <a:rPr lang="en" altLang="zh-CN" sz="1350" dirty="0">
                <a:solidFill>
                  <a:srgbClr val="BABABA"/>
                </a:solidFill>
              </a:rPr>
              <a:t>type</a:t>
            </a:r>
            <a:r>
              <a:rPr lang="en" altLang="zh-CN" sz="1350" dirty="0">
                <a:solidFill>
                  <a:srgbClr val="6A8759"/>
                </a:solidFill>
              </a:rPr>
              <a:t>="</a:t>
            </a:r>
            <a:r>
              <a:rPr lang="en" altLang="zh-CN" sz="1350" dirty="0" err="1">
                <a:solidFill>
                  <a:srgbClr val="6A8759"/>
                </a:solidFill>
              </a:rPr>
              <a:t>xs:string</a:t>
            </a:r>
            <a:r>
              <a:rPr lang="en" altLang="zh-CN" sz="1350" dirty="0">
                <a:solidFill>
                  <a:srgbClr val="6A8759"/>
                </a:solidFill>
              </a:rPr>
              <a:t>"</a:t>
            </a:r>
            <a:r>
              <a:rPr lang="en" altLang="zh-CN" sz="1350" dirty="0">
                <a:solidFill>
                  <a:srgbClr val="E8BF6A"/>
                </a:solidFill>
              </a:rPr>
              <a:t>/&gt;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:element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>
                <a:solidFill>
                  <a:srgbClr val="BABABA"/>
                </a:solidFill>
              </a:rPr>
              <a:t>name</a:t>
            </a:r>
            <a:r>
              <a:rPr lang="en" altLang="zh-CN" sz="1350" dirty="0">
                <a:solidFill>
                  <a:srgbClr val="6A8759"/>
                </a:solidFill>
              </a:rPr>
              <a:t>="population" </a:t>
            </a:r>
            <a:r>
              <a:rPr lang="en" altLang="zh-CN" sz="1350" dirty="0">
                <a:solidFill>
                  <a:srgbClr val="BABABA"/>
                </a:solidFill>
              </a:rPr>
              <a:t>type</a:t>
            </a:r>
            <a:r>
              <a:rPr lang="en" altLang="zh-CN" sz="1350" dirty="0">
                <a:solidFill>
                  <a:srgbClr val="6A8759"/>
                </a:solidFill>
              </a:rPr>
              <a:t>="</a:t>
            </a:r>
            <a:r>
              <a:rPr lang="en" altLang="zh-CN" sz="1350" dirty="0" err="1">
                <a:solidFill>
                  <a:srgbClr val="6A8759"/>
                </a:solidFill>
              </a:rPr>
              <a:t>xs:int</a:t>
            </a:r>
            <a:r>
              <a:rPr lang="en" altLang="zh-CN" sz="1350" dirty="0">
                <a:solidFill>
                  <a:srgbClr val="6A8759"/>
                </a:solidFill>
              </a:rPr>
              <a:t>"</a:t>
            </a:r>
            <a:r>
              <a:rPr lang="en" altLang="zh-CN" sz="1350" dirty="0">
                <a:solidFill>
                  <a:srgbClr val="E8BF6A"/>
                </a:solidFill>
              </a:rPr>
              <a:t>/&gt;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:element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>
                <a:solidFill>
                  <a:srgbClr val="BABABA"/>
                </a:solidFill>
              </a:rPr>
              <a:t>name</a:t>
            </a:r>
            <a:r>
              <a:rPr lang="en" altLang="zh-CN" sz="1350" dirty="0">
                <a:solidFill>
                  <a:srgbClr val="6A8759"/>
                </a:solidFill>
              </a:rPr>
              <a:t>="capital" </a:t>
            </a:r>
            <a:r>
              <a:rPr lang="en" altLang="zh-CN" sz="1350" dirty="0">
                <a:solidFill>
                  <a:srgbClr val="BABABA"/>
                </a:solidFill>
              </a:rPr>
              <a:t>type</a:t>
            </a:r>
            <a:r>
              <a:rPr lang="en" altLang="zh-CN" sz="1350" dirty="0">
                <a:solidFill>
                  <a:srgbClr val="6A8759"/>
                </a:solidFill>
              </a:rPr>
              <a:t>="</a:t>
            </a:r>
            <a:r>
              <a:rPr lang="en" altLang="zh-CN" sz="1350" dirty="0" err="1">
                <a:solidFill>
                  <a:srgbClr val="6A8759"/>
                </a:solidFill>
              </a:rPr>
              <a:t>xs:string</a:t>
            </a:r>
            <a:r>
              <a:rPr lang="en" altLang="zh-CN" sz="1350" dirty="0">
                <a:solidFill>
                  <a:srgbClr val="6A8759"/>
                </a:solidFill>
              </a:rPr>
              <a:t>"</a:t>
            </a:r>
            <a:r>
              <a:rPr lang="en" altLang="zh-CN" sz="1350" dirty="0">
                <a:solidFill>
                  <a:srgbClr val="E8BF6A"/>
                </a:solidFill>
              </a:rPr>
              <a:t>/&gt;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:element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>
                <a:solidFill>
                  <a:srgbClr val="BABABA"/>
                </a:solidFill>
              </a:rPr>
              <a:t>name</a:t>
            </a:r>
            <a:r>
              <a:rPr lang="en" altLang="zh-CN" sz="1350" dirty="0">
                <a:solidFill>
                  <a:srgbClr val="6A8759"/>
                </a:solidFill>
              </a:rPr>
              <a:t>="currency" </a:t>
            </a:r>
            <a:r>
              <a:rPr lang="en" altLang="zh-CN" sz="1350" dirty="0">
                <a:solidFill>
                  <a:srgbClr val="BABABA"/>
                </a:solidFill>
              </a:rPr>
              <a:t>type</a:t>
            </a:r>
            <a:r>
              <a:rPr lang="en" altLang="zh-CN" sz="1350" dirty="0">
                <a:solidFill>
                  <a:srgbClr val="6A8759"/>
                </a:solidFill>
              </a:rPr>
              <a:t>="</a:t>
            </a:r>
            <a:r>
              <a:rPr lang="en" altLang="zh-CN" sz="1350" dirty="0" err="1">
                <a:solidFill>
                  <a:srgbClr val="6A8759"/>
                </a:solidFill>
              </a:rPr>
              <a:t>tns:currency</a:t>
            </a:r>
            <a:r>
              <a:rPr lang="en" altLang="zh-CN" sz="1350" dirty="0">
                <a:solidFill>
                  <a:srgbClr val="6A8759"/>
                </a:solidFill>
              </a:rPr>
              <a:t>"</a:t>
            </a:r>
            <a:r>
              <a:rPr lang="en" altLang="zh-CN" sz="1350" dirty="0">
                <a:solidFill>
                  <a:srgbClr val="E8BF6A"/>
                </a:solidFill>
              </a:rPr>
              <a:t>/&gt;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&lt;/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:sequence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&lt;/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:complexType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:simpleType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>
                <a:solidFill>
                  <a:srgbClr val="BABABA"/>
                </a:solidFill>
              </a:rPr>
              <a:t>name</a:t>
            </a:r>
            <a:r>
              <a:rPr lang="en" altLang="zh-CN" sz="1350" dirty="0">
                <a:solidFill>
                  <a:srgbClr val="6A8759"/>
                </a:solidFill>
              </a:rPr>
              <a:t>="currency"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:restriction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>
                <a:solidFill>
                  <a:srgbClr val="BABABA"/>
                </a:solidFill>
              </a:rPr>
              <a:t>base</a:t>
            </a:r>
            <a:r>
              <a:rPr lang="en" altLang="zh-CN" sz="1350" dirty="0">
                <a:solidFill>
                  <a:srgbClr val="6A8759"/>
                </a:solidFill>
              </a:rPr>
              <a:t>="</a:t>
            </a:r>
            <a:r>
              <a:rPr lang="en" altLang="zh-CN" sz="1350" dirty="0" err="1">
                <a:solidFill>
                  <a:srgbClr val="6A8759"/>
                </a:solidFill>
              </a:rPr>
              <a:t>xs:string</a:t>
            </a:r>
            <a:r>
              <a:rPr lang="en" altLang="zh-CN" sz="1350" dirty="0">
                <a:solidFill>
                  <a:srgbClr val="6A8759"/>
                </a:solidFill>
              </a:rPr>
              <a:t>"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:enumeration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>
                <a:solidFill>
                  <a:srgbClr val="BABABA"/>
                </a:solidFill>
              </a:rPr>
              <a:t>value</a:t>
            </a:r>
            <a:r>
              <a:rPr lang="en" altLang="zh-CN" sz="1350" dirty="0">
                <a:solidFill>
                  <a:srgbClr val="6A8759"/>
                </a:solidFill>
              </a:rPr>
              <a:t>="GBP"</a:t>
            </a:r>
            <a:r>
              <a:rPr lang="en" altLang="zh-CN" sz="1350" dirty="0">
                <a:solidFill>
                  <a:srgbClr val="E8BF6A"/>
                </a:solidFill>
              </a:rPr>
              <a:t>/&gt;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:enumeration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>
                <a:solidFill>
                  <a:srgbClr val="BABABA"/>
                </a:solidFill>
              </a:rPr>
              <a:t>value</a:t>
            </a:r>
            <a:r>
              <a:rPr lang="en" altLang="zh-CN" sz="1350" dirty="0">
                <a:solidFill>
                  <a:srgbClr val="6A8759"/>
                </a:solidFill>
              </a:rPr>
              <a:t>="EUR"</a:t>
            </a:r>
            <a:r>
              <a:rPr lang="en" altLang="zh-CN" sz="1350" dirty="0">
                <a:solidFill>
                  <a:srgbClr val="E8BF6A"/>
                </a:solidFill>
              </a:rPr>
              <a:t>/&gt;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:enumeration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>
                <a:solidFill>
                  <a:srgbClr val="BABABA"/>
                </a:solidFill>
              </a:rPr>
              <a:t>value</a:t>
            </a:r>
            <a:r>
              <a:rPr lang="en" altLang="zh-CN" sz="1350" dirty="0">
                <a:solidFill>
                  <a:srgbClr val="6A8759"/>
                </a:solidFill>
              </a:rPr>
              <a:t>="PLN"</a:t>
            </a:r>
            <a:r>
              <a:rPr lang="en" altLang="zh-CN" sz="1350" dirty="0">
                <a:solidFill>
                  <a:srgbClr val="E8BF6A"/>
                </a:solidFill>
              </a:rPr>
              <a:t>/&gt;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&lt;/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:restriction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&lt;/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:simpleType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&lt;/</a:t>
            </a:r>
            <a:r>
              <a:rPr lang="en" altLang="zh-CN" sz="1350" dirty="0" err="1">
                <a:solidFill>
                  <a:srgbClr val="9876AA"/>
                </a:solidFill>
              </a:rPr>
              <a:t>xs</a:t>
            </a:r>
            <a:r>
              <a:rPr lang="en" altLang="zh-CN" sz="1350" dirty="0" err="1">
                <a:solidFill>
                  <a:srgbClr val="E8BF6A"/>
                </a:solidFill>
              </a:rPr>
              <a:t>:schema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43548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A1665-35A9-AD45-A337-3014FCAF2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SOAP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BD7661-7C56-8F4B-B7FC-A3B851373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sz="1500" dirty="0" err="1"/>
              <a:t>CountryRepository</a:t>
            </a:r>
            <a:r>
              <a:rPr lang="en-US" altLang="zh-CN" sz="1500" dirty="0"/>
              <a:t>.java</a:t>
            </a:r>
            <a:endParaRPr kumimoji="1" lang="zh-CN" altLang="en-US" sz="15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AA7B72-63DE-9444-9BA5-92231CE5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1A7FA6-C3CF-4C49-A807-F68FCBB436CB}"/>
              </a:ext>
            </a:extLst>
          </p:cNvPr>
          <p:cNvSpPr/>
          <p:nvPr/>
        </p:nvSpPr>
        <p:spPr>
          <a:xfrm>
            <a:off x="2699792" y="868800"/>
            <a:ext cx="610267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200" dirty="0">
                <a:solidFill>
                  <a:srgbClr val="CC7832"/>
                </a:solidFill>
              </a:rPr>
              <a:t>import </a:t>
            </a:r>
            <a:r>
              <a:rPr lang="en" altLang="zh-CN" sz="1200" dirty="0" err="1"/>
              <a:t>io.spring.guides.gs_producing_web_service.Country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import </a:t>
            </a:r>
            <a:r>
              <a:rPr lang="en" altLang="zh-CN" sz="1200" dirty="0" err="1"/>
              <a:t>io.spring.guides.gs_producing_web_service.Currency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BBB529"/>
                </a:solidFill>
              </a:rPr>
              <a:t>@Component</a:t>
            </a:r>
            <a:br>
              <a:rPr lang="en" altLang="zh-CN" sz="1200" dirty="0">
                <a:solidFill>
                  <a:srgbClr val="BBB529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public class </a:t>
            </a:r>
            <a:r>
              <a:rPr lang="en" altLang="zh-CN" sz="1200" dirty="0" err="1"/>
              <a:t>CountryRepository</a:t>
            </a:r>
            <a:r>
              <a:rPr lang="en" altLang="zh-CN" sz="1200" dirty="0"/>
              <a:t> {</a:t>
            </a:r>
            <a:br>
              <a:rPr lang="en" altLang="zh-CN" sz="1200" dirty="0"/>
            </a:br>
            <a:r>
              <a:rPr lang="en" altLang="zh-CN" sz="1200" dirty="0"/>
              <a:t>   </a:t>
            </a:r>
            <a:r>
              <a:rPr lang="en" altLang="zh-CN" sz="1200" dirty="0">
                <a:solidFill>
                  <a:srgbClr val="CC7832"/>
                </a:solidFill>
              </a:rPr>
              <a:t>private static final </a:t>
            </a:r>
            <a:r>
              <a:rPr lang="en" altLang="zh-CN" sz="1200" dirty="0"/>
              <a:t>Map&lt;String</a:t>
            </a:r>
            <a:r>
              <a:rPr lang="en" altLang="zh-CN" sz="1200" dirty="0">
                <a:solidFill>
                  <a:srgbClr val="CC7832"/>
                </a:solidFill>
              </a:rPr>
              <a:t>, </a:t>
            </a:r>
            <a:r>
              <a:rPr lang="en" altLang="zh-CN" sz="1200" dirty="0"/>
              <a:t>Country&gt; </a:t>
            </a:r>
            <a:r>
              <a:rPr lang="en" altLang="zh-CN" sz="1200" i="1" dirty="0">
                <a:solidFill>
                  <a:srgbClr val="9876AA"/>
                </a:solidFill>
              </a:rPr>
              <a:t>countries </a:t>
            </a:r>
            <a:r>
              <a:rPr lang="en" altLang="zh-CN" sz="1200" dirty="0"/>
              <a:t>= </a:t>
            </a:r>
            <a:r>
              <a:rPr lang="en" altLang="zh-CN" sz="1200" dirty="0">
                <a:solidFill>
                  <a:srgbClr val="CC7832"/>
                </a:solidFill>
              </a:rPr>
              <a:t>new </a:t>
            </a:r>
            <a:r>
              <a:rPr lang="en" altLang="zh-CN" sz="1200" dirty="0"/>
              <a:t>HashMap&lt;&gt;()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</a:t>
            </a:r>
            <a:r>
              <a:rPr lang="en" altLang="zh-CN" sz="1200" dirty="0">
                <a:solidFill>
                  <a:srgbClr val="BBB529"/>
                </a:solidFill>
              </a:rPr>
              <a:t>@</a:t>
            </a:r>
            <a:r>
              <a:rPr lang="en" altLang="zh-CN" sz="1200" dirty="0" err="1">
                <a:solidFill>
                  <a:srgbClr val="BBB529"/>
                </a:solidFill>
              </a:rPr>
              <a:t>PostConstruct</a:t>
            </a:r>
            <a:br>
              <a:rPr lang="en" altLang="zh-CN" sz="1200" dirty="0">
                <a:solidFill>
                  <a:srgbClr val="BBB529"/>
                </a:solidFill>
              </a:rPr>
            </a:br>
            <a:r>
              <a:rPr lang="en" altLang="zh-CN" sz="1200" dirty="0">
                <a:solidFill>
                  <a:srgbClr val="BBB529"/>
                </a:solidFill>
              </a:rPr>
              <a:t>   </a:t>
            </a:r>
            <a:r>
              <a:rPr lang="en" altLang="zh-CN" sz="1200" dirty="0">
                <a:solidFill>
                  <a:srgbClr val="CC7832"/>
                </a:solidFill>
              </a:rPr>
              <a:t>public void </a:t>
            </a:r>
            <a:r>
              <a:rPr lang="en" altLang="zh-CN" sz="1200" dirty="0" err="1">
                <a:solidFill>
                  <a:srgbClr val="FFC66D"/>
                </a:solidFill>
              </a:rPr>
              <a:t>initData</a:t>
            </a:r>
            <a:r>
              <a:rPr lang="en" altLang="zh-CN" sz="1200" dirty="0"/>
              <a:t>() {</a:t>
            </a:r>
            <a:br>
              <a:rPr lang="en" altLang="zh-CN" sz="1200" dirty="0"/>
            </a:br>
            <a:r>
              <a:rPr lang="en" altLang="zh-CN" sz="1200" dirty="0"/>
              <a:t>      Country </a:t>
            </a:r>
            <a:r>
              <a:rPr lang="en" altLang="zh-CN" sz="1200" dirty="0" err="1"/>
              <a:t>spain</a:t>
            </a:r>
            <a:r>
              <a:rPr lang="en" altLang="zh-CN" sz="1200" dirty="0"/>
              <a:t> = </a:t>
            </a:r>
            <a:r>
              <a:rPr lang="en" altLang="zh-CN" sz="1200" dirty="0">
                <a:solidFill>
                  <a:srgbClr val="CC7832"/>
                </a:solidFill>
              </a:rPr>
              <a:t>new </a:t>
            </a:r>
            <a:r>
              <a:rPr lang="en" altLang="zh-CN" sz="1200" dirty="0"/>
              <a:t>Country()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spain.setName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A8759"/>
                </a:solidFill>
              </a:rPr>
              <a:t>"Spain"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spain.setCapital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A8759"/>
                </a:solidFill>
              </a:rPr>
              <a:t>"Madrid"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spain.setCurrency</a:t>
            </a:r>
            <a:r>
              <a:rPr lang="en" altLang="zh-CN" sz="1200" dirty="0"/>
              <a:t>(</a:t>
            </a:r>
            <a:r>
              <a:rPr lang="en" altLang="zh-CN" sz="1200" dirty="0" err="1"/>
              <a:t>Currency.</a:t>
            </a:r>
            <a:r>
              <a:rPr lang="en" altLang="zh-CN" sz="1200" i="1" dirty="0" err="1">
                <a:solidFill>
                  <a:srgbClr val="9876AA"/>
                </a:solidFill>
              </a:rPr>
              <a:t>EUR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spain.setPopulation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897BB"/>
                </a:solidFill>
              </a:rPr>
              <a:t>46704314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i="1" dirty="0" err="1">
                <a:solidFill>
                  <a:srgbClr val="9876AA"/>
                </a:solidFill>
              </a:rPr>
              <a:t>countries</a:t>
            </a:r>
            <a:r>
              <a:rPr lang="en" altLang="zh-CN" sz="1200" dirty="0" err="1"/>
              <a:t>.put</a:t>
            </a:r>
            <a:r>
              <a:rPr lang="en" altLang="zh-CN" sz="1200" dirty="0"/>
              <a:t>(</a:t>
            </a:r>
            <a:r>
              <a:rPr lang="en" altLang="zh-CN" sz="1200" dirty="0" err="1"/>
              <a:t>spain.getName</a:t>
            </a:r>
            <a:r>
              <a:rPr lang="en" altLang="zh-CN" sz="1200" dirty="0"/>
              <a:t>()</a:t>
            </a:r>
            <a:r>
              <a:rPr lang="en" altLang="zh-CN" sz="1200" dirty="0">
                <a:solidFill>
                  <a:srgbClr val="CC7832"/>
                </a:solidFill>
              </a:rPr>
              <a:t>, </a:t>
            </a:r>
            <a:r>
              <a:rPr lang="en" altLang="zh-CN" sz="1200" dirty="0" err="1"/>
              <a:t>spain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50025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A1665-35A9-AD45-A337-3014FCAF2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SOAP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BD7661-7C56-8F4B-B7FC-A3B851373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sz="1500" dirty="0" err="1"/>
              <a:t>CountryRepository</a:t>
            </a:r>
            <a:r>
              <a:rPr lang="en-US" altLang="zh-CN" sz="1500" dirty="0"/>
              <a:t>.java</a:t>
            </a:r>
            <a:endParaRPr kumimoji="1" lang="zh-CN" altLang="en-US" sz="15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AA7B72-63DE-9444-9BA5-92231CE5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1A7FA6-C3CF-4C49-A807-F68FCBB436CB}"/>
              </a:ext>
            </a:extLst>
          </p:cNvPr>
          <p:cNvSpPr/>
          <p:nvPr/>
        </p:nvSpPr>
        <p:spPr>
          <a:xfrm>
            <a:off x="2627784" y="839303"/>
            <a:ext cx="610267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/>
              <a:t>Country </a:t>
            </a:r>
            <a:r>
              <a:rPr lang="en" altLang="zh-CN" sz="1200" dirty="0" err="1"/>
              <a:t>poland</a:t>
            </a:r>
            <a:r>
              <a:rPr lang="en" altLang="zh-CN" sz="1200" dirty="0"/>
              <a:t> = </a:t>
            </a:r>
            <a:r>
              <a:rPr lang="en" altLang="zh-CN" sz="1200" dirty="0">
                <a:solidFill>
                  <a:srgbClr val="CC7832"/>
                </a:solidFill>
              </a:rPr>
              <a:t>new </a:t>
            </a:r>
            <a:r>
              <a:rPr lang="en" altLang="zh-CN" sz="1200" dirty="0"/>
              <a:t>Country()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poland.setName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A8759"/>
                </a:solidFill>
              </a:rPr>
              <a:t>"Poland"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poland.setCapital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A8759"/>
                </a:solidFill>
              </a:rPr>
              <a:t>"Warsaw"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poland.setCurrency</a:t>
            </a:r>
            <a:r>
              <a:rPr lang="en" altLang="zh-CN" sz="1200" dirty="0"/>
              <a:t>(</a:t>
            </a:r>
            <a:r>
              <a:rPr lang="en" altLang="zh-CN" sz="1200" dirty="0" err="1"/>
              <a:t>Currency.</a:t>
            </a:r>
            <a:r>
              <a:rPr lang="en" altLang="zh-CN" sz="1200" i="1" dirty="0" err="1">
                <a:solidFill>
                  <a:srgbClr val="9876AA"/>
                </a:solidFill>
              </a:rPr>
              <a:t>PLN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poland.setPopulation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897BB"/>
                </a:solidFill>
              </a:rPr>
              <a:t>38186860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i="1" dirty="0" err="1">
                <a:solidFill>
                  <a:srgbClr val="9876AA"/>
                </a:solidFill>
              </a:rPr>
              <a:t>countries</a:t>
            </a:r>
            <a:r>
              <a:rPr lang="en" altLang="zh-CN" sz="1200" dirty="0" err="1"/>
              <a:t>.put</a:t>
            </a:r>
            <a:r>
              <a:rPr lang="en" altLang="zh-CN" sz="1200" dirty="0"/>
              <a:t>(</a:t>
            </a:r>
            <a:r>
              <a:rPr lang="en" altLang="zh-CN" sz="1200" dirty="0" err="1"/>
              <a:t>poland.getName</a:t>
            </a:r>
            <a:r>
              <a:rPr lang="en" altLang="zh-CN" sz="1200" dirty="0"/>
              <a:t>()</a:t>
            </a:r>
            <a:r>
              <a:rPr lang="en" altLang="zh-CN" sz="1200" dirty="0">
                <a:solidFill>
                  <a:srgbClr val="CC7832"/>
                </a:solidFill>
              </a:rPr>
              <a:t>, </a:t>
            </a:r>
            <a:r>
              <a:rPr lang="en" altLang="zh-CN" sz="1200" dirty="0" err="1"/>
              <a:t>poland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/>
              <a:t>Country </a:t>
            </a:r>
            <a:r>
              <a:rPr lang="en" altLang="zh-CN" sz="1200" dirty="0" err="1"/>
              <a:t>uk</a:t>
            </a:r>
            <a:r>
              <a:rPr lang="en" altLang="zh-CN" sz="1200" dirty="0"/>
              <a:t> = </a:t>
            </a:r>
            <a:r>
              <a:rPr lang="en" altLang="zh-CN" sz="1200" dirty="0">
                <a:solidFill>
                  <a:srgbClr val="CC7832"/>
                </a:solidFill>
              </a:rPr>
              <a:t>new </a:t>
            </a:r>
            <a:r>
              <a:rPr lang="en" altLang="zh-CN" sz="1200" dirty="0"/>
              <a:t>Country()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uk.setName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A8759"/>
                </a:solidFill>
              </a:rPr>
              <a:t>"United Kingdom"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uk.setCapital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A8759"/>
                </a:solidFill>
              </a:rPr>
              <a:t>"London"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uk.setCurrency</a:t>
            </a:r>
            <a:r>
              <a:rPr lang="en" altLang="zh-CN" sz="1200" dirty="0"/>
              <a:t>(</a:t>
            </a:r>
            <a:r>
              <a:rPr lang="en" altLang="zh-CN" sz="1200" dirty="0" err="1"/>
              <a:t>Currency.</a:t>
            </a:r>
            <a:r>
              <a:rPr lang="en" altLang="zh-CN" sz="1200" i="1" dirty="0" err="1">
                <a:solidFill>
                  <a:srgbClr val="9876AA"/>
                </a:solidFill>
              </a:rPr>
              <a:t>GBP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uk.setPopulation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897BB"/>
                </a:solidFill>
              </a:rPr>
              <a:t>63705000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i="1" dirty="0" err="1">
                <a:solidFill>
                  <a:srgbClr val="9876AA"/>
                </a:solidFill>
              </a:rPr>
              <a:t>countries</a:t>
            </a:r>
            <a:r>
              <a:rPr lang="en" altLang="zh-CN" sz="1200" dirty="0" err="1"/>
              <a:t>.put</a:t>
            </a:r>
            <a:r>
              <a:rPr lang="en" altLang="zh-CN" sz="1200" dirty="0"/>
              <a:t>(</a:t>
            </a:r>
            <a:r>
              <a:rPr lang="en" altLang="zh-CN" sz="1200" dirty="0" err="1"/>
              <a:t>uk.getName</a:t>
            </a:r>
            <a:r>
              <a:rPr lang="en" altLang="zh-CN" sz="1200" dirty="0"/>
              <a:t>()</a:t>
            </a:r>
            <a:r>
              <a:rPr lang="en" altLang="zh-CN" sz="1200" dirty="0">
                <a:solidFill>
                  <a:srgbClr val="CC7832"/>
                </a:solidFill>
              </a:rPr>
              <a:t>, </a:t>
            </a:r>
            <a:r>
              <a:rPr lang="en" altLang="zh-CN" sz="1200" dirty="0" err="1"/>
              <a:t>uk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</a:t>
            </a:r>
            <a:r>
              <a:rPr lang="en" altLang="zh-CN" sz="1200" dirty="0"/>
              <a:t>}</a:t>
            </a:r>
            <a:br>
              <a:rPr lang="en" altLang="zh-CN" sz="1200" dirty="0"/>
            </a:br>
            <a:br>
              <a:rPr lang="en" altLang="zh-CN" sz="1200" dirty="0"/>
            </a:br>
            <a:r>
              <a:rPr lang="en" altLang="zh-CN" sz="1200" dirty="0"/>
              <a:t>   </a:t>
            </a:r>
            <a:r>
              <a:rPr lang="en" altLang="zh-CN" sz="1200" dirty="0">
                <a:solidFill>
                  <a:srgbClr val="CC7832"/>
                </a:solidFill>
              </a:rPr>
              <a:t>public </a:t>
            </a:r>
            <a:r>
              <a:rPr lang="en" altLang="zh-CN" sz="1200" dirty="0"/>
              <a:t>Country </a:t>
            </a:r>
            <a:r>
              <a:rPr lang="en" altLang="zh-CN" sz="1200" dirty="0" err="1">
                <a:solidFill>
                  <a:srgbClr val="FFC66D"/>
                </a:solidFill>
              </a:rPr>
              <a:t>findCountry</a:t>
            </a:r>
            <a:r>
              <a:rPr lang="en" altLang="zh-CN" sz="1200" dirty="0"/>
              <a:t>(String name) {</a:t>
            </a:r>
            <a:br>
              <a:rPr lang="en" altLang="zh-CN" sz="1200" dirty="0"/>
            </a:br>
            <a:r>
              <a:rPr lang="en" altLang="zh-CN" sz="1200" dirty="0"/>
              <a:t>      </a:t>
            </a:r>
            <a:r>
              <a:rPr lang="en" altLang="zh-CN" sz="1200" dirty="0" err="1"/>
              <a:t>Assert.</a:t>
            </a:r>
            <a:r>
              <a:rPr lang="en" altLang="zh-CN" sz="1200" i="1" dirty="0" err="1"/>
              <a:t>notNull</a:t>
            </a:r>
            <a:r>
              <a:rPr lang="en" altLang="zh-CN" sz="1200" dirty="0"/>
              <a:t>(name</a:t>
            </a:r>
            <a:r>
              <a:rPr lang="en" altLang="zh-CN" sz="1200" dirty="0">
                <a:solidFill>
                  <a:srgbClr val="CC7832"/>
                </a:solidFill>
              </a:rPr>
              <a:t>, </a:t>
            </a:r>
            <a:r>
              <a:rPr lang="en" altLang="zh-CN" sz="1200" dirty="0">
                <a:solidFill>
                  <a:srgbClr val="6A8759"/>
                </a:solidFill>
              </a:rPr>
              <a:t>"The country's name must not be null"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return </a:t>
            </a:r>
            <a:r>
              <a:rPr lang="en" altLang="zh-CN" sz="1200" i="1" dirty="0" err="1">
                <a:solidFill>
                  <a:srgbClr val="9876AA"/>
                </a:solidFill>
              </a:rPr>
              <a:t>countries</a:t>
            </a:r>
            <a:r>
              <a:rPr lang="en" altLang="zh-CN" sz="1200" dirty="0" err="1"/>
              <a:t>.get</a:t>
            </a:r>
            <a:r>
              <a:rPr lang="en" altLang="zh-CN" sz="1200" dirty="0"/>
              <a:t>(name)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</a:t>
            </a:r>
            <a:r>
              <a:rPr lang="en" altLang="zh-CN" sz="1200" dirty="0"/>
              <a:t>}</a:t>
            </a:r>
            <a:br>
              <a:rPr lang="en" altLang="zh-CN" sz="1200" dirty="0"/>
            </a:br>
            <a:r>
              <a:rPr lang="en" altLang="zh-CN" sz="1200" dirty="0"/>
              <a:t>}</a:t>
            </a:r>
            <a:br>
              <a:rPr lang="en" altLang="zh-CN" sz="1200" dirty="0"/>
            </a:b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89353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A1665-35A9-AD45-A337-3014FCAF2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SOAP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BD7661-7C56-8F4B-B7FC-A3B851373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sz="1500" dirty="0"/>
              <a:t>Country</a:t>
            </a:r>
            <a:r>
              <a:rPr lang="en-US" altLang="zh-CN" sz="1500" dirty="0" err="1"/>
              <a:t>Endpoint.java</a:t>
            </a:r>
            <a:endParaRPr kumimoji="1" lang="zh-CN" altLang="en-US" sz="15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AA7B72-63DE-9444-9BA5-92231CE5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524102-38D6-5648-A5A5-EAC58238429D}"/>
              </a:ext>
            </a:extLst>
          </p:cNvPr>
          <p:cNvSpPr/>
          <p:nvPr/>
        </p:nvSpPr>
        <p:spPr>
          <a:xfrm>
            <a:off x="2543996" y="769402"/>
            <a:ext cx="631870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200" dirty="0">
                <a:solidFill>
                  <a:srgbClr val="CC7832"/>
                </a:solidFill>
              </a:rPr>
              <a:t>import </a:t>
            </a:r>
            <a:r>
              <a:rPr lang="en" altLang="zh-CN" sz="1200" dirty="0" err="1"/>
              <a:t>io.spring.guides.gs_producing_web_service.GetCountryRequest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import </a:t>
            </a:r>
            <a:r>
              <a:rPr lang="en" altLang="zh-CN" sz="1200" dirty="0" err="1"/>
              <a:t>io.spring.guides.gs_producing_web_service.GetCountryResponse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BBB529"/>
                </a:solidFill>
              </a:rPr>
              <a:t>@Endpoint</a:t>
            </a:r>
            <a:br>
              <a:rPr lang="en" altLang="zh-CN" sz="1200" dirty="0">
                <a:solidFill>
                  <a:srgbClr val="BBB529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public class </a:t>
            </a:r>
            <a:r>
              <a:rPr lang="en" altLang="zh-CN" sz="1200" dirty="0" err="1"/>
              <a:t>CountryEndpoint</a:t>
            </a:r>
            <a:r>
              <a:rPr lang="en" altLang="zh-CN" sz="1200" dirty="0"/>
              <a:t> {</a:t>
            </a:r>
            <a:br>
              <a:rPr lang="en" altLang="zh-CN" sz="1200" dirty="0"/>
            </a:br>
            <a:r>
              <a:rPr lang="en" altLang="zh-CN" sz="1200" dirty="0"/>
              <a:t>   </a:t>
            </a:r>
            <a:r>
              <a:rPr lang="en" altLang="zh-CN" sz="1200" dirty="0">
                <a:solidFill>
                  <a:srgbClr val="CC7832"/>
                </a:solidFill>
              </a:rPr>
              <a:t>private static final </a:t>
            </a:r>
            <a:r>
              <a:rPr lang="en" altLang="zh-CN" sz="1200" dirty="0"/>
              <a:t>String </a:t>
            </a:r>
            <a:r>
              <a:rPr lang="en" altLang="zh-CN" sz="1200" i="1" dirty="0">
                <a:solidFill>
                  <a:srgbClr val="9876AA"/>
                </a:solidFill>
              </a:rPr>
              <a:t>NAMESPACE_URI </a:t>
            </a:r>
            <a:r>
              <a:rPr lang="en" altLang="zh-CN" sz="1200" dirty="0"/>
              <a:t>= </a:t>
            </a:r>
            <a:r>
              <a:rPr lang="en" altLang="zh-CN" sz="1200" dirty="0">
                <a:solidFill>
                  <a:srgbClr val="6A8759"/>
                </a:solidFill>
              </a:rPr>
              <a:t>"http://</a:t>
            </a:r>
            <a:r>
              <a:rPr lang="en" altLang="zh-CN" sz="1200" dirty="0" err="1">
                <a:solidFill>
                  <a:srgbClr val="6A8759"/>
                </a:solidFill>
              </a:rPr>
              <a:t>spring.io</a:t>
            </a:r>
            <a:r>
              <a:rPr lang="en" altLang="zh-CN" sz="1200" dirty="0">
                <a:solidFill>
                  <a:srgbClr val="6A8759"/>
                </a:solidFill>
              </a:rPr>
              <a:t>/guides/</a:t>
            </a:r>
            <a:r>
              <a:rPr lang="en" altLang="zh-CN" sz="1200" dirty="0" err="1">
                <a:solidFill>
                  <a:srgbClr val="6A8759"/>
                </a:solidFill>
              </a:rPr>
              <a:t>gs</a:t>
            </a:r>
            <a:r>
              <a:rPr lang="en" altLang="zh-CN" sz="1200" dirty="0">
                <a:solidFill>
                  <a:srgbClr val="6A8759"/>
                </a:solidFill>
              </a:rPr>
              <a:t>-producing-web-service"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private </a:t>
            </a:r>
            <a:r>
              <a:rPr lang="en" altLang="zh-CN" sz="1200" dirty="0" err="1"/>
              <a:t>CountryRepository</a:t>
            </a:r>
            <a:r>
              <a:rPr lang="en" altLang="zh-CN" sz="1200" dirty="0"/>
              <a:t> </a:t>
            </a:r>
            <a:r>
              <a:rPr lang="en" altLang="zh-CN" sz="1200" dirty="0" err="1">
                <a:solidFill>
                  <a:srgbClr val="9876AA"/>
                </a:solidFill>
              </a:rPr>
              <a:t>countryRepository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</a:t>
            </a:r>
            <a:r>
              <a:rPr lang="en" altLang="zh-CN" sz="1200" dirty="0">
                <a:solidFill>
                  <a:srgbClr val="BBB529"/>
                </a:solidFill>
              </a:rPr>
              <a:t>@</a:t>
            </a:r>
            <a:r>
              <a:rPr lang="en" altLang="zh-CN" sz="1200" dirty="0" err="1">
                <a:solidFill>
                  <a:srgbClr val="BBB529"/>
                </a:solidFill>
              </a:rPr>
              <a:t>Autowired</a:t>
            </a:r>
            <a:br>
              <a:rPr lang="en" altLang="zh-CN" sz="1200" dirty="0">
                <a:solidFill>
                  <a:srgbClr val="BBB529"/>
                </a:solidFill>
              </a:rPr>
            </a:br>
            <a:r>
              <a:rPr lang="en" altLang="zh-CN" sz="1200" dirty="0">
                <a:solidFill>
                  <a:srgbClr val="BBB529"/>
                </a:solidFill>
              </a:rPr>
              <a:t>   </a:t>
            </a:r>
            <a:r>
              <a:rPr lang="en" altLang="zh-CN" sz="1200" dirty="0">
                <a:solidFill>
                  <a:srgbClr val="CC7832"/>
                </a:solidFill>
              </a:rPr>
              <a:t>public </a:t>
            </a:r>
            <a:r>
              <a:rPr lang="en" altLang="zh-CN" sz="1200" dirty="0" err="1">
                <a:solidFill>
                  <a:srgbClr val="FFC66D"/>
                </a:solidFill>
              </a:rPr>
              <a:t>CountryEndpoint</a:t>
            </a:r>
            <a:r>
              <a:rPr lang="en" altLang="zh-CN" sz="1200" dirty="0"/>
              <a:t>(</a:t>
            </a:r>
            <a:r>
              <a:rPr lang="en" altLang="zh-CN" sz="1200" dirty="0" err="1"/>
              <a:t>CountryRepository</a:t>
            </a:r>
            <a:r>
              <a:rPr lang="en" altLang="zh-CN" sz="1200" dirty="0"/>
              <a:t> </a:t>
            </a:r>
            <a:r>
              <a:rPr lang="en" altLang="zh-CN" sz="1200" dirty="0" err="1"/>
              <a:t>countryRepository</a:t>
            </a:r>
            <a:r>
              <a:rPr lang="en" altLang="zh-CN" sz="1200" dirty="0"/>
              <a:t>) {</a:t>
            </a:r>
            <a:br>
              <a:rPr lang="en" altLang="zh-CN" sz="1200" dirty="0"/>
            </a:br>
            <a:r>
              <a:rPr lang="en" altLang="zh-CN" sz="1200" dirty="0"/>
              <a:t>      </a:t>
            </a:r>
            <a:r>
              <a:rPr lang="en" altLang="zh-CN" sz="1200" dirty="0" err="1">
                <a:solidFill>
                  <a:srgbClr val="CC7832"/>
                </a:solidFill>
              </a:rPr>
              <a:t>this</a:t>
            </a:r>
            <a:r>
              <a:rPr lang="en" altLang="zh-CN" sz="1200" dirty="0" err="1"/>
              <a:t>.</a:t>
            </a:r>
            <a:r>
              <a:rPr lang="en" altLang="zh-CN" sz="1200" dirty="0" err="1">
                <a:solidFill>
                  <a:srgbClr val="9876AA"/>
                </a:solidFill>
              </a:rPr>
              <a:t>countryRepository</a:t>
            </a:r>
            <a:r>
              <a:rPr lang="en" altLang="zh-CN" sz="1200" dirty="0">
                <a:solidFill>
                  <a:srgbClr val="9876AA"/>
                </a:solidFill>
              </a:rPr>
              <a:t> </a:t>
            </a:r>
            <a:r>
              <a:rPr lang="en" altLang="zh-CN" sz="1200" dirty="0"/>
              <a:t>= </a:t>
            </a:r>
            <a:r>
              <a:rPr lang="en" altLang="zh-CN" sz="1200" dirty="0" err="1"/>
              <a:t>countryRepository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</a:t>
            </a:r>
            <a:r>
              <a:rPr lang="en" altLang="zh-CN" sz="1200" dirty="0"/>
              <a:t>}</a:t>
            </a:r>
            <a:br>
              <a:rPr lang="en" altLang="zh-CN" sz="1200" dirty="0"/>
            </a:br>
            <a:br>
              <a:rPr lang="en" altLang="zh-CN" sz="1200" dirty="0"/>
            </a:br>
            <a:r>
              <a:rPr lang="en" altLang="zh-CN" sz="1200" dirty="0"/>
              <a:t>   </a:t>
            </a:r>
            <a:r>
              <a:rPr lang="en" altLang="zh-CN" sz="1200" dirty="0">
                <a:solidFill>
                  <a:srgbClr val="BBB529"/>
                </a:solidFill>
              </a:rPr>
              <a:t>@</a:t>
            </a:r>
            <a:r>
              <a:rPr lang="en" altLang="zh-CN" sz="1200" dirty="0" err="1">
                <a:solidFill>
                  <a:srgbClr val="BBB529"/>
                </a:solidFill>
              </a:rPr>
              <a:t>PayloadRoot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D0D0FF"/>
                </a:solidFill>
              </a:rPr>
              <a:t>namespace </a:t>
            </a:r>
            <a:r>
              <a:rPr lang="en" altLang="zh-CN" sz="1200" dirty="0"/>
              <a:t>= </a:t>
            </a:r>
            <a:r>
              <a:rPr lang="en" altLang="zh-CN" sz="1200" i="1" dirty="0">
                <a:solidFill>
                  <a:srgbClr val="9876AA"/>
                </a:solidFill>
              </a:rPr>
              <a:t>NAMESPACE_URI</a:t>
            </a:r>
            <a:r>
              <a:rPr lang="en" altLang="zh-CN" sz="1200" dirty="0">
                <a:solidFill>
                  <a:srgbClr val="CC7832"/>
                </a:solidFill>
              </a:rPr>
              <a:t>, </a:t>
            </a:r>
            <a:r>
              <a:rPr lang="en" altLang="zh-CN" sz="1200" dirty="0" err="1">
                <a:solidFill>
                  <a:srgbClr val="D0D0FF"/>
                </a:solidFill>
              </a:rPr>
              <a:t>localPart</a:t>
            </a:r>
            <a:r>
              <a:rPr lang="en" altLang="zh-CN" sz="1200" dirty="0">
                <a:solidFill>
                  <a:srgbClr val="D0D0FF"/>
                </a:solidFill>
              </a:rPr>
              <a:t> </a:t>
            </a:r>
            <a:r>
              <a:rPr lang="en" altLang="zh-CN" sz="1200" dirty="0"/>
              <a:t>= </a:t>
            </a:r>
            <a:r>
              <a:rPr lang="en" altLang="zh-CN" sz="1200" dirty="0">
                <a:solidFill>
                  <a:srgbClr val="6A8759"/>
                </a:solidFill>
              </a:rPr>
              <a:t>"</a:t>
            </a:r>
            <a:r>
              <a:rPr lang="en" altLang="zh-CN" sz="1200" dirty="0" err="1">
                <a:solidFill>
                  <a:srgbClr val="6A8759"/>
                </a:solidFill>
              </a:rPr>
              <a:t>getCountryRequest</a:t>
            </a:r>
            <a:r>
              <a:rPr lang="en" altLang="zh-CN" sz="1200" dirty="0">
                <a:solidFill>
                  <a:srgbClr val="6A8759"/>
                </a:solidFill>
              </a:rPr>
              <a:t>"</a:t>
            </a:r>
            <a:r>
              <a:rPr lang="en" altLang="zh-CN" sz="1200" dirty="0"/>
              <a:t>)</a:t>
            </a:r>
            <a:br>
              <a:rPr lang="en" altLang="zh-CN" sz="1200" dirty="0"/>
            </a:br>
            <a:r>
              <a:rPr lang="en" altLang="zh-CN" sz="1200" dirty="0"/>
              <a:t>   </a:t>
            </a:r>
            <a:r>
              <a:rPr lang="en" altLang="zh-CN" sz="1200" dirty="0">
                <a:solidFill>
                  <a:srgbClr val="BBB529"/>
                </a:solidFill>
              </a:rPr>
              <a:t>@</a:t>
            </a:r>
            <a:r>
              <a:rPr lang="en" altLang="zh-CN" sz="1200" dirty="0" err="1">
                <a:solidFill>
                  <a:srgbClr val="BBB529"/>
                </a:solidFill>
              </a:rPr>
              <a:t>ResponsePayload</a:t>
            </a:r>
            <a:br>
              <a:rPr lang="en" altLang="zh-CN" sz="1200" dirty="0">
                <a:solidFill>
                  <a:srgbClr val="BBB529"/>
                </a:solidFill>
              </a:rPr>
            </a:br>
            <a:r>
              <a:rPr lang="en" altLang="zh-CN" sz="1200" dirty="0">
                <a:solidFill>
                  <a:srgbClr val="BBB529"/>
                </a:solidFill>
              </a:rPr>
              <a:t>   </a:t>
            </a:r>
            <a:r>
              <a:rPr lang="en" altLang="zh-CN" sz="1200" dirty="0">
                <a:solidFill>
                  <a:srgbClr val="CC7832"/>
                </a:solidFill>
              </a:rPr>
              <a:t>public </a:t>
            </a:r>
            <a:r>
              <a:rPr lang="en" altLang="zh-CN" sz="1200" dirty="0" err="1"/>
              <a:t>GetCountryResponse</a:t>
            </a:r>
            <a:r>
              <a:rPr lang="en" altLang="zh-CN" sz="1200" dirty="0"/>
              <a:t> </a:t>
            </a:r>
            <a:r>
              <a:rPr lang="en" altLang="zh-CN" sz="1200" dirty="0" err="1">
                <a:solidFill>
                  <a:srgbClr val="FFC66D"/>
                </a:solidFill>
              </a:rPr>
              <a:t>getCountry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BBB529"/>
                </a:solidFill>
              </a:rPr>
              <a:t>@</a:t>
            </a:r>
            <a:r>
              <a:rPr lang="en" altLang="zh-CN" sz="1200" dirty="0" err="1">
                <a:solidFill>
                  <a:srgbClr val="BBB529"/>
                </a:solidFill>
              </a:rPr>
              <a:t>RequestPayload</a:t>
            </a:r>
            <a:r>
              <a:rPr lang="en" altLang="zh-CN" sz="1200" dirty="0">
                <a:solidFill>
                  <a:srgbClr val="BBB529"/>
                </a:solidFill>
              </a:rPr>
              <a:t> </a:t>
            </a:r>
            <a:r>
              <a:rPr lang="en" altLang="zh-CN" sz="1200" dirty="0" err="1"/>
              <a:t>GetCountryRequest</a:t>
            </a:r>
            <a:r>
              <a:rPr lang="en" altLang="zh-CN" sz="1200" dirty="0"/>
              <a:t> request) {</a:t>
            </a:r>
            <a:br>
              <a:rPr lang="en" altLang="zh-CN" sz="1200" dirty="0"/>
            </a:br>
            <a:r>
              <a:rPr lang="en" altLang="zh-CN" sz="1200" dirty="0"/>
              <a:t>      </a:t>
            </a:r>
            <a:r>
              <a:rPr lang="en" altLang="zh-CN" sz="1200" dirty="0" err="1"/>
              <a:t>GetCountryResponse</a:t>
            </a:r>
            <a:r>
              <a:rPr lang="en" altLang="zh-CN" sz="1200" dirty="0"/>
              <a:t> response = </a:t>
            </a:r>
            <a:r>
              <a:rPr lang="en" altLang="zh-CN" sz="1200" dirty="0">
                <a:solidFill>
                  <a:srgbClr val="CC7832"/>
                </a:solidFill>
              </a:rPr>
              <a:t>new </a:t>
            </a:r>
            <a:r>
              <a:rPr lang="en" altLang="zh-CN" sz="1200" dirty="0" err="1"/>
              <a:t>GetCountryResponse</a:t>
            </a:r>
            <a:r>
              <a:rPr lang="en" altLang="zh-CN" sz="1200" dirty="0"/>
              <a:t>()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response.setCountry</a:t>
            </a:r>
            <a:r>
              <a:rPr lang="en" altLang="zh-CN" sz="1200" dirty="0"/>
              <a:t>(</a:t>
            </a:r>
            <a:r>
              <a:rPr lang="en" altLang="zh-CN" sz="1200" dirty="0" err="1">
                <a:solidFill>
                  <a:srgbClr val="9876AA"/>
                </a:solidFill>
              </a:rPr>
              <a:t>countryRepository</a:t>
            </a:r>
            <a:r>
              <a:rPr lang="en" altLang="zh-CN" sz="1200" dirty="0" err="1"/>
              <a:t>.findCountry</a:t>
            </a:r>
            <a:r>
              <a:rPr lang="en" altLang="zh-CN" sz="1200" dirty="0"/>
              <a:t>(</a:t>
            </a:r>
            <a:r>
              <a:rPr lang="en" altLang="zh-CN" sz="1200" dirty="0" err="1"/>
              <a:t>request.getName</a:t>
            </a:r>
            <a:r>
              <a:rPr lang="en" altLang="zh-CN" sz="1200" dirty="0"/>
              <a:t>()))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return </a:t>
            </a:r>
            <a:r>
              <a:rPr lang="en" altLang="zh-CN" sz="1200" dirty="0"/>
              <a:t>response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</a:t>
            </a:r>
            <a:r>
              <a:rPr lang="en" altLang="zh-CN" sz="1200" dirty="0"/>
              <a:t>}</a:t>
            </a:r>
            <a:br>
              <a:rPr lang="en" altLang="zh-CN" sz="1200" dirty="0"/>
            </a:br>
            <a:r>
              <a:rPr lang="en" altLang="zh-CN" sz="1200" dirty="0"/>
              <a:t>}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6857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A1665-35A9-AD45-A337-3014FCAF2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SOAP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BD7661-7C56-8F4B-B7FC-A3B851373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00" y="864728"/>
            <a:ext cx="6588732" cy="3940924"/>
          </a:xfrm>
        </p:spPr>
        <p:txBody>
          <a:bodyPr>
            <a:normAutofit/>
          </a:bodyPr>
          <a:lstStyle/>
          <a:p>
            <a:r>
              <a:rPr lang="en-US" altLang="zh-CN" sz="1500" dirty="0" err="1"/>
              <a:t>WebServiceConfig.java</a:t>
            </a:r>
            <a:endParaRPr kumimoji="1" lang="zh-CN" altLang="en-US" sz="15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AA7B72-63DE-9444-9BA5-92231CE5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14BA7A-357F-464A-AE31-49CB30006BDE}"/>
              </a:ext>
            </a:extLst>
          </p:cNvPr>
          <p:cNvSpPr/>
          <p:nvPr/>
        </p:nvSpPr>
        <p:spPr>
          <a:xfrm>
            <a:off x="2699792" y="911557"/>
            <a:ext cx="650734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EnableWs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@Configuration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WebServiceConfig</a:t>
            </a:r>
            <a:r>
              <a:rPr lang="en" altLang="zh-CN" sz="1050" dirty="0"/>
              <a:t> </a:t>
            </a:r>
            <a:r>
              <a:rPr lang="en" altLang="zh-CN" sz="1050" dirty="0">
                <a:solidFill>
                  <a:srgbClr val="CC7832"/>
                </a:solidFill>
              </a:rPr>
              <a:t>extends </a:t>
            </a:r>
            <a:r>
              <a:rPr lang="en" altLang="zh-CN" sz="1050" dirty="0" err="1"/>
              <a:t>WsConfigurerAdapter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r>
              <a:rPr lang="en" altLang="zh-CN" sz="1050" dirty="0"/>
              <a:t>   </a:t>
            </a:r>
            <a:r>
              <a:rPr lang="en" altLang="zh-CN" sz="1050" dirty="0">
                <a:solidFill>
                  <a:srgbClr val="BBB529"/>
                </a:solidFill>
              </a:rPr>
              <a:t>@Bean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 err="1"/>
              <a:t>ServletRegistrationBean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FFC66D"/>
                </a:solidFill>
              </a:rPr>
              <a:t>messageDispatcherServlet</a:t>
            </a:r>
            <a:r>
              <a:rPr lang="en" altLang="zh-CN" sz="1050" dirty="0"/>
              <a:t>(</a:t>
            </a:r>
            <a:r>
              <a:rPr lang="en" altLang="zh-CN" sz="1050" dirty="0" err="1"/>
              <a:t>ApplicationContext</a:t>
            </a:r>
            <a:r>
              <a:rPr lang="en" altLang="zh-CN" sz="1050" dirty="0"/>
              <a:t> </a:t>
            </a:r>
            <a:r>
              <a:rPr lang="en" altLang="zh-CN" sz="1050" dirty="0" err="1"/>
              <a:t>applicationContext</a:t>
            </a:r>
            <a:r>
              <a:rPr lang="en" altLang="zh-CN" sz="1050" dirty="0"/>
              <a:t>) {</a:t>
            </a:r>
            <a:br>
              <a:rPr lang="en" altLang="zh-CN" sz="1050" dirty="0"/>
            </a:br>
            <a:r>
              <a:rPr lang="en" altLang="zh-CN" sz="1050" dirty="0"/>
              <a:t>      </a:t>
            </a:r>
            <a:r>
              <a:rPr lang="en" altLang="zh-CN" sz="1050" dirty="0" err="1"/>
              <a:t>MessageDispatcherServlet</a:t>
            </a:r>
            <a:r>
              <a:rPr lang="en" altLang="zh-CN" sz="1050" dirty="0"/>
              <a:t> servlet = </a:t>
            </a:r>
            <a:r>
              <a:rPr lang="en" altLang="zh-CN" sz="1050" dirty="0">
                <a:solidFill>
                  <a:srgbClr val="CC7832"/>
                </a:solidFill>
              </a:rPr>
              <a:t>new </a:t>
            </a:r>
            <a:r>
              <a:rPr lang="en" altLang="zh-CN" sz="1050" dirty="0" err="1"/>
              <a:t>MessageDispatcherServlet</a:t>
            </a:r>
            <a:r>
              <a:rPr lang="en" altLang="zh-CN" sz="1050" dirty="0"/>
              <a:t>()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</a:t>
            </a:r>
            <a:r>
              <a:rPr lang="en" altLang="zh-CN" sz="1050" dirty="0" err="1"/>
              <a:t>servlet.setApplicationContext</a:t>
            </a:r>
            <a:r>
              <a:rPr lang="en" altLang="zh-CN" sz="1050" dirty="0"/>
              <a:t>(</a:t>
            </a:r>
            <a:r>
              <a:rPr lang="en" altLang="zh-CN" sz="1050" dirty="0" err="1"/>
              <a:t>applicationContext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</a:t>
            </a:r>
            <a:r>
              <a:rPr lang="en" altLang="zh-CN" sz="1050" dirty="0" err="1"/>
              <a:t>servlet.setTransformWsdlLocations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CC7832"/>
                </a:solidFill>
              </a:rPr>
              <a:t>true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return new </a:t>
            </a:r>
            <a:r>
              <a:rPr lang="en" altLang="zh-CN" sz="1050" dirty="0" err="1"/>
              <a:t>ServletRegistrationBean</a:t>
            </a:r>
            <a:r>
              <a:rPr lang="en" altLang="zh-CN" sz="1050" dirty="0"/>
              <a:t>(servlet</a:t>
            </a:r>
            <a:r>
              <a:rPr lang="en" altLang="zh-CN" sz="1050" dirty="0">
                <a:solidFill>
                  <a:srgbClr val="CC7832"/>
                </a:solidFill>
              </a:rPr>
              <a:t>, </a:t>
            </a:r>
            <a:r>
              <a:rPr lang="en" altLang="zh-CN" sz="1050" dirty="0">
                <a:solidFill>
                  <a:srgbClr val="6A8759"/>
                </a:solidFill>
              </a:rPr>
              <a:t>"/</a:t>
            </a:r>
            <a:r>
              <a:rPr lang="en" altLang="zh-CN" sz="1050" dirty="0" err="1">
                <a:solidFill>
                  <a:srgbClr val="6A8759"/>
                </a:solidFill>
              </a:rPr>
              <a:t>ws</a:t>
            </a:r>
            <a:r>
              <a:rPr lang="en" altLang="zh-CN" sz="1050" dirty="0">
                <a:solidFill>
                  <a:srgbClr val="6A8759"/>
                </a:solidFill>
              </a:rPr>
              <a:t>/*"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</a:t>
            </a:r>
            <a:r>
              <a:rPr lang="en" altLang="zh-CN" sz="1050" dirty="0"/>
              <a:t>}</a:t>
            </a:r>
            <a:br>
              <a:rPr lang="en" altLang="zh-CN" sz="1050" dirty="0"/>
            </a:br>
            <a:r>
              <a:rPr lang="en" altLang="zh-CN" sz="1050" dirty="0"/>
              <a:t>   </a:t>
            </a:r>
            <a:r>
              <a:rPr lang="en" altLang="zh-CN" sz="1050" dirty="0">
                <a:solidFill>
                  <a:srgbClr val="BBB529"/>
                </a:solidFill>
              </a:rPr>
              <a:t>@Bean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D0D0FF"/>
                </a:solidFill>
              </a:rPr>
              <a:t>name </a:t>
            </a:r>
            <a:r>
              <a:rPr lang="en" altLang="zh-CN" sz="1050" dirty="0"/>
              <a:t>= </a:t>
            </a:r>
            <a:r>
              <a:rPr lang="en" altLang="zh-CN" sz="1050" dirty="0">
                <a:solidFill>
                  <a:srgbClr val="6A8759"/>
                </a:solidFill>
              </a:rPr>
              <a:t>"countries"</a:t>
            </a:r>
            <a:r>
              <a:rPr lang="en" altLang="zh-CN" sz="1050" dirty="0"/>
              <a:t>)</a:t>
            </a:r>
            <a:br>
              <a:rPr lang="en" altLang="zh-CN" sz="1050" dirty="0"/>
            </a:br>
            <a:r>
              <a:rPr lang="en" altLang="zh-CN" sz="1050" dirty="0"/>
              <a:t>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DefaultWsdl11Definition </a:t>
            </a:r>
            <a:r>
              <a:rPr lang="en" altLang="zh-CN" sz="1050" dirty="0">
                <a:solidFill>
                  <a:srgbClr val="FFC66D"/>
                </a:solidFill>
              </a:rPr>
              <a:t>defaultWsdl11Definition</a:t>
            </a:r>
            <a:r>
              <a:rPr lang="en" altLang="zh-CN" sz="1050" dirty="0"/>
              <a:t>(</a:t>
            </a:r>
            <a:r>
              <a:rPr lang="en" altLang="zh-CN" sz="1050" dirty="0" err="1"/>
              <a:t>XsdSchema</a:t>
            </a:r>
            <a:r>
              <a:rPr lang="en" altLang="zh-CN" sz="1050" dirty="0"/>
              <a:t> </a:t>
            </a:r>
            <a:r>
              <a:rPr lang="en" altLang="zh-CN" sz="1050" dirty="0" err="1"/>
              <a:t>countriesSchema</a:t>
            </a:r>
            <a:r>
              <a:rPr lang="en" altLang="zh-CN" sz="1050" dirty="0"/>
              <a:t>) {</a:t>
            </a:r>
            <a:br>
              <a:rPr lang="en" altLang="zh-CN" sz="1050" dirty="0"/>
            </a:br>
            <a:r>
              <a:rPr lang="en" altLang="zh-CN" sz="1050" dirty="0"/>
              <a:t>      DefaultWsdl11Definition wsdl11Definition = </a:t>
            </a:r>
            <a:r>
              <a:rPr lang="en" altLang="zh-CN" sz="1050" dirty="0">
                <a:solidFill>
                  <a:srgbClr val="CC7832"/>
                </a:solidFill>
              </a:rPr>
              <a:t>new </a:t>
            </a:r>
            <a:r>
              <a:rPr lang="en" altLang="zh-CN" sz="1050" dirty="0"/>
              <a:t>DefaultWsdl11Definition()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</a:t>
            </a:r>
            <a:r>
              <a:rPr lang="en" altLang="zh-CN" sz="1050" dirty="0"/>
              <a:t>wsdl11Definition.setPortTypeName(</a:t>
            </a:r>
            <a:r>
              <a:rPr lang="en" altLang="zh-CN" sz="1050" dirty="0">
                <a:solidFill>
                  <a:srgbClr val="6A8759"/>
                </a:solidFill>
              </a:rPr>
              <a:t>"</a:t>
            </a:r>
            <a:r>
              <a:rPr lang="en" altLang="zh-CN" sz="1050" dirty="0" err="1">
                <a:solidFill>
                  <a:srgbClr val="6A8759"/>
                </a:solidFill>
              </a:rPr>
              <a:t>CountriesPort</a:t>
            </a:r>
            <a:r>
              <a:rPr lang="en" altLang="zh-CN" sz="1050" dirty="0">
                <a:solidFill>
                  <a:srgbClr val="6A8759"/>
                </a:solidFill>
              </a:rPr>
              <a:t>"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</a:t>
            </a:r>
            <a:r>
              <a:rPr lang="en" altLang="zh-CN" sz="1050" dirty="0"/>
              <a:t>wsdl11Definition.setLocationUri(</a:t>
            </a:r>
            <a:r>
              <a:rPr lang="en" altLang="zh-CN" sz="1050" dirty="0">
                <a:solidFill>
                  <a:srgbClr val="6A8759"/>
                </a:solidFill>
              </a:rPr>
              <a:t>"/</a:t>
            </a:r>
            <a:r>
              <a:rPr lang="en" altLang="zh-CN" sz="1050" dirty="0" err="1">
                <a:solidFill>
                  <a:srgbClr val="6A8759"/>
                </a:solidFill>
              </a:rPr>
              <a:t>ws</a:t>
            </a:r>
            <a:r>
              <a:rPr lang="en" altLang="zh-CN" sz="1050" dirty="0">
                <a:solidFill>
                  <a:srgbClr val="6A8759"/>
                </a:solidFill>
              </a:rPr>
              <a:t>"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</a:t>
            </a:r>
            <a:r>
              <a:rPr lang="en" altLang="zh-CN" sz="1050" dirty="0"/>
              <a:t>wsdl11Definition.setTargetNamespace(</a:t>
            </a:r>
            <a:r>
              <a:rPr lang="en" altLang="zh-CN" sz="1050" dirty="0">
                <a:solidFill>
                  <a:srgbClr val="6A8759"/>
                </a:solidFill>
              </a:rPr>
              <a:t>"http://</a:t>
            </a:r>
            <a:r>
              <a:rPr lang="en" altLang="zh-CN" sz="1050" dirty="0" err="1">
                <a:solidFill>
                  <a:srgbClr val="6A8759"/>
                </a:solidFill>
              </a:rPr>
              <a:t>spring.io</a:t>
            </a:r>
            <a:r>
              <a:rPr lang="en" altLang="zh-CN" sz="1050" dirty="0">
                <a:solidFill>
                  <a:srgbClr val="6A8759"/>
                </a:solidFill>
              </a:rPr>
              <a:t>/guides/</a:t>
            </a:r>
            <a:r>
              <a:rPr lang="en" altLang="zh-CN" sz="1050" dirty="0" err="1">
                <a:solidFill>
                  <a:srgbClr val="6A8759"/>
                </a:solidFill>
              </a:rPr>
              <a:t>gs</a:t>
            </a:r>
            <a:r>
              <a:rPr lang="en" altLang="zh-CN" sz="1050" dirty="0">
                <a:solidFill>
                  <a:srgbClr val="6A8759"/>
                </a:solidFill>
              </a:rPr>
              <a:t>-producing-web-service"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</a:t>
            </a:r>
            <a:r>
              <a:rPr lang="en" altLang="zh-CN" sz="1050" dirty="0"/>
              <a:t>wsdl11Definition.setSchema(</a:t>
            </a:r>
            <a:r>
              <a:rPr lang="en" altLang="zh-CN" sz="1050" dirty="0" err="1"/>
              <a:t>countriesSchema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return </a:t>
            </a:r>
            <a:r>
              <a:rPr lang="en" altLang="zh-CN" sz="1050" dirty="0"/>
              <a:t>wsdl11Definition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</a:t>
            </a:r>
            <a:r>
              <a:rPr lang="en" altLang="zh-CN" sz="1050" dirty="0"/>
              <a:t>}</a:t>
            </a:r>
            <a:br>
              <a:rPr lang="en" altLang="zh-CN" sz="1050" dirty="0"/>
            </a:br>
            <a:r>
              <a:rPr lang="en" altLang="zh-CN" sz="1050" dirty="0"/>
              <a:t>   </a:t>
            </a:r>
            <a:r>
              <a:rPr lang="en" altLang="zh-CN" sz="1050" dirty="0">
                <a:solidFill>
                  <a:srgbClr val="BBB529"/>
                </a:solidFill>
              </a:rPr>
              <a:t>@Bean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 err="1"/>
              <a:t>XsdSchema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FFC66D"/>
                </a:solidFill>
              </a:rPr>
              <a:t>countriesSchema</a:t>
            </a:r>
            <a:r>
              <a:rPr lang="en" altLang="zh-CN" sz="1050" dirty="0"/>
              <a:t>() {</a:t>
            </a:r>
            <a:br>
              <a:rPr lang="en" altLang="zh-CN" sz="1050" dirty="0"/>
            </a:br>
            <a:r>
              <a:rPr lang="en" altLang="zh-CN" sz="1050" dirty="0"/>
              <a:t>      </a:t>
            </a:r>
            <a:r>
              <a:rPr lang="en" altLang="zh-CN" sz="1050" dirty="0">
                <a:solidFill>
                  <a:srgbClr val="CC7832"/>
                </a:solidFill>
              </a:rPr>
              <a:t>return new </a:t>
            </a:r>
            <a:r>
              <a:rPr lang="en" altLang="zh-CN" sz="1050" dirty="0" err="1"/>
              <a:t>SimpleXsdSchema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CC7832"/>
                </a:solidFill>
              </a:rPr>
              <a:t>new </a:t>
            </a:r>
            <a:r>
              <a:rPr lang="en" altLang="zh-CN" sz="1050" dirty="0" err="1"/>
              <a:t>ClassPathResource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6A8759"/>
                </a:solidFill>
              </a:rPr>
              <a:t>"</a:t>
            </a:r>
            <a:r>
              <a:rPr lang="en" altLang="zh-CN" sz="1050" dirty="0" err="1">
                <a:solidFill>
                  <a:srgbClr val="6A8759"/>
                </a:solidFill>
              </a:rPr>
              <a:t>countries.xsd</a:t>
            </a:r>
            <a:r>
              <a:rPr lang="en" altLang="zh-CN" sz="1050" dirty="0">
                <a:solidFill>
                  <a:srgbClr val="6A8759"/>
                </a:solidFill>
              </a:rPr>
              <a:t>"</a:t>
            </a:r>
            <a:r>
              <a:rPr lang="en" altLang="zh-CN" sz="1050" dirty="0"/>
              <a:t>))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</a:t>
            </a:r>
            <a:r>
              <a:rPr lang="en" altLang="zh-CN" sz="1050" dirty="0"/>
              <a:t>}</a:t>
            </a:r>
            <a:br>
              <a:rPr lang="en" altLang="zh-CN" sz="1050" dirty="0"/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409990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84ACA-A964-4B43-A05C-309AA638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SOAP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6A0D6C-6C2E-434C-972C-E4AC1F0AD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Generate</a:t>
            </a:r>
            <a:r>
              <a:rPr kumimoji="1" lang="zh-CN" altLang="en-US" dirty="0"/>
              <a:t> </a:t>
            </a:r>
            <a:r>
              <a:rPr lang="en" altLang="zh-CN" dirty="0"/>
              <a:t>Domain Classes Based on an XML Schema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010C6F-79C9-834A-BB76-0BE3C0E94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57A39E-29F2-EFFF-D547-F23C0D9B7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635646"/>
            <a:ext cx="4822304" cy="27684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B96CB1C-D97D-EAD5-9EBA-42CA6977A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429" y="2080849"/>
            <a:ext cx="3312368" cy="187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80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41372-582F-B841-A443-084F99810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SOAP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829DFF-F9AB-D444-9C7C-5E0FB2D61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request.xml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8D4290-1BA7-8247-A852-4E8A6FD4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176663-6FFC-8145-9803-952836E13C62}"/>
              </a:ext>
            </a:extLst>
          </p:cNvPr>
          <p:cNvSpPr/>
          <p:nvPr/>
        </p:nvSpPr>
        <p:spPr>
          <a:xfrm>
            <a:off x="1547664" y="1498379"/>
            <a:ext cx="6480720" cy="1962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350" dirty="0">
                <a:solidFill>
                  <a:srgbClr val="E8BF6A"/>
                </a:solidFill>
              </a:rPr>
              <a:t>&lt;</a:t>
            </a:r>
            <a:r>
              <a:rPr lang="en" altLang="zh-CN" sz="1350" dirty="0" err="1">
                <a:solidFill>
                  <a:srgbClr val="9876AA"/>
                </a:solidFill>
              </a:rPr>
              <a:t>soapenv</a:t>
            </a:r>
            <a:r>
              <a:rPr lang="en" altLang="zh-CN" sz="1350" dirty="0" err="1">
                <a:solidFill>
                  <a:srgbClr val="E8BF6A"/>
                </a:solidFill>
              </a:rPr>
              <a:t>:Envelope</a:t>
            </a:r>
            <a:r>
              <a:rPr lang="en" altLang="zh-CN" sz="1350" dirty="0">
                <a:solidFill>
                  <a:srgbClr val="E8BF6A"/>
                </a:solidFill>
              </a:rPr>
              <a:t> </a:t>
            </a:r>
            <a:r>
              <a:rPr lang="en" altLang="zh-CN" sz="1350" dirty="0" err="1">
                <a:solidFill>
                  <a:srgbClr val="BABABA"/>
                </a:solidFill>
              </a:rPr>
              <a:t>xmlns:</a:t>
            </a:r>
            <a:r>
              <a:rPr lang="en" altLang="zh-CN" sz="1350" dirty="0" err="1">
                <a:solidFill>
                  <a:srgbClr val="9876AA"/>
                </a:solidFill>
              </a:rPr>
              <a:t>soapenv</a:t>
            </a:r>
            <a:r>
              <a:rPr lang="en" altLang="zh-CN" sz="1350" dirty="0">
                <a:solidFill>
                  <a:srgbClr val="6A8759"/>
                </a:solidFill>
              </a:rPr>
              <a:t>="http://</a:t>
            </a:r>
            <a:r>
              <a:rPr lang="en" altLang="zh-CN" sz="1350" dirty="0" err="1">
                <a:solidFill>
                  <a:srgbClr val="6A8759"/>
                </a:solidFill>
              </a:rPr>
              <a:t>schemas.xmlsoap.org</a:t>
            </a:r>
            <a:r>
              <a:rPr lang="en" altLang="zh-CN" sz="1350" dirty="0">
                <a:solidFill>
                  <a:srgbClr val="6A8759"/>
                </a:solidFill>
              </a:rPr>
              <a:t>/soap/envelope/"</a:t>
            </a:r>
            <a:br>
              <a:rPr lang="en" altLang="zh-CN" sz="1350" dirty="0">
                <a:solidFill>
                  <a:srgbClr val="6A8759"/>
                </a:solidFill>
              </a:rPr>
            </a:br>
            <a:r>
              <a:rPr lang="en" altLang="zh-CN" sz="1350" dirty="0">
                <a:solidFill>
                  <a:srgbClr val="6A8759"/>
                </a:solidFill>
              </a:rPr>
              <a:t>              </a:t>
            </a:r>
            <a:r>
              <a:rPr lang="en" altLang="zh-CN" sz="1350" dirty="0" err="1">
                <a:solidFill>
                  <a:srgbClr val="BABABA"/>
                </a:solidFill>
              </a:rPr>
              <a:t>xmlns:</a:t>
            </a:r>
            <a:r>
              <a:rPr lang="en" altLang="zh-CN" sz="1350" dirty="0" err="1">
                <a:solidFill>
                  <a:srgbClr val="9876AA"/>
                </a:solidFill>
              </a:rPr>
              <a:t>gs</a:t>
            </a:r>
            <a:r>
              <a:rPr lang="en" altLang="zh-CN" sz="1350" dirty="0">
                <a:solidFill>
                  <a:srgbClr val="6A8759"/>
                </a:solidFill>
              </a:rPr>
              <a:t>="http://</a:t>
            </a:r>
            <a:r>
              <a:rPr lang="en" altLang="zh-CN" sz="1350" dirty="0" err="1">
                <a:solidFill>
                  <a:srgbClr val="6A8759"/>
                </a:solidFill>
              </a:rPr>
              <a:t>spring.io</a:t>
            </a:r>
            <a:r>
              <a:rPr lang="en" altLang="zh-CN" sz="1350" dirty="0">
                <a:solidFill>
                  <a:srgbClr val="6A8759"/>
                </a:solidFill>
              </a:rPr>
              <a:t>/guides/</a:t>
            </a:r>
            <a:r>
              <a:rPr lang="en" altLang="zh-CN" sz="1350" dirty="0" err="1">
                <a:solidFill>
                  <a:srgbClr val="6A8759"/>
                </a:solidFill>
              </a:rPr>
              <a:t>gs</a:t>
            </a:r>
            <a:r>
              <a:rPr lang="en" altLang="zh-CN" sz="1350" dirty="0">
                <a:solidFill>
                  <a:srgbClr val="6A8759"/>
                </a:solidFill>
              </a:rPr>
              <a:t>-producing-web-service"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&lt;</a:t>
            </a:r>
            <a:r>
              <a:rPr lang="en" altLang="zh-CN" sz="1350" dirty="0" err="1">
                <a:solidFill>
                  <a:srgbClr val="9876AA"/>
                </a:solidFill>
              </a:rPr>
              <a:t>soapenv</a:t>
            </a:r>
            <a:r>
              <a:rPr lang="en" altLang="zh-CN" sz="1350" dirty="0" err="1">
                <a:solidFill>
                  <a:srgbClr val="E8BF6A"/>
                </a:solidFill>
              </a:rPr>
              <a:t>:Header</a:t>
            </a:r>
            <a:r>
              <a:rPr lang="en" altLang="zh-CN" sz="1350" dirty="0">
                <a:solidFill>
                  <a:srgbClr val="E8BF6A"/>
                </a:solidFill>
              </a:rPr>
              <a:t>/&gt;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&lt;</a:t>
            </a:r>
            <a:r>
              <a:rPr lang="en" altLang="zh-CN" sz="1350" dirty="0" err="1">
                <a:solidFill>
                  <a:srgbClr val="9876AA"/>
                </a:solidFill>
              </a:rPr>
              <a:t>soapenv</a:t>
            </a:r>
            <a:r>
              <a:rPr lang="en" altLang="zh-CN" sz="1350" dirty="0" err="1">
                <a:solidFill>
                  <a:srgbClr val="E8BF6A"/>
                </a:solidFill>
              </a:rPr>
              <a:t>:Body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&lt;</a:t>
            </a:r>
            <a:r>
              <a:rPr lang="en" altLang="zh-CN" sz="1350" dirty="0" err="1">
                <a:solidFill>
                  <a:srgbClr val="9876AA"/>
                </a:solidFill>
              </a:rPr>
              <a:t>gs</a:t>
            </a:r>
            <a:r>
              <a:rPr lang="en" altLang="zh-CN" sz="1350" dirty="0" err="1">
                <a:solidFill>
                  <a:srgbClr val="E8BF6A"/>
                </a:solidFill>
              </a:rPr>
              <a:t>:getCountryRequest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&lt;</a:t>
            </a:r>
            <a:r>
              <a:rPr lang="en" altLang="zh-CN" sz="1350" dirty="0" err="1">
                <a:solidFill>
                  <a:srgbClr val="9876AA"/>
                </a:solidFill>
              </a:rPr>
              <a:t>gs</a:t>
            </a:r>
            <a:r>
              <a:rPr lang="en" altLang="zh-CN" sz="1350" dirty="0" err="1">
                <a:solidFill>
                  <a:srgbClr val="E8BF6A"/>
                </a:solidFill>
              </a:rPr>
              <a:t>:name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r>
              <a:rPr lang="en" altLang="zh-CN" sz="1350" dirty="0"/>
              <a:t>Spain</a:t>
            </a:r>
            <a:r>
              <a:rPr lang="en" altLang="zh-CN" sz="1350" dirty="0">
                <a:solidFill>
                  <a:srgbClr val="E8BF6A"/>
                </a:solidFill>
              </a:rPr>
              <a:t>&lt;/</a:t>
            </a:r>
            <a:r>
              <a:rPr lang="en" altLang="zh-CN" sz="1350" dirty="0" err="1">
                <a:solidFill>
                  <a:srgbClr val="9876AA"/>
                </a:solidFill>
              </a:rPr>
              <a:t>gs</a:t>
            </a:r>
            <a:r>
              <a:rPr lang="en" altLang="zh-CN" sz="1350" dirty="0" err="1">
                <a:solidFill>
                  <a:srgbClr val="E8BF6A"/>
                </a:solidFill>
              </a:rPr>
              <a:t>:name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&lt;/</a:t>
            </a:r>
            <a:r>
              <a:rPr lang="en" altLang="zh-CN" sz="1350" dirty="0" err="1">
                <a:solidFill>
                  <a:srgbClr val="9876AA"/>
                </a:solidFill>
              </a:rPr>
              <a:t>gs</a:t>
            </a:r>
            <a:r>
              <a:rPr lang="en" altLang="zh-CN" sz="1350" dirty="0" err="1">
                <a:solidFill>
                  <a:srgbClr val="E8BF6A"/>
                </a:solidFill>
              </a:rPr>
              <a:t>:getCountryRequest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&lt;/</a:t>
            </a:r>
            <a:r>
              <a:rPr lang="en" altLang="zh-CN" sz="1350" dirty="0" err="1">
                <a:solidFill>
                  <a:srgbClr val="9876AA"/>
                </a:solidFill>
              </a:rPr>
              <a:t>soapenv</a:t>
            </a:r>
            <a:r>
              <a:rPr lang="en" altLang="zh-CN" sz="1350" dirty="0" err="1">
                <a:solidFill>
                  <a:srgbClr val="E8BF6A"/>
                </a:solidFill>
              </a:rPr>
              <a:t>:Body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&lt;/</a:t>
            </a:r>
            <a:r>
              <a:rPr lang="en" altLang="zh-CN" sz="1350" dirty="0" err="1">
                <a:solidFill>
                  <a:srgbClr val="9876AA"/>
                </a:solidFill>
              </a:rPr>
              <a:t>soapenv</a:t>
            </a:r>
            <a:r>
              <a:rPr lang="en" altLang="zh-CN" sz="1350" dirty="0" err="1">
                <a:solidFill>
                  <a:srgbClr val="E8BF6A"/>
                </a:solidFill>
              </a:rPr>
              <a:t>:Envelope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241804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B316A-2619-F947-ABA3-9E590784D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SOAP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84DE2-CDF6-2946-A5E5-AE728665A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6512" y="771550"/>
            <a:ext cx="8784976" cy="3940924"/>
          </a:xfrm>
        </p:spPr>
        <p:txBody>
          <a:bodyPr>
            <a:normAutofit/>
          </a:bodyPr>
          <a:lstStyle/>
          <a:p>
            <a:r>
              <a:rPr kumimoji="1" lang="en-US" altLang="zh-CN" sz="1600" dirty="0"/>
              <a:t>Test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Web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Service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with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Postman</a:t>
            </a:r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ABBEF1-D84E-5042-9D96-7689F45E9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D2E47E-291B-1144-8C96-82FE6505F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1630"/>
            <a:ext cx="5364088" cy="17428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2C9E80-ECAF-3F47-BE47-265A00950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327" y="627534"/>
            <a:ext cx="5408673" cy="450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1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ACE49-95F1-D845-B772-843D61CE4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Consuming</a:t>
            </a:r>
            <a:r>
              <a:rPr kumimoji="1" lang="zh-CN" altLang="en-US" dirty="0"/>
              <a:t> </a:t>
            </a:r>
            <a:r>
              <a:rPr kumimoji="1" lang="en" altLang="zh-CN" dirty="0"/>
              <a:t>a SOAP web 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40C7F2-FEDD-F44B-9BD1-570140B74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pom.xml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FA4656-F457-C94A-9288-D962C210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BD9184-49F4-354B-BC20-B199E27B7DC5}"/>
              </a:ext>
            </a:extLst>
          </p:cNvPr>
          <p:cNvSpPr/>
          <p:nvPr/>
        </p:nvSpPr>
        <p:spPr>
          <a:xfrm>
            <a:off x="1331640" y="1059583"/>
            <a:ext cx="6264696" cy="3208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</a:t>
            </a:r>
            <a:r>
              <a:rPr lang="en" altLang="zh-CN" sz="1350" dirty="0">
                <a:solidFill>
                  <a:srgbClr val="808080"/>
                </a:solidFill>
              </a:rPr>
              <a:t>&lt;!-- tag::dependency[] --&gt;</a:t>
            </a:r>
            <a:br>
              <a:rPr lang="en" altLang="zh-CN" sz="1350" dirty="0">
                <a:solidFill>
                  <a:srgbClr val="808080"/>
                </a:solidFill>
              </a:rPr>
            </a:br>
            <a:r>
              <a:rPr lang="en" altLang="zh-CN" sz="1350" dirty="0">
                <a:solidFill>
                  <a:srgbClr val="808080"/>
                </a:solidFill>
              </a:rPr>
              <a:t>      </a:t>
            </a:r>
            <a:r>
              <a:rPr lang="en" altLang="zh-CN" sz="1350" dirty="0">
                <a:solidFill>
                  <a:srgbClr val="E8BF6A"/>
                </a:solidFill>
              </a:rPr>
              <a:t>&lt;dependency&gt;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&lt;</a:t>
            </a:r>
            <a:r>
              <a:rPr lang="en" altLang="zh-CN" sz="1350" dirty="0" err="1">
                <a:solidFill>
                  <a:srgbClr val="E8BF6A"/>
                </a:solidFill>
              </a:rPr>
              <a:t>groupId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r>
              <a:rPr lang="en" altLang="zh-CN" sz="1350" dirty="0" err="1"/>
              <a:t>org.springframework.boot</a:t>
            </a:r>
            <a:r>
              <a:rPr lang="en" altLang="zh-CN" sz="1350" dirty="0">
                <a:solidFill>
                  <a:srgbClr val="E8BF6A"/>
                </a:solidFill>
              </a:rPr>
              <a:t>&lt;/</a:t>
            </a:r>
            <a:r>
              <a:rPr lang="en" altLang="zh-CN" sz="1350" dirty="0" err="1">
                <a:solidFill>
                  <a:srgbClr val="E8BF6A"/>
                </a:solidFill>
              </a:rPr>
              <a:t>groupId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&lt;</a:t>
            </a:r>
            <a:r>
              <a:rPr lang="en" altLang="zh-CN" sz="1350" dirty="0" err="1">
                <a:solidFill>
                  <a:srgbClr val="E8BF6A"/>
                </a:solidFill>
              </a:rPr>
              <a:t>artifactId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r>
              <a:rPr lang="en" altLang="zh-CN" sz="1350" dirty="0"/>
              <a:t>spring-boot-starter-web-services</a:t>
            </a:r>
            <a:r>
              <a:rPr lang="en" altLang="zh-CN" sz="1350" dirty="0">
                <a:solidFill>
                  <a:srgbClr val="E8BF6A"/>
                </a:solidFill>
              </a:rPr>
              <a:t>&lt;/</a:t>
            </a:r>
            <a:r>
              <a:rPr lang="en" altLang="zh-CN" sz="1350" dirty="0" err="1">
                <a:solidFill>
                  <a:srgbClr val="E8BF6A"/>
                </a:solidFill>
              </a:rPr>
              <a:t>artifactId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&lt;exclusions&gt;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&lt;exclusion&gt;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   &lt;</a:t>
            </a:r>
            <a:r>
              <a:rPr lang="en" altLang="zh-CN" sz="1350" dirty="0" err="1">
                <a:solidFill>
                  <a:srgbClr val="E8BF6A"/>
                </a:solidFill>
              </a:rPr>
              <a:t>groupId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r>
              <a:rPr lang="en" altLang="zh-CN" sz="1350" dirty="0" err="1"/>
              <a:t>org.springframework.boot</a:t>
            </a:r>
            <a:r>
              <a:rPr lang="en" altLang="zh-CN" sz="1350" dirty="0">
                <a:solidFill>
                  <a:srgbClr val="E8BF6A"/>
                </a:solidFill>
              </a:rPr>
              <a:t>&lt;/</a:t>
            </a:r>
            <a:r>
              <a:rPr lang="en" altLang="zh-CN" sz="1350" dirty="0" err="1">
                <a:solidFill>
                  <a:srgbClr val="E8BF6A"/>
                </a:solidFill>
              </a:rPr>
              <a:t>groupId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   &lt;</a:t>
            </a:r>
            <a:r>
              <a:rPr lang="en" altLang="zh-CN" sz="1350" dirty="0" err="1">
                <a:solidFill>
                  <a:srgbClr val="E8BF6A"/>
                </a:solidFill>
              </a:rPr>
              <a:t>artifactId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r>
              <a:rPr lang="en" altLang="zh-CN" sz="1350" dirty="0"/>
              <a:t>spring-boot-starter-tomcat</a:t>
            </a:r>
            <a:r>
              <a:rPr lang="en" altLang="zh-CN" sz="1350" dirty="0">
                <a:solidFill>
                  <a:srgbClr val="E8BF6A"/>
                </a:solidFill>
              </a:rPr>
              <a:t>&lt;/</a:t>
            </a:r>
            <a:r>
              <a:rPr lang="en" altLang="zh-CN" sz="1350" dirty="0" err="1">
                <a:solidFill>
                  <a:srgbClr val="E8BF6A"/>
                </a:solidFill>
              </a:rPr>
              <a:t>artifactId</a:t>
            </a:r>
            <a:r>
              <a:rPr lang="en" altLang="zh-CN" sz="1350" dirty="0">
                <a:solidFill>
                  <a:srgbClr val="E8BF6A"/>
                </a:solidFill>
              </a:rPr>
              <a:t>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   &lt;/exclusion&gt;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   &lt;/exclusions&gt;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&lt;/dependency&gt;</a:t>
            </a: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   </a:t>
            </a:r>
            <a:r>
              <a:rPr lang="en" altLang="zh-CN" sz="1350" dirty="0">
                <a:solidFill>
                  <a:srgbClr val="808080"/>
                </a:solidFill>
              </a:rPr>
              <a:t>&lt;!-- end::dependency[] --&gt;</a:t>
            </a:r>
            <a:br>
              <a:rPr lang="en" altLang="zh-CN" sz="1350" dirty="0">
                <a:solidFill>
                  <a:srgbClr val="808080"/>
                </a:solidFill>
              </a:rPr>
            </a:br>
            <a:br>
              <a:rPr lang="en" altLang="zh-CN" sz="1350" dirty="0">
                <a:solidFill>
                  <a:srgbClr val="E8BF6A"/>
                </a:solidFill>
              </a:rPr>
            </a:br>
            <a:r>
              <a:rPr lang="en" altLang="zh-CN" sz="1350" dirty="0">
                <a:solidFill>
                  <a:srgbClr val="E8BF6A"/>
                </a:solidFill>
              </a:rPr>
              <a:t>   </a:t>
            </a:r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9731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ACE49-95F1-D845-B772-843D61CE4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Consuming</a:t>
            </a:r>
            <a:r>
              <a:rPr kumimoji="1" lang="zh-CN" altLang="en-US" dirty="0"/>
              <a:t> </a:t>
            </a:r>
            <a:r>
              <a:rPr kumimoji="1" lang="en" altLang="zh-CN" dirty="0"/>
              <a:t>a SOAP web 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40C7F2-FEDD-F44B-9BD1-570140B74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01288"/>
            <a:ext cx="6588732" cy="3940924"/>
          </a:xfrm>
        </p:spPr>
        <p:txBody>
          <a:bodyPr/>
          <a:lstStyle/>
          <a:p>
            <a:r>
              <a:rPr kumimoji="1" lang="en-US" altLang="zh-CN" dirty="0" err="1"/>
              <a:t>pom.xml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FA4656-F457-C94A-9288-D962C210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BD9184-49F4-354B-BC20-B199E27B7DC5}"/>
              </a:ext>
            </a:extLst>
          </p:cNvPr>
          <p:cNvSpPr/>
          <p:nvPr/>
        </p:nvSpPr>
        <p:spPr>
          <a:xfrm>
            <a:off x="1439652" y="739025"/>
            <a:ext cx="6264696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i="1" dirty="0">
                <a:solidFill>
                  <a:srgbClr val="8C8C8C"/>
                </a:solidFill>
                <a:effectLst/>
                <a:latin typeface="JetBrains Mono"/>
              </a:rPr>
              <a:t>&lt;!-- tag::</a:t>
            </a:r>
            <a:r>
              <a:rPr lang="en" altLang="zh-CN" sz="1100" i="1" dirty="0" err="1">
                <a:solidFill>
                  <a:srgbClr val="8C8C8C"/>
                </a:solidFill>
                <a:effectLst/>
                <a:latin typeface="JetBrains Mono"/>
              </a:rPr>
              <a:t>wsdl</a:t>
            </a:r>
            <a:r>
              <a:rPr lang="en" altLang="zh-CN" sz="1100" i="1" dirty="0">
                <a:solidFill>
                  <a:srgbClr val="8C8C8C"/>
                </a:solidFill>
                <a:effectLst/>
                <a:latin typeface="JetBrains Mono"/>
              </a:rPr>
              <a:t>[] --&gt;</a:t>
            </a:r>
            <a:br>
              <a:rPr lang="en" altLang="zh-CN" sz="11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plugin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&lt;</a:t>
            </a:r>
            <a:r>
              <a:rPr lang="en" altLang="zh-CN" sz="1100" dirty="0" err="1">
                <a:solidFill>
                  <a:srgbClr val="0033B3"/>
                </a:solidFill>
                <a:effectLst/>
                <a:latin typeface="JetBrains Mono"/>
              </a:rPr>
              <a:t>groupId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r>
              <a:rPr lang="en" altLang="zh-CN" sz="1100" dirty="0" err="1">
                <a:solidFill>
                  <a:srgbClr val="080808"/>
                </a:solidFill>
                <a:effectLst/>
                <a:latin typeface="JetBrains Mono"/>
              </a:rPr>
              <a:t>com.sun.xml.ws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&lt;/</a:t>
            </a:r>
            <a:r>
              <a:rPr lang="en" altLang="zh-CN" sz="1100" dirty="0" err="1">
                <a:solidFill>
                  <a:srgbClr val="0033B3"/>
                </a:solidFill>
                <a:effectLst/>
                <a:latin typeface="JetBrains Mono"/>
              </a:rPr>
              <a:t>groupId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&lt;</a:t>
            </a:r>
            <a:r>
              <a:rPr lang="en" altLang="zh-CN" sz="1100" dirty="0" err="1">
                <a:solidFill>
                  <a:srgbClr val="0033B3"/>
                </a:solidFill>
                <a:effectLst/>
                <a:latin typeface="JetBrains Mono"/>
              </a:rPr>
              <a:t>artifactId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r>
              <a:rPr lang="en" altLang="zh-CN" sz="1100" dirty="0" err="1">
                <a:solidFill>
                  <a:srgbClr val="080808"/>
                </a:solidFill>
                <a:effectLst/>
                <a:latin typeface="JetBrains Mono"/>
              </a:rPr>
              <a:t>jaxws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-maven-plugin&lt;/</a:t>
            </a:r>
            <a:r>
              <a:rPr lang="en" altLang="zh-CN" sz="1100" dirty="0" err="1">
                <a:solidFill>
                  <a:srgbClr val="0033B3"/>
                </a:solidFill>
                <a:effectLst/>
                <a:latin typeface="JetBrains Mono"/>
              </a:rPr>
              <a:t>artifactId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&lt;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version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&gt;3.0.0&lt;/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version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&lt;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executions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    &lt;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execution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        &lt;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goals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            &lt;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goal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r>
              <a:rPr lang="en" altLang="zh-CN" sz="1100" dirty="0" err="1">
                <a:solidFill>
                  <a:srgbClr val="080808"/>
                </a:solidFill>
                <a:effectLst/>
                <a:latin typeface="JetBrains Mono"/>
              </a:rPr>
              <a:t>wsimport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&lt;/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goal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        &lt;/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goals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    &lt;/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execution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&lt;/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executions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&lt;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configuration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    &lt;</a:t>
            </a:r>
            <a:r>
              <a:rPr lang="en" altLang="zh-CN" sz="1100" dirty="0" err="1">
                <a:solidFill>
                  <a:srgbClr val="0033B3"/>
                </a:solidFill>
                <a:effectLst/>
                <a:latin typeface="JetBrains Mono"/>
              </a:rPr>
              <a:t>packageName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&gt;org.reins.se3353.se3353_9_soapwsconsumer.wsdl&lt;/</a:t>
            </a:r>
            <a:r>
              <a:rPr lang="en" altLang="zh-CN" sz="1100" dirty="0" err="1">
                <a:solidFill>
                  <a:srgbClr val="0033B3"/>
                </a:solidFill>
                <a:effectLst/>
                <a:latin typeface="JetBrains Mono"/>
              </a:rPr>
              <a:t>packageName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    &lt;</a:t>
            </a:r>
            <a:r>
              <a:rPr lang="en" altLang="zh-CN" sz="1100" dirty="0" err="1">
                <a:solidFill>
                  <a:srgbClr val="0033B3"/>
                </a:solidFill>
                <a:effectLst/>
                <a:latin typeface="JetBrains Mono"/>
              </a:rPr>
              <a:t>wsdlUrls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        &lt;</a:t>
            </a:r>
            <a:r>
              <a:rPr lang="en" altLang="zh-CN" sz="1100" dirty="0" err="1">
                <a:solidFill>
                  <a:srgbClr val="0033B3"/>
                </a:solidFill>
                <a:effectLst/>
                <a:latin typeface="JetBrains Mono"/>
              </a:rPr>
              <a:t>wsdlUrl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&gt;http://localhost:8080/</a:t>
            </a:r>
            <a:r>
              <a:rPr lang="en" altLang="zh-CN" sz="1100" dirty="0" err="1"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/</a:t>
            </a:r>
            <a:r>
              <a:rPr lang="en" altLang="zh-CN" sz="1100" dirty="0" err="1">
                <a:solidFill>
                  <a:srgbClr val="080808"/>
                </a:solidFill>
                <a:effectLst/>
                <a:latin typeface="JetBrains Mono"/>
              </a:rPr>
              <a:t>countries.wsdl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&lt;/</a:t>
            </a:r>
            <a:r>
              <a:rPr lang="en" altLang="zh-CN" sz="1100" dirty="0" err="1">
                <a:solidFill>
                  <a:srgbClr val="0033B3"/>
                </a:solidFill>
                <a:effectLst/>
                <a:latin typeface="JetBrains Mono"/>
              </a:rPr>
              <a:t>wsdlUrl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    &lt;/</a:t>
            </a:r>
            <a:r>
              <a:rPr lang="en" altLang="zh-CN" sz="1100" dirty="0" err="1">
                <a:solidFill>
                  <a:srgbClr val="0033B3"/>
                </a:solidFill>
                <a:effectLst/>
                <a:latin typeface="JetBrains Mono"/>
              </a:rPr>
              <a:t>wsdlUrls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    &lt;</a:t>
            </a:r>
            <a:r>
              <a:rPr lang="en" altLang="zh-CN" sz="1100" dirty="0" err="1">
                <a:solidFill>
                  <a:srgbClr val="0033B3"/>
                </a:solidFill>
                <a:effectLst/>
                <a:latin typeface="JetBrains Mono"/>
              </a:rPr>
              <a:t>sourceDestDir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&gt;${</a:t>
            </a:r>
            <a:r>
              <a:rPr lang="en" altLang="zh-CN" sz="1100" dirty="0" err="1">
                <a:solidFill>
                  <a:srgbClr val="080808"/>
                </a:solidFill>
                <a:effectLst/>
                <a:latin typeface="JetBrains Mono"/>
              </a:rPr>
              <a:t>sourcesDir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}&lt;/</a:t>
            </a:r>
            <a:r>
              <a:rPr lang="en" altLang="zh-CN" sz="1100" dirty="0" err="1">
                <a:solidFill>
                  <a:srgbClr val="0033B3"/>
                </a:solidFill>
                <a:effectLst/>
                <a:latin typeface="JetBrains Mono"/>
              </a:rPr>
              <a:t>sourceDestDir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    &lt;</a:t>
            </a:r>
            <a:r>
              <a:rPr lang="en" altLang="zh-CN" sz="1100" dirty="0" err="1">
                <a:solidFill>
                  <a:srgbClr val="0033B3"/>
                </a:solidFill>
                <a:effectLst/>
                <a:latin typeface="JetBrains Mono"/>
              </a:rPr>
              <a:t>destDir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&gt;${</a:t>
            </a:r>
            <a:r>
              <a:rPr lang="en" altLang="zh-CN" sz="1100" dirty="0" err="1">
                <a:solidFill>
                  <a:srgbClr val="080808"/>
                </a:solidFill>
                <a:effectLst/>
                <a:latin typeface="JetBrains Mono"/>
              </a:rPr>
              <a:t>classesDir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}&lt;/</a:t>
            </a:r>
            <a:r>
              <a:rPr lang="en" altLang="zh-CN" sz="1100" dirty="0" err="1">
                <a:solidFill>
                  <a:srgbClr val="0033B3"/>
                </a:solidFill>
                <a:effectLst/>
                <a:latin typeface="JetBrains Mono"/>
              </a:rPr>
              <a:t>destDir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    &lt;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extension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&gt;true&lt;/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extension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    &lt;/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configuration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&lt;/</a:t>
            </a:r>
            <a:r>
              <a:rPr lang="en" altLang="zh-CN" sz="1100" dirty="0">
                <a:solidFill>
                  <a:srgbClr val="0033B3"/>
                </a:solidFill>
                <a:effectLst/>
                <a:latin typeface="JetBrains Mono"/>
              </a:rPr>
              <a:t>plugin</a:t>
            </a:r>
            <a: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" altLang="zh-CN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" altLang="zh-CN" sz="1100" i="1" dirty="0">
                <a:solidFill>
                  <a:srgbClr val="8C8C8C"/>
                </a:solidFill>
                <a:effectLst/>
                <a:latin typeface="JetBrains Mono"/>
              </a:rPr>
              <a:t>&lt;!-- end::</a:t>
            </a:r>
            <a:r>
              <a:rPr lang="en" altLang="zh-CN" sz="1100" i="1" dirty="0" err="1">
                <a:solidFill>
                  <a:srgbClr val="8C8C8C"/>
                </a:solidFill>
                <a:effectLst/>
                <a:latin typeface="JetBrains Mono"/>
              </a:rPr>
              <a:t>wsdl</a:t>
            </a:r>
            <a:r>
              <a:rPr lang="en" altLang="zh-CN" sz="1100" i="1" dirty="0">
                <a:solidFill>
                  <a:srgbClr val="8C8C8C"/>
                </a:solidFill>
                <a:effectLst/>
                <a:latin typeface="JetBrains Mono"/>
              </a:rPr>
              <a:t>[] --&gt;</a:t>
            </a:r>
            <a:endParaRPr lang="en" altLang="zh-CN" sz="11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62367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ACE49-95F1-D845-B772-843D61CE4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Consuming</a:t>
            </a:r>
            <a:r>
              <a:rPr kumimoji="1" lang="zh-CN" altLang="en-US" dirty="0"/>
              <a:t> </a:t>
            </a:r>
            <a:r>
              <a:rPr kumimoji="1" lang="en" altLang="zh-CN" dirty="0"/>
              <a:t>a SOAP web 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40C7F2-FEDD-F44B-9BD1-570140B74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89" y="699542"/>
            <a:ext cx="6588732" cy="3940924"/>
          </a:xfrm>
        </p:spPr>
        <p:txBody>
          <a:bodyPr>
            <a:normAutofit/>
          </a:bodyPr>
          <a:lstStyle/>
          <a:p>
            <a:r>
              <a:rPr kumimoji="1" lang="en-US" altLang="zh-CN" sz="1500" dirty="0" err="1"/>
              <a:t>CountryClient.class</a:t>
            </a:r>
            <a:endParaRPr kumimoji="1" lang="zh-CN" altLang="en-US" sz="15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FA4656-F457-C94A-9288-D962C210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42E829-ED4A-B641-AFCB-1F0A68605C9E}"/>
              </a:ext>
            </a:extLst>
          </p:cNvPr>
          <p:cNvSpPr/>
          <p:nvPr/>
        </p:nvSpPr>
        <p:spPr>
          <a:xfrm>
            <a:off x="1490656" y="919267"/>
            <a:ext cx="7041783" cy="4039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350" dirty="0">
                <a:solidFill>
                  <a:srgbClr val="CC7832"/>
                </a:solidFill>
              </a:rPr>
              <a:t>public class </a:t>
            </a:r>
            <a:r>
              <a:rPr lang="en" altLang="zh-CN" sz="1350" dirty="0" err="1"/>
              <a:t>CountryClient</a:t>
            </a:r>
            <a:r>
              <a:rPr lang="en" altLang="zh-CN" sz="1350" dirty="0"/>
              <a:t> </a:t>
            </a:r>
            <a:r>
              <a:rPr lang="en" altLang="zh-CN" sz="1350" dirty="0">
                <a:solidFill>
                  <a:srgbClr val="CC7832"/>
                </a:solidFill>
              </a:rPr>
              <a:t>extends </a:t>
            </a:r>
            <a:r>
              <a:rPr lang="en" altLang="zh-CN" sz="1350" dirty="0" err="1"/>
              <a:t>WebServiceGatewaySupport</a:t>
            </a:r>
            <a:r>
              <a:rPr lang="en" altLang="zh-CN" sz="1350" dirty="0"/>
              <a:t> {</a:t>
            </a:r>
            <a:br>
              <a:rPr lang="en" altLang="zh-CN" sz="1350" dirty="0"/>
            </a:br>
            <a:br>
              <a:rPr lang="en" altLang="zh-CN" sz="1350" dirty="0"/>
            </a:br>
            <a:r>
              <a:rPr lang="en" altLang="zh-CN" sz="1350" dirty="0"/>
              <a:t>   </a:t>
            </a:r>
            <a:r>
              <a:rPr lang="en" altLang="zh-CN" sz="1350" dirty="0">
                <a:solidFill>
                  <a:srgbClr val="CC7832"/>
                </a:solidFill>
              </a:rPr>
              <a:t>private static final </a:t>
            </a:r>
            <a:r>
              <a:rPr lang="en" altLang="zh-CN" sz="1350" dirty="0"/>
              <a:t>Logger </a:t>
            </a:r>
            <a:r>
              <a:rPr lang="en" altLang="zh-CN" sz="1350" i="1" dirty="0">
                <a:solidFill>
                  <a:srgbClr val="9876AA"/>
                </a:solidFill>
              </a:rPr>
              <a:t>log </a:t>
            </a:r>
            <a:r>
              <a:rPr lang="en" altLang="zh-CN" sz="1350" dirty="0"/>
              <a:t>= </a:t>
            </a:r>
            <a:r>
              <a:rPr lang="en" altLang="zh-CN" sz="1350" dirty="0" err="1"/>
              <a:t>LoggerFactory.</a:t>
            </a:r>
            <a:r>
              <a:rPr lang="en" altLang="zh-CN" sz="1350" i="1" dirty="0" err="1"/>
              <a:t>getLogger</a:t>
            </a:r>
            <a:r>
              <a:rPr lang="en" altLang="zh-CN" sz="1350" dirty="0"/>
              <a:t>(</a:t>
            </a:r>
            <a:r>
              <a:rPr lang="en" altLang="zh-CN" sz="1350" dirty="0" err="1"/>
              <a:t>CountryClient.</a:t>
            </a:r>
            <a:r>
              <a:rPr lang="en" altLang="zh-CN" sz="1350" dirty="0" err="1">
                <a:solidFill>
                  <a:srgbClr val="CC7832"/>
                </a:solidFill>
              </a:rPr>
              <a:t>class</a:t>
            </a:r>
            <a:r>
              <a:rPr lang="en" altLang="zh-CN" sz="1350" dirty="0"/>
              <a:t>)</a:t>
            </a:r>
            <a:r>
              <a:rPr lang="en" altLang="zh-CN" sz="1350" dirty="0">
                <a:solidFill>
                  <a:srgbClr val="CC7832"/>
                </a:solidFill>
              </a:rPr>
              <a:t>;</a:t>
            </a:r>
            <a:br>
              <a:rPr lang="en" altLang="zh-CN" sz="1350" dirty="0">
                <a:solidFill>
                  <a:srgbClr val="CC7832"/>
                </a:solidFill>
              </a:rPr>
            </a:br>
            <a:br>
              <a:rPr lang="en" altLang="zh-CN" sz="1350" dirty="0">
                <a:solidFill>
                  <a:srgbClr val="CC7832"/>
                </a:solidFill>
              </a:rPr>
            </a:br>
            <a:r>
              <a:rPr lang="en" altLang="zh-CN" sz="1350" dirty="0">
                <a:solidFill>
                  <a:srgbClr val="CC7832"/>
                </a:solidFill>
              </a:rPr>
              <a:t>   public </a:t>
            </a:r>
            <a:r>
              <a:rPr lang="en" altLang="zh-CN" sz="1350" dirty="0" err="1"/>
              <a:t>GetCountryResponse</a:t>
            </a:r>
            <a:r>
              <a:rPr lang="en" altLang="zh-CN" sz="1350" dirty="0"/>
              <a:t> </a:t>
            </a:r>
            <a:r>
              <a:rPr lang="en" altLang="zh-CN" sz="1350" dirty="0" err="1">
                <a:solidFill>
                  <a:srgbClr val="FFC66D"/>
                </a:solidFill>
              </a:rPr>
              <a:t>getCountry</a:t>
            </a:r>
            <a:r>
              <a:rPr lang="en" altLang="zh-CN" sz="1350" dirty="0"/>
              <a:t>(String country) {</a:t>
            </a:r>
            <a:br>
              <a:rPr lang="en" altLang="zh-CN" sz="1350" dirty="0"/>
            </a:br>
            <a:br>
              <a:rPr lang="en" altLang="zh-CN" sz="1350" dirty="0"/>
            </a:br>
            <a:r>
              <a:rPr lang="en" altLang="zh-CN" sz="1350" dirty="0"/>
              <a:t>      </a:t>
            </a:r>
            <a:r>
              <a:rPr lang="en" altLang="zh-CN" sz="1350" dirty="0" err="1"/>
              <a:t>GetCountryRequest</a:t>
            </a:r>
            <a:r>
              <a:rPr lang="en" altLang="zh-CN" sz="1350" dirty="0"/>
              <a:t> request = </a:t>
            </a:r>
            <a:r>
              <a:rPr lang="en" altLang="zh-CN" sz="1350" dirty="0">
                <a:solidFill>
                  <a:srgbClr val="CC7832"/>
                </a:solidFill>
              </a:rPr>
              <a:t>new </a:t>
            </a:r>
            <a:r>
              <a:rPr lang="en" altLang="zh-CN" sz="1350" dirty="0" err="1"/>
              <a:t>GetCountryRequest</a:t>
            </a:r>
            <a:r>
              <a:rPr lang="en" altLang="zh-CN" sz="1350" dirty="0"/>
              <a:t>()</a:t>
            </a:r>
            <a:r>
              <a:rPr lang="en" altLang="zh-CN" sz="1350" dirty="0">
                <a:solidFill>
                  <a:srgbClr val="CC7832"/>
                </a:solidFill>
              </a:rPr>
              <a:t>;</a:t>
            </a:r>
            <a:br>
              <a:rPr lang="en" altLang="zh-CN" sz="1350" dirty="0">
                <a:solidFill>
                  <a:srgbClr val="CC7832"/>
                </a:solidFill>
              </a:rPr>
            </a:br>
            <a:r>
              <a:rPr lang="en" altLang="zh-CN" sz="1350" dirty="0">
                <a:solidFill>
                  <a:srgbClr val="CC7832"/>
                </a:solidFill>
              </a:rPr>
              <a:t>      </a:t>
            </a:r>
            <a:r>
              <a:rPr lang="en" altLang="zh-CN" sz="1350" dirty="0" err="1"/>
              <a:t>request.setName</a:t>
            </a:r>
            <a:r>
              <a:rPr lang="en" altLang="zh-CN" sz="1350" dirty="0"/>
              <a:t>(country)</a:t>
            </a:r>
            <a:r>
              <a:rPr lang="en" altLang="zh-CN" sz="1350" dirty="0">
                <a:solidFill>
                  <a:srgbClr val="CC7832"/>
                </a:solidFill>
              </a:rPr>
              <a:t>;</a:t>
            </a:r>
            <a:br>
              <a:rPr lang="en" altLang="zh-CN" sz="1350" dirty="0">
                <a:solidFill>
                  <a:srgbClr val="CC7832"/>
                </a:solidFill>
              </a:rPr>
            </a:br>
            <a:br>
              <a:rPr lang="en" altLang="zh-CN" sz="1350" dirty="0">
                <a:solidFill>
                  <a:srgbClr val="CC7832"/>
                </a:solidFill>
              </a:rPr>
            </a:br>
            <a:r>
              <a:rPr lang="en" altLang="zh-CN" sz="1350" dirty="0">
                <a:solidFill>
                  <a:srgbClr val="CC7832"/>
                </a:solidFill>
              </a:rPr>
              <a:t>      </a:t>
            </a:r>
            <a:r>
              <a:rPr lang="en" altLang="zh-CN" sz="1350" i="1" dirty="0" err="1">
                <a:solidFill>
                  <a:srgbClr val="9876AA"/>
                </a:solidFill>
              </a:rPr>
              <a:t>log</a:t>
            </a:r>
            <a:r>
              <a:rPr lang="en" altLang="zh-CN" sz="1350" dirty="0" err="1"/>
              <a:t>.info</a:t>
            </a:r>
            <a:r>
              <a:rPr lang="en" altLang="zh-CN" sz="1350" dirty="0"/>
              <a:t>(</a:t>
            </a:r>
            <a:r>
              <a:rPr lang="en" altLang="zh-CN" sz="1350" dirty="0">
                <a:solidFill>
                  <a:srgbClr val="6A8759"/>
                </a:solidFill>
              </a:rPr>
              <a:t>"Requesting location for " </a:t>
            </a:r>
            <a:r>
              <a:rPr lang="en" altLang="zh-CN" sz="1350" dirty="0"/>
              <a:t>+ country)</a:t>
            </a:r>
            <a:r>
              <a:rPr lang="en" altLang="zh-CN" sz="1350" dirty="0">
                <a:solidFill>
                  <a:srgbClr val="CC7832"/>
                </a:solidFill>
              </a:rPr>
              <a:t>;</a:t>
            </a:r>
            <a:br>
              <a:rPr lang="en" altLang="zh-CN" sz="1350" dirty="0">
                <a:solidFill>
                  <a:srgbClr val="CC7832"/>
                </a:solidFill>
              </a:rPr>
            </a:br>
            <a:br>
              <a:rPr lang="en" altLang="zh-CN" sz="1350" dirty="0">
                <a:solidFill>
                  <a:srgbClr val="CC7832"/>
                </a:solidFill>
              </a:rPr>
            </a:br>
            <a:r>
              <a:rPr lang="en" altLang="zh-CN" sz="1350" dirty="0">
                <a:solidFill>
                  <a:srgbClr val="CC7832"/>
                </a:solidFill>
              </a:rPr>
              <a:t>      </a:t>
            </a:r>
            <a:r>
              <a:rPr lang="en" altLang="zh-CN" sz="1350" dirty="0" err="1"/>
              <a:t>GetCountryResponse</a:t>
            </a:r>
            <a:r>
              <a:rPr lang="en" altLang="zh-CN" sz="1350" dirty="0"/>
              <a:t> response = (</a:t>
            </a:r>
            <a:r>
              <a:rPr lang="en" altLang="zh-CN" sz="1350" dirty="0" err="1"/>
              <a:t>GetCountryResponse</a:t>
            </a:r>
            <a:r>
              <a:rPr lang="en" altLang="zh-CN" sz="1350" dirty="0"/>
              <a:t>) </a:t>
            </a:r>
            <a:r>
              <a:rPr lang="en" altLang="zh-CN" sz="1350" dirty="0" err="1"/>
              <a:t>getWebServiceTemplate</a:t>
            </a:r>
            <a:r>
              <a:rPr lang="en" altLang="zh-CN" sz="1350" dirty="0"/>
              <a:t>()</a:t>
            </a:r>
            <a:br>
              <a:rPr lang="en" altLang="zh-CN" sz="1350" dirty="0"/>
            </a:br>
            <a:r>
              <a:rPr lang="en" altLang="zh-CN" sz="1350" dirty="0"/>
              <a:t>            .</a:t>
            </a:r>
            <a:r>
              <a:rPr lang="en" altLang="zh-CN" sz="1350" dirty="0" err="1"/>
              <a:t>marshalSendAndReceive</a:t>
            </a:r>
            <a:r>
              <a:rPr lang="en" altLang="zh-CN" sz="1350" dirty="0"/>
              <a:t>(</a:t>
            </a:r>
            <a:r>
              <a:rPr lang="en" altLang="zh-CN" sz="1350" dirty="0">
                <a:solidFill>
                  <a:srgbClr val="6A8759"/>
                </a:solidFill>
              </a:rPr>
              <a:t>"http://localhost:8080/</a:t>
            </a:r>
            <a:r>
              <a:rPr lang="en" altLang="zh-CN" sz="1350" dirty="0" err="1">
                <a:solidFill>
                  <a:srgbClr val="6A8759"/>
                </a:solidFill>
              </a:rPr>
              <a:t>ws</a:t>
            </a:r>
            <a:r>
              <a:rPr lang="en" altLang="zh-CN" sz="1350" dirty="0">
                <a:solidFill>
                  <a:srgbClr val="6A8759"/>
                </a:solidFill>
              </a:rPr>
              <a:t>/countries"</a:t>
            </a:r>
            <a:r>
              <a:rPr lang="en" altLang="zh-CN" sz="1350" dirty="0">
                <a:solidFill>
                  <a:srgbClr val="CC7832"/>
                </a:solidFill>
              </a:rPr>
              <a:t>, </a:t>
            </a:r>
            <a:r>
              <a:rPr lang="en" altLang="zh-CN" sz="1350" dirty="0"/>
              <a:t>request</a:t>
            </a:r>
            <a:r>
              <a:rPr lang="en" altLang="zh-CN" sz="1350" dirty="0">
                <a:solidFill>
                  <a:srgbClr val="CC7832"/>
                </a:solidFill>
              </a:rPr>
              <a:t>,</a:t>
            </a:r>
            <a:br>
              <a:rPr lang="en" altLang="zh-CN" sz="1350" dirty="0">
                <a:solidFill>
                  <a:srgbClr val="CC7832"/>
                </a:solidFill>
              </a:rPr>
            </a:br>
            <a:r>
              <a:rPr lang="en" altLang="zh-CN" sz="1350" dirty="0">
                <a:solidFill>
                  <a:srgbClr val="CC7832"/>
                </a:solidFill>
              </a:rPr>
              <a:t>                  new </a:t>
            </a:r>
            <a:r>
              <a:rPr lang="en" altLang="zh-CN" sz="1350" dirty="0" err="1"/>
              <a:t>SoapActionCallback</a:t>
            </a:r>
            <a:r>
              <a:rPr lang="en" altLang="zh-CN" sz="1350" dirty="0"/>
              <a:t>(</a:t>
            </a:r>
            <a:br>
              <a:rPr lang="en" altLang="zh-CN" sz="1350" dirty="0"/>
            </a:br>
            <a:r>
              <a:rPr lang="en" altLang="zh-CN" sz="1350" dirty="0"/>
              <a:t>                        </a:t>
            </a:r>
            <a:r>
              <a:rPr lang="en" altLang="zh-CN" sz="1350" dirty="0">
                <a:solidFill>
                  <a:srgbClr val="6A8759"/>
                </a:solidFill>
              </a:rPr>
              <a:t>"http://</a:t>
            </a:r>
            <a:r>
              <a:rPr lang="en" altLang="zh-CN" sz="1350" dirty="0" err="1">
                <a:solidFill>
                  <a:srgbClr val="6A8759"/>
                </a:solidFill>
              </a:rPr>
              <a:t>spring.io</a:t>
            </a:r>
            <a:r>
              <a:rPr lang="en" altLang="zh-CN" sz="1350" dirty="0">
                <a:solidFill>
                  <a:srgbClr val="6A8759"/>
                </a:solidFill>
              </a:rPr>
              <a:t>/guides/</a:t>
            </a:r>
            <a:r>
              <a:rPr lang="en" altLang="zh-CN" sz="1350" dirty="0" err="1">
                <a:solidFill>
                  <a:srgbClr val="6A8759"/>
                </a:solidFill>
              </a:rPr>
              <a:t>gs</a:t>
            </a:r>
            <a:r>
              <a:rPr lang="en" altLang="zh-CN" sz="1350" dirty="0">
                <a:solidFill>
                  <a:srgbClr val="6A8759"/>
                </a:solidFill>
              </a:rPr>
              <a:t>-producing-web-service/</a:t>
            </a:r>
            <a:r>
              <a:rPr lang="en" altLang="zh-CN" sz="1350" dirty="0" err="1">
                <a:solidFill>
                  <a:srgbClr val="6A8759"/>
                </a:solidFill>
              </a:rPr>
              <a:t>GetCountryRequest</a:t>
            </a:r>
            <a:r>
              <a:rPr lang="en" altLang="zh-CN" sz="1350" dirty="0">
                <a:solidFill>
                  <a:srgbClr val="6A8759"/>
                </a:solidFill>
              </a:rPr>
              <a:t>"</a:t>
            </a:r>
            <a:r>
              <a:rPr lang="en" altLang="zh-CN" sz="1350" dirty="0"/>
              <a:t>))</a:t>
            </a:r>
            <a:r>
              <a:rPr lang="en" altLang="zh-CN" sz="1350" dirty="0">
                <a:solidFill>
                  <a:srgbClr val="CC7832"/>
                </a:solidFill>
              </a:rPr>
              <a:t>;</a:t>
            </a:r>
            <a:br>
              <a:rPr lang="en" altLang="zh-CN" sz="1350" dirty="0">
                <a:solidFill>
                  <a:srgbClr val="CC7832"/>
                </a:solidFill>
              </a:rPr>
            </a:br>
            <a:br>
              <a:rPr lang="en" altLang="zh-CN" sz="1350" dirty="0">
                <a:solidFill>
                  <a:srgbClr val="CC7832"/>
                </a:solidFill>
              </a:rPr>
            </a:br>
            <a:r>
              <a:rPr lang="en" altLang="zh-CN" sz="1350" dirty="0">
                <a:solidFill>
                  <a:srgbClr val="CC7832"/>
                </a:solidFill>
              </a:rPr>
              <a:t>      return </a:t>
            </a:r>
            <a:r>
              <a:rPr lang="en" altLang="zh-CN" sz="1350" dirty="0"/>
              <a:t>response</a:t>
            </a:r>
            <a:r>
              <a:rPr lang="en" altLang="zh-CN" sz="1350" dirty="0">
                <a:solidFill>
                  <a:srgbClr val="CC7832"/>
                </a:solidFill>
              </a:rPr>
              <a:t>;</a:t>
            </a:r>
            <a:br>
              <a:rPr lang="en" altLang="zh-CN" sz="1350" dirty="0">
                <a:solidFill>
                  <a:srgbClr val="CC7832"/>
                </a:solidFill>
              </a:rPr>
            </a:br>
            <a:r>
              <a:rPr lang="en" altLang="zh-CN" sz="1350" dirty="0">
                <a:solidFill>
                  <a:srgbClr val="CC7832"/>
                </a:solidFill>
              </a:rPr>
              <a:t>   </a:t>
            </a:r>
            <a:r>
              <a:rPr lang="en" altLang="zh-CN" sz="1350" dirty="0"/>
              <a:t>}</a:t>
            </a:r>
            <a:br>
              <a:rPr lang="en" altLang="zh-CN" sz="1350" dirty="0"/>
            </a:br>
            <a:r>
              <a:rPr lang="en" altLang="zh-CN" sz="1350" dirty="0"/>
              <a:t>}</a:t>
            </a:r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21518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ACE49-95F1-D845-B772-843D61CE4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Consuming</a:t>
            </a:r>
            <a:r>
              <a:rPr kumimoji="1" lang="zh-CN" altLang="en-US" dirty="0"/>
              <a:t> </a:t>
            </a:r>
            <a:r>
              <a:rPr kumimoji="1" lang="en" altLang="zh-CN" dirty="0"/>
              <a:t>a SOAP web 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40C7F2-FEDD-F44B-9BD1-570140B74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01288"/>
            <a:ext cx="6588732" cy="3940924"/>
          </a:xfrm>
        </p:spPr>
        <p:txBody>
          <a:bodyPr>
            <a:normAutofit/>
          </a:bodyPr>
          <a:lstStyle/>
          <a:p>
            <a:r>
              <a:rPr kumimoji="1" lang="en-US" altLang="zh-CN" sz="1500" dirty="0" err="1"/>
              <a:t>CountryConfiguration.class</a:t>
            </a:r>
            <a:endParaRPr kumimoji="1" lang="zh-CN" altLang="en-US" sz="15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FA4656-F457-C94A-9288-D962C210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44176E-2AA7-5747-B32B-022011F0F0B1}"/>
              </a:ext>
            </a:extLst>
          </p:cNvPr>
          <p:cNvSpPr/>
          <p:nvPr/>
        </p:nvSpPr>
        <p:spPr>
          <a:xfrm>
            <a:off x="1523516" y="946774"/>
            <a:ext cx="627677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200" dirty="0">
                <a:solidFill>
                  <a:srgbClr val="BBB529"/>
                </a:solidFill>
              </a:rPr>
              <a:t>@Configuration</a:t>
            </a:r>
            <a:br>
              <a:rPr lang="en" altLang="zh-CN" sz="1200" dirty="0">
                <a:solidFill>
                  <a:srgbClr val="BBB529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public class </a:t>
            </a:r>
            <a:r>
              <a:rPr lang="en" altLang="zh-CN" sz="1200" dirty="0" err="1"/>
              <a:t>CountryConfiguration</a:t>
            </a:r>
            <a:r>
              <a:rPr lang="en" altLang="zh-CN" sz="1200" dirty="0"/>
              <a:t> {</a:t>
            </a:r>
            <a:br>
              <a:rPr lang="en" altLang="zh-CN" sz="1200" dirty="0"/>
            </a:br>
            <a:br>
              <a:rPr lang="en" altLang="zh-CN" sz="1200" dirty="0"/>
            </a:br>
            <a:r>
              <a:rPr lang="en" altLang="zh-CN" sz="1200" dirty="0"/>
              <a:t>   </a:t>
            </a:r>
            <a:r>
              <a:rPr lang="en" altLang="zh-CN" sz="1200" dirty="0">
                <a:solidFill>
                  <a:srgbClr val="BBB529"/>
                </a:solidFill>
              </a:rPr>
              <a:t>@Bean</a:t>
            </a:r>
            <a:br>
              <a:rPr lang="en" altLang="zh-CN" sz="1200" dirty="0">
                <a:solidFill>
                  <a:srgbClr val="BBB529"/>
                </a:solidFill>
              </a:rPr>
            </a:br>
            <a:r>
              <a:rPr lang="en" altLang="zh-CN" sz="1200" dirty="0">
                <a:solidFill>
                  <a:srgbClr val="BBB529"/>
                </a:solidFill>
              </a:rPr>
              <a:t>   </a:t>
            </a:r>
            <a:r>
              <a:rPr lang="en" altLang="zh-CN" sz="1200" dirty="0">
                <a:solidFill>
                  <a:srgbClr val="CC7832"/>
                </a:solidFill>
              </a:rPr>
              <a:t>public </a:t>
            </a:r>
            <a:r>
              <a:rPr lang="en" altLang="zh-CN" sz="1200" dirty="0"/>
              <a:t>Jaxb2Marshaller </a:t>
            </a:r>
            <a:r>
              <a:rPr lang="en" altLang="zh-CN" sz="1200" dirty="0">
                <a:solidFill>
                  <a:srgbClr val="FFC66D"/>
                </a:solidFill>
              </a:rPr>
              <a:t>marshaller</a:t>
            </a:r>
            <a:r>
              <a:rPr lang="en" altLang="zh-CN" sz="1200" dirty="0"/>
              <a:t>() {</a:t>
            </a:r>
            <a:br>
              <a:rPr lang="en" altLang="zh-CN" sz="1200" dirty="0"/>
            </a:br>
            <a:r>
              <a:rPr lang="en" altLang="zh-CN" sz="1200" dirty="0"/>
              <a:t>      Jaxb2Marshaller marshaller = </a:t>
            </a:r>
            <a:r>
              <a:rPr lang="en" altLang="zh-CN" sz="1200" dirty="0">
                <a:solidFill>
                  <a:srgbClr val="CC7832"/>
                </a:solidFill>
              </a:rPr>
              <a:t>new </a:t>
            </a:r>
            <a:r>
              <a:rPr lang="en" altLang="zh-CN" sz="1200" dirty="0"/>
              <a:t>Jaxb2Marshaller()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>
                <a:solidFill>
                  <a:srgbClr val="808080"/>
                </a:solidFill>
              </a:rPr>
              <a:t>// this package must match the package in the &lt;</a:t>
            </a:r>
            <a:r>
              <a:rPr lang="en" altLang="zh-CN" sz="1200" dirty="0" err="1">
                <a:solidFill>
                  <a:srgbClr val="808080"/>
                </a:solidFill>
              </a:rPr>
              <a:t>generatePackage</a:t>
            </a:r>
            <a:r>
              <a:rPr lang="en" altLang="zh-CN" sz="1200" dirty="0">
                <a:solidFill>
                  <a:srgbClr val="808080"/>
                </a:solidFill>
              </a:rPr>
              <a:t>&gt; specified in</a:t>
            </a:r>
            <a:br>
              <a:rPr lang="en" altLang="zh-CN" sz="1200" dirty="0">
                <a:solidFill>
                  <a:srgbClr val="808080"/>
                </a:solidFill>
              </a:rPr>
            </a:br>
            <a:r>
              <a:rPr lang="en" altLang="zh-CN" sz="1200" dirty="0">
                <a:solidFill>
                  <a:srgbClr val="808080"/>
                </a:solidFill>
              </a:rPr>
              <a:t>      // </a:t>
            </a:r>
            <a:r>
              <a:rPr lang="en" altLang="zh-CN" sz="1200" dirty="0" err="1">
                <a:solidFill>
                  <a:srgbClr val="808080"/>
                </a:solidFill>
              </a:rPr>
              <a:t>pom.xml</a:t>
            </a:r>
            <a:br>
              <a:rPr lang="en" altLang="zh-CN" sz="1200" dirty="0">
                <a:solidFill>
                  <a:srgbClr val="808080"/>
                </a:solidFill>
              </a:rPr>
            </a:br>
            <a:r>
              <a:rPr lang="en" altLang="zh-CN" sz="1200" dirty="0">
                <a:solidFill>
                  <a:srgbClr val="808080"/>
                </a:solidFill>
              </a:rPr>
              <a:t>      </a:t>
            </a:r>
            <a:r>
              <a:rPr lang="en" altLang="zh-CN" sz="1200" dirty="0" err="1"/>
              <a:t>marshaller.setContextPath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A8759"/>
                </a:solidFill>
              </a:rPr>
              <a:t>"org.reins.se3353.se3353_9_soapwsconsumer.wsdl"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return </a:t>
            </a:r>
            <a:r>
              <a:rPr lang="en" altLang="zh-CN" sz="1200" dirty="0"/>
              <a:t>marshaller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</a:t>
            </a:r>
            <a:r>
              <a:rPr lang="en" altLang="zh-CN" sz="1200" dirty="0"/>
              <a:t>}</a:t>
            </a:r>
            <a:br>
              <a:rPr lang="en" altLang="zh-CN" sz="1200" dirty="0"/>
            </a:br>
            <a:br>
              <a:rPr lang="en" altLang="zh-CN" sz="1200" dirty="0"/>
            </a:br>
            <a:r>
              <a:rPr lang="en" altLang="zh-CN" sz="1200" dirty="0"/>
              <a:t>   </a:t>
            </a:r>
            <a:r>
              <a:rPr lang="en" altLang="zh-CN" sz="1200" dirty="0">
                <a:solidFill>
                  <a:srgbClr val="BBB529"/>
                </a:solidFill>
              </a:rPr>
              <a:t>@Bean</a:t>
            </a:r>
            <a:br>
              <a:rPr lang="en" altLang="zh-CN" sz="1200" dirty="0">
                <a:solidFill>
                  <a:srgbClr val="BBB529"/>
                </a:solidFill>
              </a:rPr>
            </a:br>
            <a:r>
              <a:rPr lang="en" altLang="zh-CN" sz="1200" dirty="0">
                <a:solidFill>
                  <a:srgbClr val="BBB529"/>
                </a:solidFill>
              </a:rPr>
              <a:t>   </a:t>
            </a:r>
            <a:r>
              <a:rPr lang="en" altLang="zh-CN" sz="1200" dirty="0">
                <a:solidFill>
                  <a:srgbClr val="CC7832"/>
                </a:solidFill>
              </a:rPr>
              <a:t>public </a:t>
            </a:r>
            <a:r>
              <a:rPr lang="en" altLang="zh-CN" sz="1200" dirty="0" err="1"/>
              <a:t>CountryClient</a:t>
            </a:r>
            <a:r>
              <a:rPr lang="en" altLang="zh-CN" sz="1200" dirty="0"/>
              <a:t> </a:t>
            </a:r>
            <a:r>
              <a:rPr lang="en" altLang="zh-CN" sz="1200" dirty="0" err="1">
                <a:solidFill>
                  <a:srgbClr val="FFC66D"/>
                </a:solidFill>
              </a:rPr>
              <a:t>countryClient</a:t>
            </a:r>
            <a:r>
              <a:rPr lang="en" altLang="zh-CN" sz="1200" dirty="0"/>
              <a:t>(Jaxb2Marshaller marshaller) {</a:t>
            </a:r>
            <a:br>
              <a:rPr lang="en" altLang="zh-CN" sz="1200" dirty="0"/>
            </a:br>
            <a:r>
              <a:rPr lang="en" altLang="zh-CN" sz="1200" dirty="0"/>
              <a:t>      </a:t>
            </a:r>
            <a:r>
              <a:rPr lang="en" altLang="zh-CN" sz="1200" dirty="0" err="1"/>
              <a:t>CountryClient</a:t>
            </a:r>
            <a:r>
              <a:rPr lang="en" altLang="zh-CN" sz="1200" dirty="0"/>
              <a:t> client = </a:t>
            </a:r>
            <a:r>
              <a:rPr lang="en" altLang="zh-CN" sz="1200" dirty="0">
                <a:solidFill>
                  <a:srgbClr val="CC7832"/>
                </a:solidFill>
              </a:rPr>
              <a:t>new </a:t>
            </a:r>
            <a:r>
              <a:rPr lang="en" altLang="zh-CN" sz="1200" dirty="0" err="1"/>
              <a:t>CountryClient</a:t>
            </a:r>
            <a:r>
              <a:rPr lang="en" altLang="zh-CN" sz="1200" dirty="0"/>
              <a:t>()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client.setDefaultUri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A8759"/>
                </a:solidFill>
              </a:rPr>
              <a:t>"http://localhost:8080/</a:t>
            </a:r>
            <a:r>
              <a:rPr lang="en" altLang="zh-CN" sz="1200" dirty="0" err="1">
                <a:solidFill>
                  <a:srgbClr val="6A8759"/>
                </a:solidFill>
              </a:rPr>
              <a:t>ws</a:t>
            </a:r>
            <a:r>
              <a:rPr lang="en" altLang="zh-CN" sz="1200" dirty="0">
                <a:solidFill>
                  <a:srgbClr val="6A8759"/>
                </a:solidFill>
              </a:rPr>
              <a:t>"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client.setMarshaller</a:t>
            </a:r>
            <a:r>
              <a:rPr lang="en" altLang="zh-CN" sz="1200" dirty="0"/>
              <a:t>(marshaller)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</a:t>
            </a:r>
            <a:r>
              <a:rPr lang="en" altLang="zh-CN" sz="1200" dirty="0" err="1"/>
              <a:t>client.setUnmarshaller</a:t>
            </a:r>
            <a:r>
              <a:rPr lang="en" altLang="zh-CN" sz="1200" dirty="0"/>
              <a:t>(marshaller)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  return </a:t>
            </a:r>
            <a:r>
              <a:rPr lang="en" altLang="zh-CN" sz="1200" dirty="0"/>
              <a:t>client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</a:t>
            </a:r>
            <a:r>
              <a:rPr lang="en" altLang="zh-CN" sz="1200" dirty="0"/>
              <a:t>}</a:t>
            </a:r>
            <a:br>
              <a:rPr lang="en" altLang="zh-CN" sz="1200" dirty="0"/>
            </a:br>
            <a:r>
              <a:rPr lang="en" altLang="zh-CN" sz="1200" dirty="0"/>
              <a:t>}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3042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34516-87B7-8B4C-8814-07E22B000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Consuming</a:t>
            </a:r>
            <a:r>
              <a:rPr kumimoji="1" lang="zh-CN" altLang="en-US" dirty="0"/>
              <a:t> </a:t>
            </a:r>
            <a:r>
              <a:rPr kumimoji="1" lang="en" altLang="zh-CN" dirty="0"/>
              <a:t>a SOAP web 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E3BFE9-730A-824C-97B8-F3802556F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CN" dirty="0"/>
              <a:t>Generate Domain Objects Based on a WSDL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6319F7-2B59-CA4C-A037-D206DDC6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28EB2BD-85FD-1361-85CD-6629FE6D5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91630"/>
            <a:ext cx="4180600" cy="31323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8CD8195-C28D-A3FA-03BF-4A776384A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483" y="1989863"/>
            <a:ext cx="2972619" cy="213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95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1CA85-65D8-3944-B3FF-78540BD73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Consuming</a:t>
            </a:r>
            <a:r>
              <a:rPr kumimoji="1" lang="zh-CN" altLang="en-US" dirty="0"/>
              <a:t> </a:t>
            </a:r>
            <a:r>
              <a:rPr kumimoji="1" lang="en" altLang="zh-CN" dirty="0"/>
              <a:t>a SOAP web service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C92175-E87D-254A-A8BE-F511126B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D4F6C2-CC4B-C7F2-EB4F-D82B52097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ABE23C-A5B4-EF4A-7E26-6B739F07D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91627"/>
            <a:ext cx="7772400" cy="264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846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JAX-WS</a:t>
            </a:r>
            <a:r>
              <a:rPr lang="zh-CN" altLang="en-US" dirty="0"/>
              <a:t> </a:t>
            </a:r>
            <a:r>
              <a:rPr lang="en-US" altLang="zh-CN" dirty="0"/>
              <a:t>Web Service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677E00-B46F-7142-BD7E-1AC9D97A3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500" dirty="0" err="1"/>
              <a:t>Warehouse.java</a:t>
            </a:r>
            <a:endParaRPr lang="zh-CN" altLang="en-US" sz="15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924756-E1DA-164B-9566-BD7927BEBBAB}"/>
              </a:ext>
            </a:extLst>
          </p:cNvPr>
          <p:cNvSpPr/>
          <p:nvPr/>
        </p:nvSpPr>
        <p:spPr>
          <a:xfrm>
            <a:off x="2699792" y="739025"/>
            <a:ext cx="61293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200" dirty="0">
                <a:solidFill>
                  <a:srgbClr val="BBB529"/>
                </a:solidFill>
              </a:rPr>
              <a:t>@</a:t>
            </a:r>
            <a:r>
              <a:rPr lang="en" altLang="zh-CN" sz="1200" dirty="0" err="1">
                <a:solidFill>
                  <a:srgbClr val="BBB529"/>
                </a:solidFill>
              </a:rPr>
              <a:t>WebService</a:t>
            </a:r>
            <a:br>
              <a:rPr lang="en" altLang="zh-CN" sz="1200" dirty="0">
                <a:solidFill>
                  <a:srgbClr val="BBB529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public class </a:t>
            </a:r>
            <a:r>
              <a:rPr lang="en" altLang="zh-CN" sz="1200" dirty="0"/>
              <a:t>Warehouse {</a:t>
            </a:r>
            <a:br>
              <a:rPr lang="en" altLang="zh-CN" sz="1200" dirty="0"/>
            </a:br>
            <a:r>
              <a:rPr lang="en" altLang="zh-CN" sz="1200" dirty="0"/>
              <a:t>  </a:t>
            </a:r>
            <a:r>
              <a:rPr lang="en" altLang="zh-CN" sz="1200" dirty="0">
                <a:solidFill>
                  <a:srgbClr val="CC7832"/>
                </a:solidFill>
              </a:rPr>
              <a:t>public </a:t>
            </a:r>
            <a:r>
              <a:rPr lang="en" altLang="zh-CN" sz="1200" dirty="0">
                <a:solidFill>
                  <a:srgbClr val="FFC66D"/>
                </a:solidFill>
              </a:rPr>
              <a:t>Warehouse</a:t>
            </a:r>
            <a:r>
              <a:rPr lang="en" altLang="zh-CN" sz="1200" dirty="0"/>
              <a:t>() {</a:t>
            </a:r>
            <a:br>
              <a:rPr lang="en" altLang="zh-CN" sz="1200" dirty="0"/>
            </a:br>
            <a:r>
              <a:rPr lang="en" altLang="zh-CN" sz="1200" dirty="0"/>
              <a:t>    </a:t>
            </a:r>
            <a:r>
              <a:rPr lang="en" altLang="zh-CN" sz="1200" dirty="0">
                <a:solidFill>
                  <a:srgbClr val="9876AA"/>
                </a:solidFill>
              </a:rPr>
              <a:t>prices </a:t>
            </a:r>
            <a:r>
              <a:rPr lang="en" altLang="zh-CN" sz="1200" dirty="0"/>
              <a:t>= </a:t>
            </a:r>
            <a:r>
              <a:rPr lang="en" altLang="zh-CN" sz="1200" dirty="0">
                <a:solidFill>
                  <a:srgbClr val="CC7832"/>
                </a:solidFill>
              </a:rPr>
              <a:t>new </a:t>
            </a:r>
            <a:r>
              <a:rPr lang="en" altLang="zh-CN" sz="1200" dirty="0"/>
              <a:t>HashMap&lt;String</a:t>
            </a:r>
            <a:r>
              <a:rPr lang="en" altLang="zh-CN" sz="1200" dirty="0">
                <a:solidFill>
                  <a:srgbClr val="CC7832"/>
                </a:solidFill>
              </a:rPr>
              <a:t>, </a:t>
            </a:r>
            <a:r>
              <a:rPr lang="en" altLang="zh-CN" sz="1200" dirty="0"/>
              <a:t>Double&gt;()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</a:t>
            </a:r>
            <a:r>
              <a:rPr lang="en" altLang="zh-CN" sz="1200" dirty="0" err="1">
                <a:solidFill>
                  <a:srgbClr val="9876AA"/>
                </a:solidFill>
              </a:rPr>
              <a:t>prices</a:t>
            </a:r>
            <a:r>
              <a:rPr lang="en" altLang="zh-CN" sz="1200" dirty="0" err="1"/>
              <a:t>.put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A8759"/>
                </a:solidFill>
              </a:rPr>
              <a:t>"Blackwell Toaster"</a:t>
            </a:r>
            <a:r>
              <a:rPr lang="en" altLang="zh-CN" sz="1200" dirty="0">
                <a:solidFill>
                  <a:srgbClr val="CC7832"/>
                </a:solidFill>
              </a:rPr>
              <a:t>, </a:t>
            </a:r>
            <a:r>
              <a:rPr lang="en" altLang="zh-CN" sz="1200" dirty="0">
                <a:solidFill>
                  <a:srgbClr val="6897BB"/>
                </a:solidFill>
              </a:rPr>
              <a:t>24.95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</a:t>
            </a:r>
            <a:r>
              <a:rPr lang="en" altLang="zh-CN" sz="1200" dirty="0" err="1">
                <a:solidFill>
                  <a:srgbClr val="9876AA"/>
                </a:solidFill>
              </a:rPr>
              <a:t>prices</a:t>
            </a:r>
            <a:r>
              <a:rPr lang="en" altLang="zh-CN" sz="1200" dirty="0" err="1"/>
              <a:t>.put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A8759"/>
                </a:solidFill>
              </a:rPr>
              <a:t>"</a:t>
            </a:r>
            <a:r>
              <a:rPr lang="en" altLang="zh-CN" sz="1200" dirty="0" err="1">
                <a:solidFill>
                  <a:srgbClr val="6A8759"/>
                </a:solidFill>
              </a:rPr>
              <a:t>ZapXpress</a:t>
            </a:r>
            <a:r>
              <a:rPr lang="en" altLang="zh-CN" sz="1200" dirty="0">
                <a:solidFill>
                  <a:srgbClr val="6A8759"/>
                </a:solidFill>
              </a:rPr>
              <a:t> Microwave Oven"</a:t>
            </a:r>
            <a:r>
              <a:rPr lang="en" altLang="zh-CN" sz="1200" dirty="0">
                <a:solidFill>
                  <a:srgbClr val="CC7832"/>
                </a:solidFill>
              </a:rPr>
              <a:t>, </a:t>
            </a:r>
            <a:r>
              <a:rPr lang="en" altLang="zh-CN" sz="1200" dirty="0">
                <a:solidFill>
                  <a:srgbClr val="6897BB"/>
                </a:solidFill>
              </a:rPr>
              <a:t>49.95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</a:t>
            </a:r>
            <a:r>
              <a:rPr lang="en" altLang="zh-CN" sz="1200" dirty="0"/>
              <a:t>}</a:t>
            </a:r>
            <a:br>
              <a:rPr lang="en" altLang="zh-CN" sz="1200" dirty="0"/>
            </a:br>
            <a:br>
              <a:rPr lang="en" altLang="zh-CN" sz="1200" dirty="0"/>
            </a:br>
            <a:r>
              <a:rPr lang="en" altLang="zh-CN" sz="1200" dirty="0"/>
              <a:t>  </a:t>
            </a:r>
            <a:r>
              <a:rPr lang="en" altLang="zh-CN" sz="1200" dirty="0">
                <a:solidFill>
                  <a:srgbClr val="CC7832"/>
                </a:solidFill>
              </a:rPr>
              <a:t>public double </a:t>
            </a:r>
            <a:r>
              <a:rPr lang="en" altLang="zh-CN" sz="1200" dirty="0" err="1">
                <a:solidFill>
                  <a:srgbClr val="FFC66D"/>
                </a:solidFill>
              </a:rPr>
              <a:t>getPrice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BBB529"/>
                </a:solidFill>
              </a:rPr>
              <a:t>@</a:t>
            </a:r>
            <a:r>
              <a:rPr lang="en" altLang="zh-CN" sz="1200" dirty="0" err="1">
                <a:solidFill>
                  <a:srgbClr val="BBB529"/>
                </a:solidFill>
              </a:rPr>
              <a:t>WebParam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D0D0FF"/>
                </a:solidFill>
              </a:rPr>
              <a:t>name</a:t>
            </a:r>
            <a:r>
              <a:rPr lang="en" altLang="zh-CN" sz="1200" dirty="0"/>
              <a:t>=</a:t>
            </a:r>
            <a:r>
              <a:rPr lang="en" altLang="zh-CN" sz="1200" dirty="0">
                <a:solidFill>
                  <a:srgbClr val="6A8759"/>
                </a:solidFill>
              </a:rPr>
              <a:t>”</a:t>
            </a:r>
            <a:r>
              <a:rPr lang="en-US" altLang="zh-CN" sz="1200" dirty="0">
                <a:solidFill>
                  <a:srgbClr val="6A8759"/>
                </a:solidFill>
              </a:rPr>
              <a:t>parameters</a:t>
            </a:r>
            <a:r>
              <a:rPr lang="en" altLang="zh-CN" sz="1200" dirty="0">
                <a:solidFill>
                  <a:srgbClr val="6A8759"/>
                </a:solidFill>
              </a:rPr>
              <a:t>"</a:t>
            </a:r>
            <a:r>
              <a:rPr lang="en" altLang="zh-CN" sz="1200" dirty="0"/>
              <a:t>) String description)</a:t>
            </a:r>
            <a:br>
              <a:rPr lang="en" altLang="zh-CN" sz="1200" dirty="0"/>
            </a:br>
            <a:r>
              <a:rPr lang="en" altLang="zh-CN" sz="1200" dirty="0"/>
              <a:t>  {</a:t>
            </a:r>
            <a:br>
              <a:rPr lang="en" altLang="zh-CN" sz="1200" dirty="0"/>
            </a:br>
            <a:r>
              <a:rPr lang="en" altLang="zh-CN" sz="1200" dirty="0"/>
              <a:t>    Double price = </a:t>
            </a:r>
            <a:r>
              <a:rPr lang="en" altLang="zh-CN" sz="1200" dirty="0" err="1">
                <a:solidFill>
                  <a:srgbClr val="9876AA"/>
                </a:solidFill>
              </a:rPr>
              <a:t>prices</a:t>
            </a:r>
            <a:r>
              <a:rPr lang="en" altLang="zh-CN" sz="1200" dirty="0" err="1"/>
              <a:t>.get</a:t>
            </a:r>
            <a:r>
              <a:rPr lang="en" altLang="zh-CN" sz="1200" dirty="0"/>
              <a:t>(description</a:t>
            </a:r>
            <a:r>
              <a:rPr lang="en-US" altLang="zh-CN" sz="1200" dirty="0"/>
              <a:t>.trim()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return </a:t>
            </a:r>
            <a:r>
              <a:rPr lang="en" altLang="zh-CN" sz="1200" dirty="0"/>
              <a:t>price == </a:t>
            </a:r>
            <a:r>
              <a:rPr lang="en" altLang="zh-CN" sz="1200" dirty="0">
                <a:solidFill>
                  <a:srgbClr val="CC7832"/>
                </a:solidFill>
              </a:rPr>
              <a:t>null </a:t>
            </a:r>
            <a:r>
              <a:rPr lang="en" altLang="zh-CN" sz="1200" dirty="0"/>
              <a:t>? </a:t>
            </a:r>
            <a:r>
              <a:rPr lang="en" altLang="zh-CN" sz="1200" dirty="0">
                <a:solidFill>
                  <a:srgbClr val="6897BB"/>
                </a:solidFill>
              </a:rPr>
              <a:t>0 </a:t>
            </a:r>
            <a:r>
              <a:rPr lang="en" altLang="zh-CN" sz="1200" dirty="0"/>
              <a:t>: price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</a:t>
            </a:r>
            <a:r>
              <a:rPr lang="en" altLang="zh-CN" sz="1200" dirty="0"/>
              <a:t>}</a:t>
            </a:r>
            <a:br>
              <a:rPr lang="en" altLang="zh-CN" sz="1200" dirty="0"/>
            </a:br>
            <a:br>
              <a:rPr lang="en" altLang="zh-CN" sz="1200" dirty="0"/>
            </a:br>
            <a:r>
              <a:rPr lang="en" altLang="zh-CN" sz="1200" dirty="0"/>
              <a:t>  </a:t>
            </a:r>
            <a:r>
              <a:rPr lang="en" altLang="zh-CN" sz="1200" dirty="0">
                <a:solidFill>
                  <a:srgbClr val="CC7832"/>
                </a:solidFill>
              </a:rPr>
              <a:t>private </a:t>
            </a:r>
            <a:r>
              <a:rPr lang="en" altLang="zh-CN" sz="1200" dirty="0"/>
              <a:t>Map&lt;String</a:t>
            </a:r>
            <a:r>
              <a:rPr lang="en" altLang="zh-CN" sz="1200" dirty="0">
                <a:solidFill>
                  <a:srgbClr val="CC7832"/>
                </a:solidFill>
              </a:rPr>
              <a:t>, </a:t>
            </a:r>
            <a:r>
              <a:rPr lang="en" altLang="zh-CN" sz="1200" dirty="0"/>
              <a:t>Double&gt; </a:t>
            </a:r>
            <a:r>
              <a:rPr lang="en" altLang="zh-CN" sz="1200" dirty="0">
                <a:solidFill>
                  <a:srgbClr val="9876AA"/>
                </a:solidFill>
              </a:rPr>
              <a:t>prices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public static void </a:t>
            </a:r>
            <a:r>
              <a:rPr lang="en" altLang="zh-CN" sz="1200" dirty="0">
                <a:solidFill>
                  <a:srgbClr val="FFC66D"/>
                </a:solidFill>
              </a:rPr>
              <a:t>main</a:t>
            </a:r>
            <a:r>
              <a:rPr lang="en" altLang="zh-CN" sz="1200" dirty="0"/>
              <a:t>(String[] </a:t>
            </a:r>
            <a:r>
              <a:rPr lang="en" altLang="zh-CN" sz="1200" dirty="0" err="1"/>
              <a:t>argv</a:t>
            </a:r>
            <a:r>
              <a:rPr lang="en" altLang="zh-CN" sz="1200" dirty="0"/>
              <a:t>) {</a:t>
            </a:r>
            <a:br>
              <a:rPr lang="en" altLang="zh-CN" sz="1200" dirty="0"/>
            </a:br>
            <a:r>
              <a:rPr lang="en" altLang="zh-CN" sz="1200" dirty="0"/>
              <a:t>    Object implementor = </a:t>
            </a:r>
            <a:r>
              <a:rPr lang="en" altLang="zh-CN" sz="1200" dirty="0">
                <a:solidFill>
                  <a:srgbClr val="CC7832"/>
                </a:solidFill>
              </a:rPr>
              <a:t>new </a:t>
            </a:r>
            <a:r>
              <a:rPr lang="en" altLang="zh-CN" sz="1200" dirty="0"/>
              <a:t>Warehouse ()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</a:t>
            </a:r>
            <a:r>
              <a:rPr lang="en" altLang="zh-CN" sz="1200" dirty="0"/>
              <a:t>String address = </a:t>
            </a:r>
            <a:r>
              <a:rPr lang="en" altLang="zh-CN" sz="1200" dirty="0">
                <a:solidFill>
                  <a:srgbClr val="6A8759"/>
                </a:solidFill>
              </a:rPr>
              <a:t>"http://localhost:9000/Warehouse"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  </a:t>
            </a:r>
            <a:r>
              <a:rPr lang="en" altLang="zh-CN" sz="1200" dirty="0" err="1"/>
              <a:t>Endpoint.</a:t>
            </a:r>
            <a:r>
              <a:rPr lang="en" altLang="zh-CN" sz="1200" i="1" dirty="0" err="1"/>
              <a:t>publish</a:t>
            </a:r>
            <a:r>
              <a:rPr lang="en" altLang="zh-CN" sz="1200" dirty="0"/>
              <a:t>(address</a:t>
            </a:r>
            <a:r>
              <a:rPr lang="en" altLang="zh-CN" sz="1200" dirty="0">
                <a:solidFill>
                  <a:srgbClr val="CC7832"/>
                </a:solidFill>
              </a:rPr>
              <a:t>, </a:t>
            </a:r>
            <a:r>
              <a:rPr lang="en" altLang="zh-CN" sz="1200" dirty="0"/>
              <a:t>implementor)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  </a:t>
            </a:r>
            <a:r>
              <a:rPr lang="en" altLang="zh-CN" sz="1200" dirty="0"/>
              <a:t>}</a:t>
            </a:r>
            <a:br>
              <a:rPr lang="en" altLang="zh-CN" sz="1200" dirty="0"/>
            </a:br>
            <a:r>
              <a:rPr lang="en" altLang="zh-CN" sz="1200" dirty="0"/>
              <a:t>}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3247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JAX-WS</a:t>
            </a:r>
            <a:r>
              <a:rPr lang="zh-CN" altLang="en-US" dirty="0"/>
              <a:t> </a:t>
            </a:r>
            <a:r>
              <a:rPr lang="en-US" altLang="zh-CN" dirty="0"/>
              <a:t>Web Service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7EC29F-38C6-0C40-A6F7-8FECF1B8D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793" y="744082"/>
            <a:ext cx="5112846" cy="10339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5821E3E-FCA1-A84B-8A27-C2795A01B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900" y="1777994"/>
            <a:ext cx="5086100" cy="335018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9FBECDB-E02F-5041-8127-FB9F6D3279B5}"/>
              </a:ext>
            </a:extLst>
          </p:cNvPr>
          <p:cNvSpPr/>
          <p:nvPr/>
        </p:nvSpPr>
        <p:spPr>
          <a:xfrm>
            <a:off x="19910" y="1784657"/>
            <a:ext cx="38870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http://localhost:9000/Warehouse?wsdl</a:t>
            </a:r>
          </a:p>
        </p:txBody>
      </p:sp>
    </p:spTree>
    <p:extLst>
      <p:ext uri="{BB962C8B-B14F-4D97-AF65-F5344CB8AC3E}">
        <p14:creationId xmlns:p14="http://schemas.microsoft.com/office/powerpoint/2010/main" val="25918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F665B-DDD7-B644-B173-B4594DA50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JAX-WS</a:t>
            </a:r>
            <a:r>
              <a:rPr lang="zh-CN" altLang="en-US" dirty="0"/>
              <a:t> </a:t>
            </a:r>
            <a:r>
              <a:rPr lang="en-US" altLang="zh-CN" dirty="0"/>
              <a:t>Web 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7737CD-F074-2B44-83BA-DFA2B0AAE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latin typeface="IBMPlexMono, Monaco,  Courier New"/>
              </a:rPr>
              <a:t>soapenv:Envelope</a:t>
            </a:r>
            <a:r>
              <a:rPr lang="en-US" altLang="zh-CN" sz="1600" dirty="0">
                <a:solidFill>
                  <a:srgbClr val="000000"/>
                </a:solidFill>
                <a:latin typeface="IBMPlexMono, Monaco,  Courier New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latin typeface="IBMPlexMono, Monaco,  Courier New"/>
              </a:rPr>
              <a:t>xmlns:soapenv</a:t>
            </a:r>
            <a:r>
              <a:rPr lang="en-US" altLang="zh-CN" sz="1600" dirty="0">
                <a:solidFill>
                  <a:srgbClr val="000000"/>
                </a:solidFill>
                <a:latin typeface="IBMPlexMono, Monaco,  Courier New"/>
              </a:rPr>
              <a:t>=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"http://</a:t>
            </a:r>
            <a:r>
              <a:rPr lang="en-US" altLang="zh-CN" sz="1600" dirty="0" err="1">
                <a:solidFill>
                  <a:srgbClr val="0000FF"/>
                </a:solidFill>
                <a:latin typeface="IBMPlexMono, Monaco,  Courier New"/>
              </a:rPr>
              <a:t>schemas.xmlsoap.org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/soap/envelope/"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FF0000"/>
                </a:solidFill>
                <a:latin typeface="IBMPlexMono, Monaco,  Courier New"/>
              </a:rPr>
              <a:t>		</a:t>
            </a:r>
            <a:r>
              <a:rPr lang="zh-CN" altLang="en-US" sz="1600" dirty="0">
                <a:solidFill>
                  <a:srgbClr val="FF0000"/>
                </a:solidFill>
                <a:latin typeface="IBMPlexMono, Monaco,  Courier New"/>
              </a:rPr>
              <a:t>      </a:t>
            </a:r>
            <a:r>
              <a:rPr lang="en-US" altLang="zh-CN" sz="1600" dirty="0" err="1">
                <a:solidFill>
                  <a:srgbClr val="FF0000"/>
                </a:solidFill>
                <a:latin typeface="IBMPlexMono, Monaco,  Courier New"/>
              </a:rPr>
              <a:t>xmlns:gs</a:t>
            </a:r>
            <a:r>
              <a:rPr lang="en-US" altLang="zh-CN" sz="1600" dirty="0">
                <a:solidFill>
                  <a:srgbClr val="000000"/>
                </a:solidFill>
                <a:latin typeface="IBMPlexMono, Monaco,  Courier New"/>
              </a:rPr>
              <a:t>=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"http://example/"&gt;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300038" lvl="1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latin typeface="IBMPlexMono, Monaco,  Courier New"/>
              </a:rPr>
              <a:t>soapenv:Header</a:t>
            </a:r>
            <a:r>
              <a:rPr lang="en-US" altLang="zh-CN" sz="1600" dirty="0">
                <a:solidFill>
                  <a:srgbClr val="800000"/>
                </a:solidFill>
                <a:latin typeface="IBMPlexMono, Monaco,  Courier New"/>
              </a:rPr>
              <a:t>/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300038" lvl="1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latin typeface="IBMPlexMono, Monaco,  Courier New"/>
              </a:rPr>
              <a:t>soapenv:Body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300038" lvl="1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	&lt;</a:t>
            </a:r>
            <a:r>
              <a:rPr lang="en-US" altLang="zh-CN" sz="1600" dirty="0" err="1">
                <a:solidFill>
                  <a:srgbClr val="800000"/>
                </a:solidFill>
                <a:latin typeface="IBMPlexMono, Monaco,  Courier New"/>
              </a:rPr>
              <a:t>gs:getPrice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300038" lvl="1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		&lt;</a:t>
            </a:r>
            <a:r>
              <a:rPr lang="en-US" altLang="zh-CN" sz="1600" dirty="0">
                <a:solidFill>
                  <a:srgbClr val="800000"/>
                </a:solidFill>
                <a:latin typeface="IBMPlexMono, Monaco,  Courier New"/>
              </a:rPr>
              <a:t>parameters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&gt;</a:t>
            </a:r>
            <a:r>
              <a:rPr lang="en-US" altLang="zh-CN" sz="1600" dirty="0">
                <a:solidFill>
                  <a:srgbClr val="000000"/>
                </a:solidFill>
                <a:latin typeface="IBMPlexMono, Monaco,  Courier New"/>
              </a:rPr>
              <a:t>Blackwell Toaster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&lt;/</a:t>
            </a:r>
            <a:r>
              <a:rPr lang="en-US" altLang="zh-CN" sz="1600" dirty="0">
                <a:solidFill>
                  <a:srgbClr val="800000"/>
                </a:solidFill>
                <a:latin typeface="IBMPlexMono, Monaco,  Courier New"/>
              </a:rPr>
              <a:t>parameters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300038" lvl="1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	&lt;/</a:t>
            </a:r>
            <a:r>
              <a:rPr lang="en-US" altLang="zh-CN" sz="1600" dirty="0" err="1">
                <a:solidFill>
                  <a:srgbClr val="800000"/>
                </a:solidFill>
                <a:latin typeface="IBMPlexMono, Monaco,  Courier New"/>
              </a:rPr>
              <a:t>gs:getPrice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300038" lvl="1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latin typeface="IBMPlexMono, Monaco,  Courier New"/>
              </a:rPr>
              <a:t>soapenv:Body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latin typeface="IBMPlexMono, Monaco,  Courier New"/>
              </a:rPr>
              <a:t>soapenv:Envelope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7985F5-3DE5-5A44-9112-EC85C71E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633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F665B-DDD7-B644-B173-B4594DA50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JAX-WS</a:t>
            </a:r>
            <a:r>
              <a:rPr lang="zh-CN" altLang="en-US" dirty="0"/>
              <a:t> </a:t>
            </a:r>
            <a:r>
              <a:rPr lang="en-US" altLang="zh-CN" dirty="0"/>
              <a:t>Web 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7737CD-F074-2B44-83BA-DFA2B0AAE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&lt;?</a:t>
            </a:r>
            <a:r>
              <a:rPr lang="en-US" altLang="zh-CN" sz="1600" dirty="0">
                <a:solidFill>
                  <a:srgbClr val="808080"/>
                </a:solidFill>
                <a:latin typeface="IBMPlexMono, Monaco,  Courier New"/>
              </a:rPr>
              <a:t>xml</a:t>
            </a:r>
            <a:r>
              <a:rPr lang="en-US" altLang="zh-CN" sz="1600" dirty="0">
                <a:solidFill>
                  <a:srgbClr val="000000"/>
                </a:solidFill>
                <a:latin typeface="IBMPlexMono, Monaco,  Courier New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IBMPlexMono, Monaco,  Courier New"/>
              </a:rPr>
              <a:t>version</a:t>
            </a:r>
            <a:r>
              <a:rPr lang="en-US" altLang="zh-CN" sz="1600" dirty="0">
                <a:solidFill>
                  <a:srgbClr val="000000"/>
                </a:solidFill>
                <a:latin typeface="IBMPlexMono, Monaco,  Courier New"/>
              </a:rPr>
              <a:t>=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'1.0'</a:t>
            </a:r>
            <a:r>
              <a:rPr lang="en-US" altLang="zh-CN" sz="1600" dirty="0">
                <a:solidFill>
                  <a:srgbClr val="000000"/>
                </a:solidFill>
                <a:latin typeface="IBMPlexMono, Monaco,  Courier New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IBMPlexMono, Monaco,  Courier New"/>
              </a:rPr>
              <a:t>encoding</a:t>
            </a:r>
            <a:r>
              <a:rPr lang="en-US" altLang="zh-CN" sz="1600" dirty="0">
                <a:solidFill>
                  <a:srgbClr val="000000"/>
                </a:solidFill>
                <a:latin typeface="IBMPlexMono, Monaco,  Courier New"/>
              </a:rPr>
              <a:t>=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'UTF-8'?&gt;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latin typeface="IBMPlexMono, Monaco,  Courier New"/>
              </a:rPr>
              <a:t>S:Envelope</a:t>
            </a:r>
            <a:r>
              <a:rPr lang="en-US" altLang="zh-CN" sz="1600" dirty="0">
                <a:solidFill>
                  <a:srgbClr val="000000"/>
                </a:solidFill>
                <a:latin typeface="IBMPlexMono, Monaco,  Courier New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latin typeface="IBMPlexMono, Monaco,  Courier New"/>
              </a:rPr>
              <a:t>xmlns:S</a:t>
            </a:r>
            <a:r>
              <a:rPr lang="en-US" altLang="zh-CN" sz="1600" dirty="0">
                <a:solidFill>
                  <a:srgbClr val="000000"/>
                </a:solidFill>
                <a:latin typeface="IBMPlexMono, Monaco,  Courier New"/>
              </a:rPr>
              <a:t>=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"http://</a:t>
            </a:r>
            <a:r>
              <a:rPr lang="en-US" altLang="zh-CN" sz="1600" dirty="0" err="1">
                <a:solidFill>
                  <a:srgbClr val="0000FF"/>
                </a:solidFill>
                <a:latin typeface="IBMPlexMono, Monaco,  Courier New"/>
              </a:rPr>
              <a:t>schemas.xmlsoap.org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/soap/envelope/"&gt;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	&lt;</a:t>
            </a:r>
            <a:r>
              <a:rPr lang="en-US" altLang="zh-CN" sz="1600" dirty="0" err="1">
                <a:solidFill>
                  <a:srgbClr val="800000"/>
                </a:solidFill>
                <a:latin typeface="IBMPlexMono, Monaco,  Courier New"/>
              </a:rPr>
              <a:t>S:Body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		&lt;</a:t>
            </a:r>
            <a:r>
              <a:rPr lang="en-US" altLang="zh-CN" sz="1600" dirty="0">
                <a:solidFill>
                  <a:srgbClr val="800000"/>
                </a:solidFill>
                <a:latin typeface="IBMPlexMono, Monaco,  Courier New"/>
              </a:rPr>
              <a:t>ns2:getPriceResponse</a:t>
            </a:r>
            <a:r>
              <a:rPr lang="en-US" altLang="zh-CN" sz="1600" dirty="0">
                <a:solidFill>
                  <a:srgbClr val="000000"/>
                </a:solidFill>
                <a:latin typeface="IBMPlexMono, Monaco,  Courier New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IBMPlexMono, Monaco,  Courier New"/>
              </a:rPr>
              <a:t>xmlns:ns2</a:t>
            </a:r>
            <a:r>
              <a:rPr lang="en-US" altLang="zh-CN" sz="1600" dirty="0">
                <a:solidFill>
                  <a:srgbClr val="000000"/>
                </a:solidFill>
                <a:latin typeface="IBMPlexMono, Monaco,  Courier New"/>
              </a:rPr>
              <a:t>=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"http://example/"&gt;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			&lt;</a:t>
            </a:r>
            <a:r>
              <a:rPr lang="en-US" altLang="zh-CN" sz="1600" dirty="0">
                <a:solidFill>
                  <a:srgbClr val="800000"/>
                </a:solidFill>
                <a:latin typeface="IBMPlexMono, Monaco,  Courier New"/>
              </a:rPr>
              <a:t>return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&gt;</a:t>
            </a:r>
            <a:r>
              <a:rPr lang="en-US" altLang="zh-CN" sz="1600" dirty="0">
                <a:solidFill>
                  <a:srgbClr val="000000"/>
                </a:solidFill>
                <a:latin typeface="IBMPlexMono, Monaco,  Courier New"/>
              </a:rPr>
              <a:t>24.95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&lt;/</a:t>
            </a:r>
            <a:r>
              <a:rPr lang="en-US" altLang="zh-CN" sz="1600" dirty="0">
                <a:solidFill>
                  <a:srgbClr val="800000"/>
                </a:solidFill>
                <a:latin typeface="IBMPlexMono, Monaco,  Courier New"/>
              </a:rPr>
              <a:t>return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		&lt;/</a:t>
            </a:r>
            <a:r>
              <a:rPr lang="en-US" altLang="zh-CN" sz="1600" dirty="0">
                <a:solidFill>
                  <a:srgbClr val="800000"/>
                </a:solidFill>
                <a:latin typeface="IBMPlexMono, Monaco,  Courier New"/>
              </a:rPr>
              <a:t>ns2:getPriceResponse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	&lt;/</a:t>
            </a:r>
            <a:r>
              <a:rPr lang="en-US" altLang="zh-CN" sz="1600" dirty="0" err="1">
                <a:solidFill>
                  <a:srgbClr val="800000"/>
                </a:solidFill>
                <a:latin typeface="IBMPlexMono, Monaco,  Courier New"/>
              </a:rPr>
              <a:t>S:Body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latin typeface="IBMPlexMono, Monaco,  Courier New"/>
              </a:rPr>
              <a:t>S:Envelope</a:t>
            </a:r>
            <a:r>
              <a:rPr lang="en-US" altLang="zh-CN" sz="1600" dirty="0">
                <a:solidFill>
                  <a:srgbClr val="0000FF"/>
                </a:solidFill>
                <a:latin typeface="IBMPlexMono, Monaco,  Courier New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IBMPlexMono, Monaco,  Courier New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7985F5-3DE5-5A44-9112-EC85C71E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584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F665B-DDD7-B644-B173-B4594DA50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JAX-WS</a:t>
            </a:r>
            <a:r>
              <a:rPr lang="zh-CN" altLang="en-US" dirty="0"/>
              <a:t> </a:t>
            </a:r>
            <a:r>
              <a:rPr lang="en-US" altLang="zh-CN" dirty="0"/>
              <a:t>Web Service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7985F5-3DE5-5A44-9112-EC85C71E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280742-7951-3A46-83CF-168086292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55" y="712807"/>
            <a:ext cx="6654489" cy="441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41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F1DA2-959E-BF4E-AD3A-FBECE7BF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Consuming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JAX-WS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Java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B73BB2-03DE-7449-B5B1-2C1C82BD6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Generate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lang="en-US" altLang="zh-CN" dirty="0" err="1">
                <a:solidFill>
                  <a:schemeClr val="tx2"/>
                </a:solidFill>
                <a:latin typeface="-apple-system"/>
              </a:rPr>
              <a:t>wsimport</a:t>
            </a:r>
            <a:endParaRPr lang="en-US" altLang="zh-CN" dirty="0">
              <a:solidFill>
                <a:schemeClr val="tx2"/>
              </a:solidFill>
              <a:latin typeface="-apple-system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  <a:latin typeface="-apple-system"/>
              </a:rPr>
              <a:t>     </a:t>
            </a:r>
            <a:r>
              <a:rPr lang="en-US" altLang="zh-CN" dirty="0" err="1">
                <a:solidFill>
                  <a:schemeClr val="tx2"/>
                </a:solidFill>
                <a:latin typeface="-apple-system"/>
              </a:rPr>
              <a:t>wsimport</a:t>
            </a:r>
            <a:r>
              <a:rPr lang="en-US" altLang="zh-CN" dirty="0">
                <a:solidFill>
                  <a:schemeClr val="tx2"/>
                </a:solidFill>
                <a:latin typeface="-apple-system"/>
              </a:rPr>
              <a:t> -s &lt;generate your source file location&gt; http://localhost:9000/</a:t>
            </a:r>
            <a:r>
              <a:rPr lang="en-US" altLang="zh-CN" dirty="0" err="1">
                <a:solidFill>
                  <a:schemeClr val="tx2"/>
                </a:solidFill>
                <a:latin typeface="-apple-system"/>
              </a:rPr>
              <a:t>Warehouse?wsdl</a:t>
            </a:r>
            <a:endParaRPr lang="en-US" altLang="zh-CN" dirty="0">
              <a:solidFill>
                <a:schemeClr val="tx2"/>
              </a:solidFill>
              <a:latin typeface="-apple-system"/>
            </a:endParaRPr>
          </a:p>
          <a:p>
            <a:br>
              <a:rPr lang="en-US" altLang="zh-CN" dirty="0"/>
            </a:br>
            <a:endParaRPr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239F84-0C8B-4849-B8A8-AA01D205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85968F7-C1DF-CD45-B17C-418A75598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2282"/>
            <a:ext cx="9144000" cy="350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1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F1DA2-959E-BF4E-AD3A-FBECE7BF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Consuming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JAX-WS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Java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B73BB2-03DE-7449-B5B1-2C1C82BD6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WarehouseClient.java</a:t>
            </a:r>
            <a:endParaRPr lang="en-US" altLang="zh-CN" dirty="0"/>
          </a:p>
          <a:p>
            <a:endParaRPr lang="en-US" altLang="zh-CN" dirty="0">
              <a:solidFill>
                <a:schemeClr val="tx2"/>
              </a:solidFill>
              <a:latin typeface="-apple-system"/>
            </a:endParaRPr>
          </a:p>
          <a:p>
            <a:pPr marL="300038" lvl="1" indent="0">
              <a:buNone/>
            </a:pPr>
            <a:r>
              <a:rPr lang="en-US" altLang="zh-CN" sz="1800" dirty="0">
                <a:solidFill>
                  <a:srgbClr val="CC7832"/>
                </a:solidFill>
                <a:latin typeface="+mn-lt"/>
              </a:rPr>
              <a:t>package </a:t>
            </a:r>
            <a:r>
              <a:rPr lang="en-US" altLang="zh-CN" sz="1800" dirty="0">
                <a:latin typeface="+mn-lt"/>
              </a:rPr>
              <a:t>example</a:t>
            </a:r>
            <a:r>
              <a:rPr lang="en-US" altLang="zh-CN" sz="1800" dirty="0">
                <a:solidFill>
                  <a:srgbClr val="CC7832"/>
                </a:solidFill>
                <a:latin typeface="+mn-lt"/>
              </a:rPr>
              <a:t>;</a:t>
            </a:r>
            <a:br>
              <a:rPr lang="en-US" altLang="zh-CN" sz="1800" dirty="0">
                <a:solidFill>
                  <a:srgbClr val="CC7832"/>
                </a:solidFill>
                <a:latin typeface="+mn-lt"/>
              </a:rPr>
            </a:br>
            <a:br>
              <a:rPr lang="en-US" altLang="zh-CN" sz="1800" dirty="0">
                <a:solidFill>
                  <a:srgbClr val="CC7832"/>
                </a:solidFill>
                <a:latin typeface="+mn-lt"/>
              </a:rPr>
            </a:br>
            <a:r>
              <a:rPr lang="en-US" altLang="zh-CN" sz="1800" dirty="0">
                <a:solidFill>
                  <a:srgbClr val="CC7832"/>
                </a:solidFill>
                <a:latin typeface="+mn-lt"/>
              </a:rPr>
              <a:t>public class </a:t>
            </a:r>
            <a:r>
              <a:rPr lang="en-US" altLang="zh-CN" sz="1800" dirty="0" err="1">
                <a:latin typeface="+mn-lt"/>
              </a:rPr>
              <a:t>WarehouseClient</a:t>
            </a:r>
            <a:r>
              <a:rPr lang="en-US" altLang="zh-CN" sz="1800" dirty="0">
                <a:latin typeface="+mn-lt"/>
              </a:rPr>
              <a:t> {</a:t>
            </a:r>
            <a:br>
              <a:rPr lang="en-US" altLang="zh-CN" sz="1800" dirty="0">
                <a:latin typeface="+mn-lt"/>
              </a:rPr>
            </a:br>
            <a:r>
              <a:rPr lang="en-US" altLang="zh-CN" sz="1800" dirty="0">
                <a:latin typeface="+mn-lt"/>
              </a:rPr>
              <a:t>    </a:t>
            </a:r>
            <a:r>
              <a:rPr lang="en-US" altLang="zh-CN" sz="1800" dirty="0">
                <a:solidFill>
                  <a:srgbClr val="CC7832"/>
                </a:solidFill>
                <a:latin typeface="+mn-lt"/>
              </a:rPr>
              <a:t>public static void </a:t>
            </a:r>
            <a:r>
              <a:rPr lang="en-US" altLang="zh-CN" sz="1800" dirty="0">
                <a:solidFill>
                  <a:srgbClr val="FFC66D"/>
                </a:solidFill>
                <a:latin typeface="+mn-lt"/>
              </a:rPr>
              <a:t>main</a:t>
            </a:r>
            <a:r>
              <a:rPr lang="en-US" altLang="zh-CN" sz="1800" dirty="0">
                <a:latin typeface="+mn-lt"/>
              </a:rPr>
              <a:t>(String[] </a:t>
            </a:r>
            <a:r>
              <a:rPr lang="en-US" altLang="zh-CN" sz="1800" dirty="0" err="1">
                <a:latin typeface="+mn-lt"/>
              </a:rPr>
              <a:t>args</a:t>
            </a:r>
            <a:r>
              <a:rPr lang="en-US" altLang="zh-CN" sz="1800" dirty="0">
                <a:latin typeface="+mn-lt"/>
              </a:rPr>
              <a:t>) {</a:t>
            </a:r>
            <a:br>
              <a:rPr lang="en-US" altLang="zh-CN" sz="1800" dirty="0">
                <a:latin typeface="+mn-lt"/>
              </a:rPr>
            </a:br>
            <a:r>
              <a:rPr lang="en-US" altLang="zh-CN" sz="1800" dirty="0">
                <a:latin typeface="+mn-lt"/>
              </a:rPr>
              <a:t>        </a:t>
            </a:r>
            <a:r>
              <a:rPr lang="en-US" altLang="zh-CN" sz="1800" dirty="0" err="1">
                <a:latin typeface="+mn-lt"/>
              </a:rPr>
              <a:t>WarehouseService</a:t>
            </a:r>
            <a:r>
              <a:rPr lang="en-US" altLang="zh-CN" sz="1800" dirty="0">
                <a:latin typeface="+mn-lt"/>
              </a:rPr>
              <a:t> service = </a:t>
            </a:r>
            <a:r>
              <a:rPr lang="en-US" altLang="zh-CN" sz="1800" dirty="0">
                <a:solidFill>
                  <a:srgbClr val="CC7832"/>
                </a:solidFill>
                <a:latin typeface="+mn-lt"/>
              </a:rPr>
              <a:t>new </a:t>
            </a:r>
            <a:r>
              <a:rPr lang="en-US" altLang="zh-CN" sz="1800" dirty="0" err="1">
                <a:latin typeface="+mn-lt"/>
              </a:rPr>
              <a:t>WarehouseService</a:t>
            </a:r>
            <a:r>
              <a:rPr lang="en-US" altLang="zh-CN" sz="1800" dirty="0">
                <a:latin typeface="+mn-lt"/>
              </a:rPr>
              <a:t>()</a:t>
            </a:r>
            <a:r>
              <a:rPr lang="en-US" altLang="zh-CN" sz="1800" dirty="0">
                <a:solidFill>
                  <a:srgbClr val="CC7832"/>
                </a:solidFill>
                <a:latin typeface="+mn-lt"/>
              </a:rPr>
              <a:t>;</a:t>
            </a:r>
            <a:br>
              <a:rPr lang="en-US" altLang="zh-CN" sz="1800" dirty="0">
                <a:solidFill>
                  <a:srgbClr val="CC7832"/>
                </a:solidFill>
                <a:latin typeface="+mn-lt"/>
              </a:rPr>
            </a:br>
            <a:r>
              <a:rPr lang="en-US" altLang="zh-CN" sz="1800" dirty="0">
                <a:solidFill>
                  <a:srgbClr val="CC7832"/>
                </a:solidFill>
                <a:latin typeface="+mn-lt"/>
              </a:rPr>
              <a:t>        </a:t>
            </a:r>
            <a:r>
              <a:rPr lang="en-US" altLang="zh-CN" sz="1800" dirty="0">
                <a:latin typeface="+mn-lt"/>
              </a:rPr>
              <a:t>Warehouse </a:t>
            </a:r>
            <a:r>
              <a:rPr lang="en-US" altLang="zh-CN" sz="1800" dirty="0" err="1">
                <a:latin typeface="+mn-lt"/>
              </a:rPr>
              <a:t>serviceProxy</a:t>
            </a:r>
            <a:r>
              <a:rPr lang="en-US" altLang="zh-CN" sz="1800" dirty="0">
                <a:latin typeface="+mn-lt"/>
              </a:rPr>
              <a:t> = </a:t>
            </a:r>
            <a:r>
              <a:rPr lang="en-US" altLang="zh-CN" sz="1800" dirty="0" err="1">
                <a:latin typeface="+mn-lt"/>
              </a:rPr>
              <a:t>service.getWarehousePort</a:t>
            </a:r>
            <a:r>
              <a:rPr lang="en-US" altLang="zh-CN" sz="1800" dirty="0">
                <a:latin typeface="+mn-lt"/>
              </a:rPr>
              <a:t>()</a:t>
            </a:r>
            <a:r>
              <a:rPr lang="en-US" altLang="zh-CN" sz="1800" dirty="0">
                <a:solidFill>
                  <a:srgbClr val="CC7832"/>
                </a:solidFill>
                <a:latin typeface="+mn-lt"/>
              </a:rPr>
              <a:t>;</a:t>
            </a:r>
            <a:br>
              <a:rPr lang="en-US" altLang="zh-CN" sz="1800" dirty="0">
                <a:solidFill>
                  <a:srgbClr val="CC7832"/>
                </a:solidFill>
                <a:latin typeface="+mn-lt"/>
              </a:rPr>
            </a:br>
            <a:r>
              <a:rPr lang="en-US" altLang="zh-CN" sz="1800" dirty="0">
                <a:solidFill>
                  <a:srgbClr val="CC7832"/>
                </a:solidFill>
                <a:latin typeface="+mn-lt"/>
              </a:rPr>
              <a:t>        </a:t>
            </a:r>
            <a:r>
              <a:rPr lang="en-US" altLang="zh-CN" sz="1800" dirty="0" err="1">
                <a:latin typeface="+mn-lt"/>
              </a:rPr>
              <a:t>System.</a:t>
            </a:r>
            <a:r>
              <a:rPr lang="en-US" altLang="zh-CN" sz="1800" i="1" dirty="0" err="1">
                <a:solidFill>
                  <a:srgbClr val="9876AA"/>
                </a:solidFill>
                <a:latin typeface="+mn-lt"/>
              </a:rPr>
              <a:t>out</a:t>
            </a:r>
            <a:r>
              <a:rPr lang="en-US" altLang="zh-CN" sz="1800" dirty="0" err="1">
                <a:latin typeface="+mn-lt"/>
              </a:rPr>
              <a:t>.println</a:t>
            </a:r>
            <a:r>
              <a:rPr lang="en-US" altLang="zh-CN" sz="1800" dirty="0">
                <a:latin typeface="+mn-lt"/>
              </a:rPr>
              <a:t>(</a:t>
            </a:r>
            <a:r>
              <a:rPr lang="en-US" altLang="zh-CN" sz="1800" dirty="0" err="1">
                <a:latin typeface="+mn-lt"/>
              </a:rPr>
              <a:t>serviceProxy.getPrice</a:t>
            </a:r>
            <a:r>
              <a:rPr lang="en-US" altLang="zh-CN" sz="1800" dirty="0">
                <a:latin typeface="+mn-lt"/>
              </a:rPr>
              <a:t>(</a:t>
            </a:r>
            <a:r>
              <a:rPr lang="en-US" altLang="zh-CN" sz="1800" dirty="0">
                <a:solidFill>
                  <a:srgbClr val="6A8759"/>
                </a:solidFill>
                <a:latin typeface="+mn-lt"/>
              </a:rPr>
              <a:t>"</a:t>
            </a:r>
            <a:r>
              <a:rPr lang="en-US" altLang="zh-CN" sz="1800" dirty="0" err="1">
                <a:solidFill>
                  <a:srgbClr val="6A8759"/>
                </a:solidFill>
                <a:latin typeface="+mn-lt"/>
              </a:rPr>
              <a:t>ZapXpress</a:t>
            </a:r>
            <a:r>
              <a:rPr lang="en-US" altLang="zh-CN" sz="1800" dirty="0">
                <a:solidFill>
                  <a:srgbClr val="6A8759"/>
                </a:solidFill>
                <a:latin typeface="+mn-lt"/>
              </a:rPr>
              <a:t> Microwave Oven"</a:t>
            </a:r>
            <a:r>
              <a:rPr lang="en-US" altLang="zh-CN" sz="1800" dirty="0">
                <a:latin typeface="+mn-lt"/>
              </a:rPr>
              <a:t>))</a:t>
            </a:r>
            <a:r>
              <a:rPr lang="en-US" altLang="zh-CN" sz="1800" dirty="0">
                <a:solidFill>
                  <a:srgbClr val="CC7832"/>
                </a:solidFill>
                <a:latin typeface="+mn-lt"/>
              </a:rPr>
              <a:t>;</a:t>
            </a:r>
            <a:br>
              <a:rPr lang="en-US" altLang="zh-CN" sz="1800" dirty="0">
                <a:solidFill>
                  <a:srgbClr val="CC7832"/>
                </a:solidFill>
                <a:latin typeface="+mn-lt"/>
              </a:rPr>
            </a:br>
            <a:r>
              <a:rPr lang="en-US" altLang="zh-CN" sz="1800" dirty="0">
                <a:solidFill>
                  <a:srgbClr val="CC7832"/>
                </a:solidFill>
                <a:latin typeface="+mn-lt"/>
              </a:rPr>
              <a:t>    </a:t>
            </a:r>
            <a:r>
              <a:rPr lang="en-US" altLang="zh-CN" sz="1800" dirty="0">
                <a:latin typeface="+mn-lt"/>
              </a:rPr>
              <a:t>}</a:t>
            </a:r>
            <a:br>
              <a:rPr lang="en-US" altLang="zh-CN" sz="1800" dirty="0">
                <a:latin typeface="+mn-lt"/>
              </a:rPr>
            </a:br>
            <a:r>
              <a:rPr lang="en-US" altLang="zh-CN" sz="1800" dirty="0">
                <a:latin typeface="+mn-lt"/>
              </a:rPr>
              <a:t>}</a:t>
            </a:r>
            <a:endParaRPr lang="zh-CN" altLang="en-US" sz="1800" dirty="0">
              <a:latin typeface="+mn-lt"/>
            </a:endParaRP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239F84-0C8B-4849-B8A8-AA01D205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296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SOAP-based Web Services 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Coupling with the message format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Coupling with the encoding of WS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Parse and assemble SOAP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Need a WSDL to describe the details of WS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Need a proxy generated from WSDL</a:t>
            </a:r>
          </a:p>
          <a:p>
            <a:pPr>
              <a:defRPr/>
            </a:pPr>
            <a:endParaRPr lang="en-US" altLang="zh-CN" dirty="0">
              <a:ea typeface="宋体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It is a time-cost way to implement Web Service with SOAP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We should find a new way to implement WS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41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Restful</a:t>
            </a:r>
            <a:r>
              <a:rPr lang="zh-Hans" altLang="en-US" dirty="0"/>
              <a:t> </a:t>
            </a:r>
            <a:r>
              <a:rPr lang="en-US" altLang="zh-Hans" dirty="0"/>
              <a:t>Web</a:t>
            </a:r>
            <a:r>
              <a:rPr lang="zh-Hans" altLang="en-US" dirty="0"/>
              <a:t> </a:t>
            </a:r>
            <a:r>
              <a:rPr lang="en-US" altLang="zh-Hans" dirty="0"/>
              <a:t>Service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CN" dirty="0" err="1">
                <a:solidFill>
                  <a:srgbClr val="FF0000"/>
                </a:solidFill>
                <a:ea typeface="宋体" pitchFamily="2" charset="-122"/>
                <a:cs typeface="Times New Roman" pitchFamily="18" charset="0"/>
              </a:rPr>
              <a:t>RE</a:t>
            </a:r>
            <a:r>
              <a:rPr lang="en-US" altLang="zh-CN" dirty="0" err="1">
                <a:ea typeface="宋体" pitchFamily="2" charset="-122"/>
                <a:cs typeface="Times New Roman" pitchFamily="18" charset="0"/>
              </a:rPr>
              <a:t>presentational</a:t>
            </a:r>
            <a:r>
              <a:rPr lang="en-US" altLang="zh-CN" dirty="0"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  <a:cs typeface="Times New Roman" pitchFamily="18" charset="0"/>
              </a:rPr>
              <a:t>S</a:t>
            </a:r>
            <a:r>
              <a:rPr lang="en-US" altLang="zh-CN" dirty="0">
                <a:ea typeface="宋体" pitchFamily="2" charset="-122"/>
                <a:cs typeface="Times New Roman" pitchFamily="18" charset="0"/>
              </a:rPr>
              <a:t>tate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  <a:cs typeface="Times New Roman" pitchFamily="18" charset="0"/>
              </a:rPr>
              <a:t>T</a:t>
            </a:r>
            <a:r>
              <a:rPr lang="en-US" altLang="zh-CN" dirty="0">
                <a:ea typeface="宋体" pitchFamily="2" charset="-122"/>
                <a:cs typeface="Times New Roman" pitchFamily="18" charset="0"/>
              </a:rPr>
              <a:t>ransfer</a:t>
            </a:r>
            <a:endParaRPr lang="en-US" altLang="zh-CN" dirty="0">
              <a:ea typeface="楷体_GB2312" pitchFamily="49" charset="-122"/>
            </a:endParaRP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Representational:</a:t>
            </a:r>
          </a:p>
          <a:p>
            <a:pPr lvl="2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All data are resources. Representation for client.</a:t>
            </a:r>
          </a:p>
          <a:p>
            <a:pPr lvl="2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Each resource can have different representations</a:t>
            </a:r>
          </a:p>
          <a:p>
            <a:pPr lvl="2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Each resource has its own unique identity(URI)</a:t>
            </a:r>
          </a:p>
          <a:p>
            <a:pPr lvl="2">
              <a:defRPr/>
            </a:pPr>
            <a:endParaRPr lang="en-US" altLang="zh-CN" dirty="0">
              <a:ea typeface="宋体" pitchFamily="2" charset="-122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State:</a:t>
            </a:r>
          </a:p>
          <a:p>
            <a:pPr lvl="2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It refers to state of client. Server is stateless.</a:t>
            </a:r>
          </a:p>
          <a:p>
            <a:pPr lvl="2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The representation of resource is a state of client.</a:t>
            </a:r>
            <a:endParaRPr lang="zh-CN" altLang="zh-CN" dirty="0">
              <a:ea typeface="宋体" pitchFamily="2" charset="-122"/>
              <a:cs typeface="Times New Roman" pitchFamily="18" charset="0"/>
            </a:endParaRPr>
          </a:p>
          <a:p>
            <a:pPr lvl="2">
              <a:defRPr/>
            </a:pPr>
            <a:endParaRPr lang="en-US" altLang="zh-CN" dirty="0">
              <a:ea typeface="宋体" pitchFamily="2" charset="-122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Transfer:</a:t>
            </a:r>
          </a:p>
          <a:p>
            <a:pPr lvl="2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Client’s representation will be transferred when client access different resources by different URI.</a:t>
            </a:r>
          </a:p>
          <a:p>
            <a:pPr lvl="2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It means the states of client are also transferred. </a:t>
            </a:r>
          </a:p>
          <a:p>
            <a:pPr lvl="2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That is Representation State Transfer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958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CN" sz="1500" dirty="0">
                <a:ea typeface="宋体" pitchFamily="2" charset="-122"/>
                <a:cs typeface="Times New Roman" pitchFamily="18" charset="0"/>
              </a:rPr>
              <a:t>REST is a kind of architecture, but not a specification</a:t>
            </a:r>
            <a:endParaRPr lang="zh-CN" altLang="zh-CN" sz="1500" dirty="0">
              <a:ea typeface="宋体" pitchFamily="2" charset="-122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sz="1350" dirty="0">
                <a:ea typeface="宋体" pitchFamily="2" charset="-122"/>
                <a:cs typeface="Times New Roman" pitchFamily="18" charset="0"/>
              </a:rPr>
              <a:t>REST is a typical Client-Server architecture, but it is stateless server</a:t>
            </a:r>
          </a:p>
          <a:p>
            <a:pPr lvl="1">
              <a:defRPr/>
            </a:pPr>
            <a:endParaRPr lang="en-US" altLang="zh-CN" sz="1350" dirty="0">
              <a:ea typeface="宋体" pitchFamily="2" charset="-122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sz="1350" dirty="0">
                <a:ea typeface="宋体" pitchFamily="2" charset="-122"/>
                <a:cs typeface="Times New Roman" pitchFamily="18" charset="0"/>
              </a:rPr>
              <a:t>All states are hold in the messages delivered between clients and server</a:t>
            </a:r>
          </a:p>
          <a:p>
            <a:pPr lvl="1">
              <a:defRPr/>
            </a:pPr>
            <a:endParaRPr lang="en-US" altLang="zh-CN" sz="1350" dirty="0">
              <a:ea typeface="宋体" pitchFamily="2" charset="-122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sz="1350" dirty="0">
                <a:ea typeface="宋体" pitchFamily="2" charset="-122"/>
                <a:cs typeface="Times New Roman" pitchFamily="18" charset="0"/>
              </a:rPr>
              <a:t>Server only process the requirements of data, displaying is completely depended on clients</a:t>
            </a:r>
          </a:p>
          <a:p>
            <a:pPr lvl="1">
              <a:defRPr/>
            </a:pPr>
            <a:endParaRPr lang="en-US" altLang="zh-CN" sz="1350" dirty="0">
              <a:ea typeface="宋体" pitchFamily="2" charset="-122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sz="1350" dirty="0">
                <a:ea typeface="宋体" pitchFamily="2" charset="-122"/>
                <a:cs typeface="Times New Roman" pitchFamily="18" charset="0"/>
              </a:rPr>
              <a:t>REST is idempotent which means server will return same results for same require. So the results can be cached on either clients or server</a:t>
            </a:r>
            <a:endParaRPr lang="zh-CN" altLang="zh-CN" sz="1350" dirty="0"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9070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CN" sz="1500" dirty="0">
                <a:ea typeface="宋体" pitchFamily="2" charset="-122"/>
                <a:cs typeface="Times New Roman" pitchFamily="18" charset="0"/>
              </a:rPr>
              <a:t>In REST, all operations are preformed in unified way</a:t>
            </a:r>
            <a:endParaRPr lang="zh-CN" altLang="zh-CN" sz="1500" dirty="0">
              <a:ea typeface="宋体" pitchFamily="2" charset="-122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Each resource has a unique identity</a:t>
            </a:r>
            <a:endParaRPr lang="zh-CN" altLang="zh-CN" dirty="0">
              <a:ea typeface="宋体" pitchFamily="2" charset="-122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Process resource by representation</a:t>
            </a:r>
          </a:p>
          <a:p>
            <a:pPr lvl="2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Client can not directly manipulate resources. </a:t>
            </a:r>
          </a:p>
          <a:p>
            <a:pPr lvl="2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Client only can manipulate its representation, and send requires.</a:t>
            </a:r>
          </a:p>
          <a:p>
            <a:pPr lvl="2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Server process requires and return response.</a:t>
            </a:r>
          </a:p>
          <a:p>
            <a:pPr lvl="2">
              <a:defRPr/>
            </a:pPr>
            <a:endParaRPr lang="zh-CN" altLang="zh-CN" sz="1200" dirty="0">
              <a:ea typeface="宋体" pitchFamily="2" charset="-122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Any message between clients and server is self-described. </a:t>
            </a:r>
          </a:p>
          <a:p>
            <a:pPr lvl="2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The context for processing a message is contained in the message itself.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Multimedia interaction system. </a:t>
            </a:r>
          </a:p>
          <a:p>
            <a:pPr lvl="2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The content delivered between clients and server can be documents, pictures, audios, and videos </a:t>
            </a:r>
          </a:p>
          <a:p>
            <a:pPr lvl="2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It is the base for resource to be rendered as different representations.</a:t>
            </a:r>
            <a:endParaRPr lang="zh-CN" altLang="zh-CN" sz="1200" dirty="0"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048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design REST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Clr>
                <a:schemeClr val="folHlink"/>
              </a:buClr>
              <a:buSzPct val="60000"/>
              <a:defRPr/>
            </a:pPr>
            <a:r>
              <a:rPr lang="en-US" altLang="zh-CN" sz="1500" dirty="0">
                <a:ea typeface="宋体" pitchFamily="2" charset="-122"/>
                <a:cs typeface="Times New Roman" pitchFamily="18" charset="0"/>
              </a:rPr>
              <a:t>Design rules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Anything on web is abstracted as resource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Any resource has a unique resource identifier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Access resource by generic connector interface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Any manipulation to resource doesn’t change resource identifier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All operations are stateless</a:t>
            </a:r>
          </a:p>
          <a:p>
            <a:pPr marL="257175" lvl="1" indent="-257175">
              <a:buClr>
                <a:schemeClr val="folHlink"/>
              </a:buClr>
              <a:buSzPct val="60000"/>
              <a:defRPr/>
            </a:pPr>
            <a:endParaRPr lang="en-US" altLang="zh-CN" dirty="0">
              <a:ea typeface="宋体" pitchFamily="2" charset="-122"/>
              <a:cs typeface="Times New Roman" pitchFamily="18" charset="0"/>
            </a:endParaRPr>
          </a:p>
          <a:p>
            <a:pPr>
              <a:buClr>
                <a:schemeClr val="folHlink"/>
              </a:buClr>
              <a:buSzPct val="60000"/>
              <a:defRPr/>
            </a:pPr>
            <a:r>
              <a:rPr lang="en-US" altLang="zh-CN" sz="1500" dirty="0">
                <a:ea typeface="宋体" pitchFamily="2" charset="-122"/>
                <a:cs typeface="Times New Roman" pitchFamily="18" charset="0"/>
              </a:rPr>
              <a:t>Resources are not data, but the combination of data and representation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Same data with different representation will be abstracted as different resources.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2494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design REST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CN" sz="1500" dirty="0">
                <a:ea typeface="宋体" pitchFamily="2" charset="-122"/>
                <a:cs typeface="Times New Roman" pitchFamily="18" charset="0"/>
              </a:rPr>
              <a:t>CRUD</a:t>
            </a:r>
          </a:p>
          <a:p>
            <a:pPr lvl="1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Atomic operations: Create, Read, Update, Delete</a:t>
            </a:r>
          </a:p>
          <a:p>
            <a:pPr lvl="1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Composite them to build complex manipulate</a:t>
            </a:r>
            <a:endParaRPr lang="zh-CN" altLang="zh-CN" sz="1200" dirty="0">
              <a:ea typeface="宋体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1500" dirty="0">
                <a:ea typeface="宋体" pitchFamily="2" charset="-122"/>
                <a:cs typeface="Times New Roman" pitchFamily="18" charset="0"/>
              </a:rPr>
              <a:t>HTTP-based</a:t>
            </a:r>
          </a:p>
          <a:p>
            <a:pPr lvl="1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GET-read</a:t>
            </a:r>
          </a:p>
          <a:p>
            <a:pPr lvl="1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POST-create</a:t>
            </a:r>
          </a:p>
          <a:p>
            <a:pPr lvl="1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PUT-update</a:t>
            </a:r>
          </a:p>
          <a:p>
            <a:pPr lvl="1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DELETE-delete</a:t>
            </a:r>
          </a:p>
          <a:p>
            <a:pPr>
              <a:defRPr/>
            </a:pPr>
            <a:r>
              <a:rPr lang="en-US" altLang="zh-CN" sz="1500" dirty="0">
                <a:ea typeface="宋体" pitchFamily="2" charset="-122"/>
                <a:cs typeface="Times New Roman" pitchFamily="18" charset="0"/>
              </a:rPr>
              <a:t>Design by URL</a:t>
            </a:r>
          </a:p>
          <a:p>
            <a:pPr lvl="1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We just need to design suitable URLs which directly represent user interface</a:t>
            </a:r>
          </a:p>
          <a:p>
            <a:pPr lvl="1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Developers just need to abstract resources according to URLs</a:t>
            </a:r>
          </a:p>
          <a:p>
            <a:pPr lvl="1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URL without parameters is more convenient for user</a:t>
            </a:r>
          </a:p>
          <a:p>
            <a:pPr lvl="1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Quite different from action-based design method, such as MVC</a:t>
            </a:r>
          </a:p>
          <a:p>
            <a:pPr>
              <a:defRPr/>
            </a:pPr>
            <a:r>
              <a:rPr lang="en-US" altLang="zh-CN" sz="1500" dirty="0">
                <a:ea typeface="宋体" pitchFamily="2" charset="-122"/>
                <a:cs typeface="Times New Roman" pitchFamily="18" charset="0"/>
              </a:rPr>
              <a:t>Notice: it is very difficult to abstract anything on web as resource</a:t>
            </a:r>
          </a:p>
          <a:p>
            <a:pPr lvl="1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Mix MVC and REST</a:t>
            </a:r>
          </a:p>
          <a:p>
            <a:pPr lvl="1">
              <a:defRPr/>
            </a:pPr>
            <a:endParaRPr lang="zh-CN" altLang="zh-CN" sz="1200" dirty="0">
              <a:ea typeface="宋体" pitchFamily="2" charset="-122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altLang="zh-CN" sz="1500" dirty="0"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45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Get a Cup of Coffee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pic>
        <p:nvPicPr>
          <p:cNvPr id="6" name="图片 7" descr="tech.ddvip.com_如何获取（GET）一杯咖啡——星巴克REST案例分析_1228360426_ddvip_512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00" y="1275606"/>
            <a:ext cx="5598319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8" descr="tech.ddvip.com_如何获取（GET）一杯咖啡——星巴克REST案例分析_1228360428_ddvip_7596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00" y="3365153"/>
            <a:ext cx="5572125" cy="869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8456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Get a Cup of Coffee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41</a:t>
            </a:fld>
            <a:endParaRPr lang="zh-CN" altLang="en-US" dirty="0"/>
          </a:p>
        </p:txBody>
      </p:sp>
      <p:pic>
        <p:nvPicPr>
          <p:cNvPr id="8" name="图片 6" descr="tech.ddvip.com_如何获取（GET）一杯咖啡——星巴克REST案例分析_1228360432_ddvip_955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978" y="1043044"/>
            <a:ext cx="2893219" cy="146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4100197" y="1039062"/>
            <a:ext cx="381987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latin typeface="Times New Roman" pitchFamily="18" charset="0"/>
                <a:cs typeface="Times New Roman" pitchFamily="18" charset="0"/>
              </a:rPr>
              <a:t>Request:</a:t>
            </a:r>
            <a:endParaRPr lang="zh-CN" altLang="en-US" sz="105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 /order HTTP1.1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Host: starbucks.example.org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Content-Type: application/xml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Content-Length: . . .</a:t>
            </a:r>
          </a:p>
          <a:p>
            <a:endParaRPr lang="en-US" altLang="zh-CN" sz="10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&lt;order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=“http://starbucks.example.org/”&gt;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&lt;drink&gt;latte&lt;/drink&gt;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&lt;/order&gt;</a:t>
            </a:r>
            <a:endParaRPr lang="zh-CN" altLang="en-US" sz="10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66286" y="2562334"/>
            <a:ext cx="5211428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latin typeface="Times New Roman" pitchFamily="18" charset="0"/>
                <a:cs typeface="Times New Roman" pitchFamily="18" charset="0"/>
              </a:rPr>
              <a:t>Response: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201 Created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Location: http://starbucks.example.org/order/1234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Content-Type: application/xml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Content-Length: . . .</a:t>
            </a:r>
          </a:p>
          <a:p>
            <a:endParaRPr lang="en-US" altLang="zh-CN" sz="10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&lt;order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=“http://starbucks.example.org/”&gt;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&lt;drink&gt;latte&lt;/drink&gt;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&lt;cost&gt;3.00&lt;/cost&gt;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&lt;next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=“http://example.org/state-machine”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=“http://starbucks.example.org/payment”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=“http://starbucks.example.com/payment/order/1234”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type=“application/xml”/&gt;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&lt;/order&gt;</a:t>
            </a:r>
            <a:endParaRPr lang="zh-CN" altLang="en-US" sz="10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73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Get a Cup of Coffee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Response code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200 OK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201 Created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202 Accepted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303 See Other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400 Bad Request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404 Not Found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409 Conflict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412 Precondition Failed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417 Expectation Failed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500 Internal Server Error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876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Get a Cup of Coffee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dirty="0">
                <a:cs typeface="Times New Roman" pitchFamily="18" charset="0"/>
              </a:rPr>
              <a:t>Update order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43</a:t>
            </a:fld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871700" y="1653648"/>
          <a:ext cx="5292904" cy="967353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46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6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257">
                <a:tc>
                  <a:txBody>
                    <a:bodyPr/>
                    <a:lstStyle/>
                    <a:p>
                      <a:r>
                        <a:rPr lang="en-US" altLang="zh-CN" sz="1400" b="1" i="0" dirty="0">
                          <a:latin typeface="Times New Roman" pitchFamily="18" charset="0"/>
                          <a:cs typeface="Times New Roman" pitchFamily="18" charset="0"/>
                        </a:rPr>
                        <a:t>Request</a:t>
                      </a:r>
                      <a:endParaRPr lang="zh-CN" altLang="en-US" sz="14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59" marB="34259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b="1" i="0" dirty="0">
                          <a:latin typeface="Times New Roman" pitchFamily="18" charset="0"/>
                          <a:cs typeface="Times New Roman" pitchFamily="18" charset="0"/>
                        </a:rPr>
                        <a:t>Response</a:t>
                      </a:r>
                      <a:endParaRPr lang="zh-CN" altLang="en-US" sz="14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59" marB="3425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47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OPTIONS /order/1234 HTTP 1.1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Host: starbucks.example.org</a:t>
                      </a:r>
                    </a:p>
                  </a:txBody>
                  <a:tcPr marL="68580" marR="68580" marT="34259" marB="34259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200 OK Allow: GET, PUT </a:t>
                      </a:r>
                    </a:p>
                  </a:txBody>
                  <a:tcPr marL="68580" marR="68580" marT="34259" marB="3425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871700" y="2786062"/>
          <a:ext cx="5292588" cy="967353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46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6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257">
                <a:tc>
                  <a:txBody>
                    <a:bodyPr/>
                    <a:lstStyle/>
                    <a:p>
                      <a:r>
                        <a:rPr lang="en-US" altLang="zh-CN" sz="1400" b="1" i="0" dirty="0">
                          <a:latin typeface="Times New Roman" pitchFamily="18" charset="0"/>
                          <a:cs typeface="Times New Roman" pitchFamily="18" charset="0"/>
                        </a:rPr>
                        <a:t>Request</a:t>
                      </a:r>
                      <a:endParaRPr lang="zh-CN" altLang="en-US" sz="14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59" marB="34259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b="1" i="0" dirty="0">
                          <a:latin typeface="Times New Roman" pitchFamily="18" charset="0"/>
                          <a:cs typeface="Times New Roman" pitchFamily="18" charset="0"/>
                        </a:rPr>
                        <a:t>Response</a:t>
                      </a:r>
                      <a:endParaRPr lang="zh-CN" altLang="en-US" sz="14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59" marB="3425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47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PUT /order/1234 HTTP 1.1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Host: starbucks.example.com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Expect: 100-Continue </a:t>
                      </a:r>
                    </a:p>
                  </a:txBody>
                  <a:tcPr marL="68580" marR="68580" marT="34259" marB="34259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100 Continue</a:t>
                      </a:r>
                    </a:p>
                  </a:txBody>
                  <a:tcPr marL="68580" marR="68580" marT="34259" marB="3425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55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Get a Cup of Coffee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dirty="0">
                <a:cs typeface="Times New Roman" pitchFamily="18" charset="0"/>
              </a:rPr>
              <a:t>Update order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44</a:t>
            </a:fld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84708" y="1131590"/>
            <a:ext cx="381987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latin typeface="Times New Roman" pitchFamily="18" charset="0"/>
                <a:cs typeface="Times New Roman" pitchFamily="18" charset="0"/>
              </a:rPr>
              <a:t>Request: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 /order/1234 HTTP1.1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Host: starbucks.example.com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Content-Type: application/xml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Content-Length: . . .</a:t>
            </a:r>
          </a:p>
          <a:p>
            <a:endParaRPr lang="en-US" altLang="zh-CN" sz="10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&lt;order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=“http://starbucks.example.org/”&gt;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&lt;additions&gt;shot&lt;/additions&gt;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&lt;/order&gt;</a:t>
            </a:r>
            <a:endParaRPr lang="zh-CN" altLang="en-US" sz="10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47864" y="2377936"/>
            <a:ext cx="5211428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latin typeface="Times New Roman" pitchFamily="18" charset="0"/>
                <a:cs typeface="Times New Roman" pitchFamily="18" charset="0"/>
              </a:rPr>
              <a:t>Response: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 OK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Location: http://starbucks.example.org/order/1234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Content-Type: application/xml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Content-Length: . . .</a:t>
            </a:r>
          </a:p>
          <a:p>
            <a:endParaRPr lang="en-US" altLang="zh-CN" sz="10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&lt;order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=“http://starbucks.example.org/”&gt;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&lt;drink&gt;latte&lt;/drink&gt;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&lt;additions&gt;shot&lt;/additions&gt;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&lt;cost&gt;4.00&lt;/cost&gt;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&lt;next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=“http://example.org/state-machine”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=“http://starbucks.example.org/payment”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=“http://starbucks.example.com/payment/order/1234”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type=“application/xml”/&gt;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&lt;/order&gt;</a:t>
            </a:r>
            <a:endParaRPr lang="zh-CN" altLang="en-US" sz="10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42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Get a Cup of Coffee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dirty="0">
                <a:cs typeface="Times New Roman" pitchFamily="18" charset="0"/>
              </a:rPr>
              <a:t>Update order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45</a:t>
            </a:fld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23528" y="1203598"/>
            <a:ext cx="381987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latin typeface="Times New Roman" pitchFamily="18" charset="0"/>
                <a:cs typeface="Times New Roman" pitchFamily="18" charset="0"/>
              </a:rPr>
              <a:t>Request: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 /order/1234 HTTP1.1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Host: starbucks.example.com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Content-Type: application/xml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Content-Length: . . .</a:t>
            </a:r>
          </a:p>
          <a:p>
            <a:endParaRPr lang="en-US" altLang="zh-CN" sz="10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&lt;order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=“http://starbucks.example.org/”&gt;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&lt;additions&gt;shot&lt;/additions&gt;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&lt;/order&gt;</a:t>
            </a:r>
            <a:endParaRPr lang="zh-CN" altLang="en-US" sz="10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81052" y="2377936"/>
            <a:ext cx="5211428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05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1050" b="1" dirty="0">
                <a:latin typeface="Times New Roman" pitchFamily="18" charset="0"/>
                <a:cs typeface="Times New Roman" pitchFamily="18" charset="0"/>
              </a:rPr>
              <a:t>Response: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 conflict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Location: http://starbucks.example.org/order/1234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Content-Type: application/xml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Content-Length: . . .</a:t>
            </a:r>
          </a:p>
          <a:p>
            <a:endParaRPr lang="en-US" altLang="zh-CN" sz="10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&lt;order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=“http://starbucks.example.org/”&gt;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&lt;drink&gt;latte&lt;/drink&gt;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&lt;cost&gt;4.00&lt;/cost&gt;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&lt;next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=“http://example.org/state-machine”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=“http://starbucks.example.org/payment”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=“http://starbucks.example.com/payment/order/1234”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type=“application/xml”/&gt;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&lt;/order&gt;</a:t>
            </a:r>
            <a:endParaRPr lang="zh-CN" altLang="en-US" sz="10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864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Get a Cup of Coffee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dirty="0">
                <a:cs typeface="Times New Roman" pitchFamily="18" charset="0"/>
              </a:rPr>
              <a:t>Payment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46</a:t>
            </a:fld>
            <a:endParaRPr lang="zh-CN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601670" y="2895786"/>
          <a:ext cx="5940660" cy="967353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970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0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257">
                <a:tc>
                  <a:txBody>
                    <a:bodyPr/>
                    <a:lstStyle/>
                    <a:p>
                      <a:r>
                        <a:rPr lang="en-US" altLang="zh-CN" sz="1400" b="1" i="0" dirty="0">
                          <a:latin typeface="Times New Roman" pitchFamily="18" charset="0"/>
                          <a:cs typeface="Times New Roman" pitchFamily="18" charset="0"/>
                        </a:rPr>
                        <a:t>Request</a:t>
                      </a:r>
                      <a:endParaRPr lang="zh-CN" altLang="en-US" sz="14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59" marB="34259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b="1" i="0" dirty="0">
                          <a:latin typeface="Times New Roman" pitchFamily="18" charset="0"/>
                          <a:cs typeface="Times New Roman" pitchFamily="18" charset="0"/>
                        </a:rPr>
                        <a:t>Response</a:t>
                      </a:r>
                      <a:endParaRPr lang="zh-CN" altLang="en-US" sz="14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59" marB="3425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47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OPTIONS/payment/order/1234 HTTP 1.1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Host: starbucks.example.com</a:t>
                      </a:r>
                    </a:p>
                  </a:txBody>
                  <a:tcPr marL="68580" marR="68580" marT="34259" marB="34259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Allow: GET, PUT</a:t>
                      </a:r>
                    </a:p>
                  </a:txBody>
                  <a:tcPr marL="68580" marR="68580" marT="34259" marB="3425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912280" y="1483420"/>
            <a:ext cx="5211428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05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&lt;next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=“http://example.org/state-machine”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=“http://starbucks.example.org/payment”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0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=“http://starbucks.example.com/payment/order/1234”</a:t>
            </a:r>
          </a:p>
          <a:p>
            <a:r>
              <a:rPr lang="en-US" altLang="zh-CN" sz="10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type=“application/xml”/&gt;</a:t>
            </a:r>
          </a:p>
        </p:txBody>
      </p:sp>
    </p:spTree>
    <p:extLst>
      <p:ext uri="{BB962C8B-B14F-4D97-AF65-F5344CB8AC3E}">
        <p14:creationId xmlns:p14="http://schemas.microsoft.com/office/powerpoint/2010/main" val="2300153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Get a Cup of Coffee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dirty="0">
                <a:cs typeface="Times New Roman" pitchFamily="18" charset="0"/>
              </a:rPr>
              <a:t>Payment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47</a:t>
            </a:fld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223628" y="1329612"/>
          <a:ext cx="4134073" cy="3141620"/>
        </p:xfrm>
        <a:graphic>
          <a:graphicData uri="http://schemas.openxmlformats.org/drawingml/2006/table">
            <a:tbl>
              <a:tblPr/>
              <a:tblGrid>
                <a:gridCol w="4134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309">
                <a:tc>
                  <a:txBody>
                    <a:bodyPr/>
                    <a:lstStyle/>
                    <a:p>
                      <a:r>
                        <a:rPr lang="en-US" altLang="zh-CN" sz="1200" b="1" i="0" dirty="0">
                          <a:latin typeface="Times New Roman" pitchFamily="18" charset="0"/>
                          <a:cs typeface="Times New Roman" pitchFamily="18" charset="0"/>
                        </a:rPr>
                        <a:t>      Request</a:t>
                      </a:r>
                      <a:endParaRPr lang="zh-CN" altLang="en-US" sz="12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435" marR="54435" marT="27215" marB="27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028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PUT /payment/order/1234 HTTP 1.1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Host: starbucks.example.com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Content-Type: application/xml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Content-Length: ...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Authorization: Digest username="Jane Doe"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realm="starbucks.example.org“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nonce="..."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</a:t>
                      </a:r>
                      <a:r>
                        <a:rPr lang="en-US" sz="1100" b="1" kern="1200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uri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="payment/order/1234"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</a:t>
                      </a:r>
                      <a:r>
                        <a:rPr lang="en-US" sz="1100" b="1" kern="1200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qop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=auth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</a:t>
                      </a:r>
                      <a:r>
                        <a:rPr lang="en-US" sz="1100" b="1" kern="1200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nc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=00000001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</a:t>
                      </a:r>
                      <a:r>
                        <a:rPr lang="en-US" sz="1100" b="1" kern="1200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cnonce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="..."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</a:t>
                      </a:r>
                      <a:r>
                        <a:rPr lang="en-US" sz="1100" b="1" kern="1200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reponse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="..."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opaque="..."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123456789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07/07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John Citizen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4.00</a:t>
                      </a:r>
                    </a:p>
                  </a:txBody>
                  <a:tcPr marL="54435" marR="54435" marT="27215" marB="27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975536"/>
              </p:ext>
            </p:extLst>
          </p:nvPr>
        </p:nvGraphicFramePr>
        <p:xfrm>
          <a:off x="3923928" y="2815535"/>
          <a:ext cx="4464496" cy="1828785"/>
        </p:xfrm>
        <a:graphic>
          <a:graphicData uri="http://schemas.openxmlformats.org/drawingml/2006/table">
            <a:tbl>
              <a:tblPr/>
              <a:tblGrid>
                <a:gridCol w="4464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453">
                <a:tc>
                  <a:txBody>
                    <a:bodyPr/>
                    <a:lstStyle/>
                    <a:p>
                      <a:r>
                        <a:rPr lang="en-US" altLang="zh-CN" sz="1200" b="1" i="0" dirty="0">
                          <a:latin typeface="Times New Roman" pitchFamily="18" charset="0"/>
                          <a:cs typeface="Times New Roman" pitchFamily="18" charset="0"/>
                        </a:rPr>
                        <a:t>Response</a:t>
                      </a:r>
                      <a:endParaRPr lang="zh-CN" altLang="en-US" sz="12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86" marB="34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96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201 Created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Location: https://starbucks.example.com/payment/order/1234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Content-Type: application/xml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Content-Length: ...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123456789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07/07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John Citizen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4.00</a:t>
                      </a:r>
                    </a:p>
                  </a:txBody>
                  <a:tcPr marL="68580" marR="68580" marT="34286" marB="34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94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Get a Cup of Coffee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dirty="0">
                <a:cs typeface="Times New Roman" pitchFamily="18" charset="0"/>
              </a:rPr>
              <a:t>Get a list of orders</a:t>
            </a:r>
          </a:p>
          <a:p>
            <a:pPr>
              <a:lnSpc>
                <a:spcPct val="80000"/>
              </a:lnSpc>
              <a:defRPr/>
            </a:pPr>
            <a:endParaRPr lang="en-US" altLang="zh-CN" sz="1350" dirty="0"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48</a:t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588244" y="1558996"/>
            <a:ext cx="60801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Response:</a:t>
            </a:r>
          </a:p>
          <a:p>
            <a:endParaRPr lang="en-US" altLang="zh-CN" sz="1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 OK</a:t>
            </a:r>
          </a:p>
          <a:p>
            <a:r>
              <a:rPr lang="en-US" altLang="zh-CN" sz="1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Expires:Thu</a:t>
            </a:r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12Jun2008 17:20:33 GMT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Content-Type: application/xml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Content-Length: . . .</a:t>
            </a:r>
          </a:p>
          <a:p>
            <a:endParaRPr lang="en-US" altLang="zh-CN" sz="12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&lt;?xml version=“1.0” ?&gt;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&lt;feed 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=“http://www.w3.org/2005/Atom”&gt;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&lt;title&gt;Coffees to make&lt;/title&gt;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&lt;link 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=“alternate”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=“http://starbucks.example.com/orders”/&gt;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&lt;updated&gt;2014-05-16T08:18:43Z&lt;/update&gt;</a:t>
            </a:r>
            <a:endParaRPr lang="zh-CN" altLang="en-US" sz="12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48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Get a Cup of Coffee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dirty="0">
                <a:cs typeface="Times New Roman" pitchFamily="18" charset="0"/>
              </a:rPr>
              <a:t>Get a list of orders</a:t>
            </a:r>
          </a:p>
          <a:p>
            <a:pPr>
              <a:lnSpc>
                <a:spcPct val="80000"/>
              </a:lnSpc>
              <a:defRPr/>
            </a:pPr>
            <a:endParaRPr lang="en-US" altLang="zh-CN" sz="1350" dirty="0"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49</a:t>
            </a:fld>
            <a:endParaRPr lang="zh-CN" altLang="en-US" dirty="0"/>
          </a:p>
        </p:txBody>
      </p:sp>
      <p:pic>
        <p:nvPicPr>
          <p:cNvPr id="6" name="图片 8" descr="tech.ddvip.com_如何获取（GET）一杯咖啡——星巴克REST案例分析_1228360459_ddvip_196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7257" y="857276"/>
            <a:ext cx="2768203" cy="1660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827584" y="1141230"/>
            <a:ext cx="56840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Response:</a:t>
            </a:r>
          </a:p>
          <a:p>
            <a:endParaRPr lang="en-US" altLang="zh-CN" sz="1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&lt;entry&gt;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&lt;published&gt;2014-05-16T08:18:43Z&lt;/title&gt;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&lt;updated&gt;2014-05-16T08:20:32Z&lt;/update&gt;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&lt;link 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=“alternate” type=“application.xml” 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=“http://starbucks.example.com/order/1234”/&gt;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&lt;id&gt;http://starbucks.example.com/order/1234&lt;/id&gt;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&lt;content type=“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text+xml</a:t>
            </a:r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&lt;order 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=“http://starbucks.example.com/”&gt;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&lt;drink&gt;latte&lt;/drink&gt;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&lt;additions&gt;shot&lt;/additions&gt;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&lt;cost&gt;4.00&lt;/cost&gt;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&lt;/order&gt;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&lt;link 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=“edit”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type=“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applicatioin</a:t>
            </a:r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atom+xml</a:t>
            </a:r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=“http://starbucks.example.com/order/1234”/&gt;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. . .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&lt;/content&gt;</a:t>
            </a:r>
          </a:p>
          <a:p>
            <a:r>
              <a:rPr lang="en-US" altLang="zh-CN" sz="1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&lt;/entry&gt;     </a:t>
            </a:r>
          </a:p>
          <a:p>
            <a:endParaRPr lang="zh-CN" altLang="en-US" sz="12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915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Get a Cup of Coffee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dirty="0">
                <a:cs typeface="Times New Roman" pitchFamily="18" charset="0"/>
              </a:rPr>
              <a:t>Get a list of orders</a:t>
            </a:r>
          </a:p>
          <a:p>
            <a:pPr>
              <a:lnSpc>
                <a:spcPct val="80000"/>
              </a:lnSpc>
              <a:defRPr/>
            </a:pPr>
            <a:endParaRPr lang="en-US" altLang="zh-CN" sz="1350" dirty="0"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50</a:t>
            </a:fld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307785"/>
              </p:ext>
            </p:extLst>
          </p:nvPr>
        </p:nvGraphicFramePr>
        <p:xfrm>
          <a:off x="1713015" y="1329612"/>
          <a:ext cx="6045340" cy="3141620"/>
        </p:xfrm>
        <a:graphic>
          <a:graphicData uri="http://schemas.openxmlformats.org/drawingml/2006/table">
            <a:tbl>
              <a:tblPr/>
              <a:tblGrid>
                <a:gridCol w="6045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309">
                <a:tc>
                  <a:txBody>
                    <a:bodyPr/>
                    <a:lstStyle/>
                    <a:p>
                      <a:r>
                        <a:rPr lang="en-US" altLang="zh-CN" sz="1200" b="1" i="0" dirty="0">
                          <a:latin typeface="Times New Roman" pitchFamily="18" charset="0"/>
                          <a:cs typeface="Times New Roman" pitchFamily="18" charset="0"/>
                        </a:rPr>
                        <a:t>    Request</a:t>
                      </a:r>
                      <a:endParaRPr lang="zh-CN" altLang="en-US" sz="12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435" marR="54435" marT="27215" marB="27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028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baseline="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PUT /order/1234 HTTP 1.1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</a:t>
                      </a:r>
                      <a:r>
                        <a:rPr lang="en-US" sz="1100" b="1" kern="1200" baseline="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Host: starbucks.example.com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</a:t>
                      </a:r>
                      <a:r>
                        <a:rPr lang="en-US" sz="1100" b="1" kern="1200" baseline="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Content-Type: application/</a:t>
                      </a:r>
                      <a:r>
                        <a:rPr lang="en-US" sz="1100" b="1" kern="1200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atom+xml</a:t>
                      </a:r>
                      <a:endParaRPr lang="en-US" sz="1100" b="1" kern="1200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</a:t>
                      </a:r>
                      <a:r>
                        <a:rPr lang="en-US" sz="1100" b="1" kern="1200" baseline="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Content-Length: ...</a:t>
                      </a:r>
                    </a:p>
                    <a:p>
                      <a:pPr marL="0" algn="l" defTabSz="914400" rtl="0" eaLnBrk="1" latinLnBrk="0" hangingPunct="1"/>
                      <a:endParaRPr lang="en-US" sz="1100" b="1" kern="1200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 </a:t>
                      </a:r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&lt;entry&gt;</a:t>
                      </a:r>
                    </a:p>
                    <a:p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.</a:t>
                      </a:r>
                      <a:r>
                        <a:rPr lang="en-US" altLang="zh-CN" sz="1100" b="1" baseline="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. .</a:t>
                      </a:r>
                      <a:endParaRPr lang="en-US" altLang="zh-CN" sz="1100" b="1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&lt;content type=“</a:t>
                      </a:r>
                      <a:r>
                        <a:rPr lang="en-US" altLang="zh-CN" sz="1100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text+xml</a:t>
                      </a:r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”&gt;</a:t>
                      </a:r>
                    </a:p>
                    <a:p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&lt;order </a:t>
                      </a:r>
                      <a:r>
                        <a:rPr lang="en-US" altLang="zh-CN" sz="1100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xmlns</a:t>
                      </a:r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=“http://starbucks.example.com/”&gt;</a:t>
                      </a:r>
                    </a:p>
                    <a:p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&lt;drink&gt;latte&lt;/drink&gt;</a:t>
                      </a:r>
                    </a:p>
                    <a:p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&lt;additions&gt;shot&lt;/additions&gt;</a:t>
                      </a:r>
                    </a:p>
                    <a:p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&lt;cost&gt;4.00&lt;/cost&gt;</a:t>
                      </a:r>
                    </a:p>
                    <a:p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&lt;status&gt;preparing&lt;/status&gt;</a:t>
                      </a:r>
                    </a:p>
                    <a:p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&lt;/order&gt;</a:t>
                      </a:r>
                    </a:p>
                    <a:p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. . .</a:t>
                      </a:r>
                    </a:p>
                    <a:p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&lt;/content&gt;</a:t>
                      </a:r>
                    </a:p>
                    <a:p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&lt;/entry&gt;     </a:t>
                      </a:r>
                    </a:p>
                  </a:txBody>
                  <a:tcPr marL="54435" marR="54435" marT="27215" marB="27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38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Get a Cup of Coffee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dirty="0">
                <a:cs typeface="Times New Roman" pitchFamily="18" charset="0"/>
              </a:rPr>
              <a:t>Check payment of orders</a:t>
            </a:r>
          </a:p>
          <a:p>
            <a:pPr>
              <a:lnSpc>
                <a:spcPct val="80000"/>
              </a:lnSpc>
              <a:defRPr/>
            </a:pPr>
            <a:endParaRPr lang="en-US" altLang="zh-CN" sz="1350" dirty="0"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altLang="zh-CN" sz="1350" dirty="0"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51</a:t>
            </a:fld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451127"/>
              </p:ext>
            </p:extLst>
          </p:nvPr>
        </p:nvGraphicFramePr>
        <p:xfrm>
          <a:off x="1143000" y="1143506"/>
          <a:ext cx="6858000" cy="135623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257">
                <a:tc>
                  <a:txBody>
                    <a:bodyPr/>
                    <a:lstStyle/>
                    <a:p>
                      <a:r>
                        <a:rPr lang="en-US" altLang="zh-CN" sz="1400" b="1" i="0" dirty="0">
                          <a:latin typeface="Times New Roman" pitchFamily="18" charset="0"/>
                          <a:cs typeface="Times New Roman" pitchFamily="18" charset="0"/>
                        </a:rPr>
                        <a:t>Request</a:t>
                      </a:r>
                      <a:endParaRPr lang="zh-CN" altLang="en-US" sz="14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59" marB="34259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b="1" i="0" dirty="0">
                          <a:latin typeface="Times New Roman" pitchFamily="18" charset="0"/>
                          <a:cs typeface="Times New Roman" pitchFamily="18" charset="0"/>
                        </a:rPr>
                        <a:t>Response</a:t>
                      </a:r>
                      <a:endParaRPr lang="zh-CN" altLang="en-US" sz="14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59" marB="3425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6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 /payment/order/1234 HTTP 1.1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Host: starbucks.example.org</a:t>
                      </a:r>
                    </a:p>
                  </a:txBody>
                  <a:tcPr marL="68580" marR="68580" marT="34259" marB="34259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401 Unauthorized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WWW-Authenticate: Digest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 realm="starbucks.example.com",    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100" b="1" kern="1200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qop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="auth",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 nonce="ab656...",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 opaque="b6a9..."</a:t>
                      </a:r>
                    </a:p>
                  </a:txBody>
                  <a:tcPr marL="68580" marR="68580" marT="34259" marB="3425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421160"/>
              </p:ext>
            </p:extLst>
          </p:nvPr>
        </p:nvGraphicFramePr>
        <p:xfrm>
          <a:off x="1143000" y="2531885"/>
          <a:ext cx="6858000" cy="236212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285">
                <a:tc>
                  <a:txBody>
                    <a:bodyPr/>
                    <a:lstStyle/>
                    <a:p>
                      <a:r>
                        <a:rPr lang="en-US" altLang="zh-CN" sz="1400" b="1" i="0" dirty="0">
                          <a:latin typeface="Times New Roman" pitchFamily="18" charset="0"/>
                          <a:cs typeface="Times New Roman" pitchFamily="18" charset="0"/>
                        </a:rPr>
                        <a:t>Request</a:t>
                      </a:r>
                      <a:endParaRPr lang="zh-CN" altLang="en-US" sz="14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59" marB="34259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b="1" i="0" dirty="0">
                          <a:latin typeface="Times New Roman" pitchFamily="18" charset="0"/>
                          <a:cs typeface="Times New Roman" pitchFamily="18" charset="0"/>
                        </a:rPr>
                        <a:t>Response</a:t>
                      </a:r>
                      <a:endParaRPr lang="zh-CN" altLang="en-US" sz="14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59" marB="3425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880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 /payment/order/1234 HTTP 1.1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Host: starbucks.example.org Authorization: Digest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username="barista </a:t>
                      </a:r>
                      <a:r>
                        <a:rPr lang="en-US" sz="1100" b="1" kern="1200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joe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realm="starbucks.example.com"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nonce="..."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sz="1100" b="1" kern="1200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uri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="payment/order/1234"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sz="1100" b="1" kern="1200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qop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100" b="1" kern="1200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auth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sz="1100" b="1" kern="1200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nc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=00000001 c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nonce="..."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sz="1100" b="1" kern="1200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reponse</a:t>
                      </a:r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="..."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opaque="..." </a:t>
                      </a:r>
                    </a:p>
                  </a:txBody>
                  <a:tcPr marL="68580" marR="68580" marT="34283" marB="34283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 200 OK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Content-Type: application/xml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Content-Length: ...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123456789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07/07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John Citizen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　　4.00</a:t>
                      </a:r>
                    </a:p>
                  </a:txBody>
                  <a:tcPr marL="68580" marR="68580" marT="34283" marB="3428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69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Get a Cup of Coffee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dirty="0">
                <a:cs typeface="Times New Roman" pitchFamily="18" charset="0"/>
              </a:rPr>
              <a:t>Delete a order</a:t>
            </a:r>
          </a:p>
          <a:p>
            <a:pPr>
              <a:lnSpc>
                <a:spcPct val="80000"/>
              </a:lnSpc>
              <a:defRPr/>
            </a:pPr>
            <a:endParaRPr lang="en-US" altLang="zh-CN" sz="1350" dirty="0"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altLang="zh-CN" sz="1350" dirty="0"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52</a:t>
            </a:fld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249742" y="2085697"/>
          <a:ext cx="4573823" cy="762241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702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493">
                <a:tc>
                  <a:txBody>
                    <a:bodyPr/>
                    <a:lstStyle/>
                    <a:p>
                      <a:r>
                        <a:rPr lang="en-US" altLang="zh-CN" sz="1400" b="1" i="0" dirty="0">
                          <a:latin typeface="Times New Roman" pitchFamily="18" charset="0"/>
                          <a:cs typeface="Times New Roman" pitchFamily="18" charset="0"/>
                        </a:rPr>
                        <a:t>Request</a:t>
                      </a:r>
                      <a:endParaRPr lang="zh-CN" altLang="en-US" sz="14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59" marB="34259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b="1" i="0" dirty="0">
                          <a:latin typeface="Times New Roman" pitchFamily="18" charset="0"/>
                          <a:cs typeface="Times New Roman" pitchFamily="18" charset="0"/>
                        </a:rPr>
                        <a:t>Response</a:t>
                      </a:r>
                      <a:endParaRPr lang="zh-CN" altLang="en-US" sz="1400" b="1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59" marB="3425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36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DELETE /order/1234 HTTP 1.1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Host: starbucks.example.org</a:t>
                      </a:r>
                    </a:p>
                  </a:txBody>
                  <a:tcPr marL="68579" marR="68579" marT="34312" marB="343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200 OK</a:t>
                      </a:r>
                    </a:p>
                  </a:txBody>
                  <a:tcPr marL="68579" marR="68579" marT="34312" marB="3431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685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9DD87-5672-6C48-AE13-0980FCB83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Building a RESTful Web 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80BF29-DBD9-BB4B-8978-FAFB9D652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1500" dirty="0" err="1"/>
              <a:t>GreetingController.java</a:t>
            </a:r>
            <a:endParaRPr kumimoji="1" lang="zh-CN" altLang="en-US" sz="15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0E8CA0-E803-2340-92D2-7AD6358B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53</a:t>
            </a:fld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BC0C56-7DFB-D047-B875-EE8F2CF27332}"/>
              </a:ext>
            </a:extLst>
          </p:cNvPr>
          <p:cNvSpPr/>
          <p:nvPr/>
        </p:nvSpPr>
        <p:spPr>
          <a:xfrm>
            <a:off x="755576" y="1139135"/>
            <a:ext cx="79928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rgbClr val="BBB529"/>
                </a:solidFill>
              </a:rPr>
              <a:t>@</a:t>
            </a:r>
            <a:r>
              <a:rPr lang="en" altLang="zh-CN" sz="1400" dirty="0" err="1">
                <a:solidFill>
                  <a:srgbClr val="BBB529"/>
                </a:solidFill>
              </a:rPr>
              <a:t>RestController</a:t>
            </a:r>
            <a:br>
              <a:rPr lang="en" altLang="zh-CN" sz="1400" dirty="0">
                <a:solidFill>
                  <a:srgbClr val="BBB529"/>
                </a:solidFill>
              </a:rPr>
            </a:br>
            <a:r>
              <a:rPr lang="en" altLang="zh-CN" sz="1400" dirty="0">
                <a:solidFill>
                  <a:srgbClr val="CC7832"/>
                </a:solidFill>
              </a:rPr>
              <a:t>public class </a:t>
            </a:r>
            <a:r>
              <a:rPr lang="en" altLang="zh-CN" sz="1400" dirty="0" err="1"/>
              <a:t>GreetingController</a:t>
            </a:r>
            <a:r>
              <a:rPr lang="en" altLang="zh-CN" sz="1400" dirty="0"/>
              <a:t> {</a:t>
            </a:r>
            <a:br>
              <a:rPr lang="en" altLang="zh-CN" sz="1400" dirty="0"/>
            </a:br>
            <a:br>
              <a:rPr lang="en" altLang="zh-CN" sz="1400" dirty="0"/>
            </a:br>
            <a:r>
              <a:rPr lang="en" altLang="zh-CN" sz="1400" dirty="0"/>
              <a:t>   </a:t>
            </a:r>
            <a:r>
              <a:rPr lang="en" altLang="zh-CN" sz="1400" dirty="0">
                <a:solidFill>
                  <a:srgbClr val="CC7832"/>
                </a:solidFill>
              </a:rPr>
              <a:t>private static final </a:t>
            </a:r>
            <a:r>
              <a:rPr lang="en" altLang="zh-CN" sz="1400" dirty="0"/>
              <a:t>String </a:t>
            </a:r>
            <a:r>
              <a:rPr lang="en" altLang="zh-CN" sz="1400" i="1" dirty="0">
                <a:solidFill>
                  <a:srgbClr val="9876AA"/>
                </a:solidFill>
              </a:rPr>
              <a:t>template </a:t>
            </a:r>
            <a:r>
              <a:rPr lang="en" altLang="zh-CN" sz="1400" dirty="0"/>
              <a:t>= </a:t>
            </a:r>
            <a:r>
              <a:rPr lang="en" altLang="zh-CN" sz="1400" dirty="0">
                <a:solidFill>
                  <a:srgbClr val="6A8759"/>
                </a:solidFill>
              </a:rPr>
              <a:t>"Hello, %s!"</a:t>
            </a:r>
            <a:r>
              <a:rPr lang="en" altLang="zh-CN" sz="1400" dirty="0">
                <a:solidFill>
                  <a:srgbClr val="CC7832"/>
                </a:solidFill>
              </a:rPr>
              <a:t>;</a:t>
            </a:r>
            <a:br>
              <a:rPr lang="en" altLang="zh-CN" sz="1400" dirty="0">
                <a:solidFill>
                  <a:srgbClr val="CC7832"/>
                </a:solidFill>
              </a:rPr>
            </a:br>
            <a:r>
              <a:rPr lang="en" altLang="zh-CN" sz="1400" dirty="0">
                <a:solidFill>
                  <a:srgbClr val="CC7832"/>
                </a:solidFill>
              </a:rPr>
              <a:t>   private final </a:t>
            </a:r>
            <a:r>
              <a:rPr lang="en" altLang="zh-CN" sz="1400" dirty="0" err="1"/>
              <a:t>AtomicLong</a:t>
            </a:r>
            <a:r>
              <a:rPr lang="en" altLang="zh-CN" sz="1400" dirty="0"/>
              <a:t> </a:t>
            </a:r>
            <a:r>
              <a:rPr lang="en" altLang="zh-CN" sz="1400" dirty="0">
                <a:solidFill>
                  <a:srgbClr val="9876AA"/>
                </a:solidFill>
              </a:rPr>
              <a:t>counter </a:t>
            </a:r>
            <a:r>
              <a:rPr lang="en" altLang="zh-CN" sz="1400" dirty="0"/>
              <a:t>= </a:t>
            </a:r>
            <a:r>
              <a:rPr lang="en" altLang="zh-CN" sz="1400" dirty="0">
                <a:solidFill>
                  <a:srgbClr val="CC7832"/>
                </a:solidFill>
              </a:rPr>
              <a:t>new </a:t>
            </a:r>
            <a:r>
              <a:rPr lang="en" altLang="zh-CN" sz="1400" dirty="0" err="1"/>
              <a:t>AtomicLong</a:t>
            </a:r>
            <a:r>
              <a:rPr lang="en" altLang="zh-CN" sz="1400" dirty="0"/>
              <a:t>()</a:t>
            </a:r>
            <a:r>
              <a:rPr lang="en" altLang="zh-CN" sz="1400" dirty="0">
                <a:solidFill>
                  <a:srgbClr val="CC7832"/>
                </a:solidFill>
              </a:rPr>
              <a:t>;</a:t>
            </a:r>
            <a:br>
              <a:rPr lang="en" altLang="zh-CN" sz="1400" dirty="0">
                <a:solidFill>
                  <a:srgbClr val="CC7832"/>
                </a:solidFill>
              </a:rPr>
            </a:br>
            <a:br>
              <a:rPr lang="en" altLang="zh-CN" sz="1400" dirty="0">
                <a:solidFill>
                  <a:srgbClr val="CC7832"/>
                </a:solidFill>
              </a:rPr>
            </a:br>
            <a:r>
              <a:rPr lang="en" altLang="zh-CN" sz="1400" dirty="0">
                <a:solidFill>
                  <a:srgbClr val="CC7832"/>
                </a:solidFill>
              </a:rPr>
              <a:t>   </a:t>
            </a:r>
            <a:r>
              <a:rPr lang="en" altLang="zh-CN" sz="1400" dirty="0">
                <a:solidFill>
                  <a:srgbClr val="BBB529"/>
                </a:solidFill>
              </a:rPr>
              <a:t>@</a:t>
            </a:r>
            <a:r>
              <a:rPr lang="en" altLang="zh-CN" sz="1400" dirty="0" err="1">
                <a:solidFill>
                  <a:srgbClr val="BBB529"/>
                </a:solidFill>
              </a:rPr>
              <a:t>GetMapping</a:t>
            </a:r>
            <a:r>
              <a:rPr lang="en" altLang="zh-CN" sz="1400" dirty="0"/>
              <a:t>(</a:t>
            </a:r>
            <a:r>
              <a:rPr lang="en" altLang="zh-CN" sz="1400" dirty="0">
                <a:solidFill>
                  <a:srgbClr val="6A8759"/>
                </a:solidFill>
              </a:rPr>
              <a:t>"/greeting"</a:t>
            </a:r>
            <a:r>
              <a:rPr lang="en" altLang="zh-CN" sz="1400" dirty="0"/>
              <a:t>)</a:t>
            </a:r>
            <a:br>
              <a:rPr lang="en" altLang="zh-CN" sz="1400" dirty="0"/>
            </a:br>
            <a:r>
              <a:rPr lang="en" altLang="zh-CN" sz="1400" dirty="0"/>
              <a:t>   </a:t>
            </a:r>
            <a:r>
              <a:rPr lang="en" altLang="zh-CN" sz="1400" dirty="0">
                <a:solidFill>
                  <a:srgbClr val="CC7832"/>
                </a:solidFill>
              </a:rPr>
              <a:t>public </a:t>
            </a:r>
            <a:r>
              <a:rPr lang="en" altLang="zh-CN" sz="1400" dirty="0"/>
              <a:t>Greeting </a:t>
            </a:r>
            <a:r>
              <a:rPr lang="en" altLang="zh-CN" sz="1400" dirty="0">
                <a:solidFill>
                  <a:srgbClr val="FFC66D"/>
                </a:solidFill>
              </a:rPr>
              <a:t>greeting</a:t>
            </a:r>
            <a:r>
              <a:rPr lang="en" altLang="zh-CN" sz="1400" dirty="0"/>
              <a:t>(</a:t>
            </a:r>
            <a:r>
              <a:rPr lang="en" altLang="zh-CN" sz="1400" dirty="0">
                <a:solidFill>
                  <a:srgbClr val="BBB529"/>
                </a:solidFill>
              </a:rPr>
              <a:t>@</a:t>
            </a:r>
            <a:r>
              <a:rPr lang="en" altLang="zh-CN" sz="1400" dirty="0" err="1">
                <a:solidFill>
                  <a:srgbClr val="BBB529"/>
                </a:solidFill>
              </a:rPr>
              <a:t>RequestParam</a:t>
            </a:r>
            <a:r>
              <a:rPr lang="en" altLang="zh-CN" sz="1400" dirty="0"/>
              <a:t>(</a:t>
            </a:r>
            <a:r>
              <a:rPr lang="en" altLang="zh-CN" sz="1400" dirty="0">
                <a:solidFill>
                  <a:srgbClr val="D0D0FF"/>
                </a:solidFill>
              </a:rPr>
              <a:t>value </a:t>
            </a:r>
            <a:r>
              <a:rPr lang="en" altLang="zh-CN" sz="1400" dirty="0"/>
              <a:t>= </a:t>
            </a:r>
            <a:r>
              <a:rPr lang="en" altLang="zh-CN" sz="1400" dirty="0">
                <a:solidFill>
                  <a:srgbClr val="6A8759"/>
                </a:solidFill>
              </a:rPr>
              <a:t>"name"</a:t>
            </a:r>
            <a:r>
              <a:rPr lang="en" altLang="zh-CN" sz="1400" dirty="0">
                <a:solidFill>
                  <a:srgbClr val="CC7832"/>
                </a:solidFill>
              </a:rPr>
              <a:t>, </a:t>
            </a:r>
            <a:r>
              <a:rPr lang="en" altLang="zh-CN" sz="1400" dirty="0" err="1">
                <a:solidFill>
                  <a:srgbClr val="D0D0FF"/>
                </a:solidFill>
              </a:rPr>
              <a:t>defaultValue</a:t>
            </a:r>
            <a:r>
              <a:rPr lang="en" altLang="zh-CN" sz="1400" dirty="0">
                <a:solidFill>
                  <a:srgbClr val="D0D0FF"/>
                </a:solidFill>
              </a:rPr>
              <a:t> </a:t>
            </a:r>
            <a:r>
              <a:rPr lang="en" altLang="zh-CN" sz="1400" dirty="0"/>
              <a:t>= </a:t>
            </a:r>
            <a:r>
              <a:rPr lang="en" altLang="zh-CN" sz="1400" dirty="0">
                <a:solidFill>
                  <a:srgbClr val="6A8759"/>
                </a:solidFill>
              </a:rPr>
              <a:t>"World"</a:t>
            </a:r>
            <a:r>
              <a:rPr lang="en" altLang="zh-CN" sz="1400" dirty="0"/>
              <a:t>) String name) {</a:t>
            </a:r>
            <a:br>
              <a:rPr lang="en" altLang="zh-CN" sz="1400" dirty="0"/>
            </a:br>
            <a:r>
              <a:rPr lang="en" altLang="zh-CN" sz="1400" dirty="0"/>
              <a:t>      </a:t>
            </a:r>
            <a:r>
              <a:rPr lang="en" altLang="zh-CN" sz="1400" dirty="0">
                <a:solidFill>
                  <a:srgbClr val="CC7832"/>
                </a:solidFill>
              </a:rPr>
              <a:t>return new </a:t>
            </a:r>
            <a:r>
              <a:rPr lang="en" altLang="zh-CN" sz="1400" dirty="0"/>
              <a:t>Greeting(</a:t>
            </a:r>
            <a:r>
              <a:rPr lang="en" altLang="zh-CN" sz="1400" dirty="0" err="1">
                <a:solidFill>
                  <a:srgbClr val="9876AA"/>
                </a:solidFill>
              </a:rPr>
              <a:t>counter</a:t>
            </a:r>
            <a:r>
              <a:rPr lang="en" altLang="zh-CN" sz="1400" dirty="0" err="1"/>
              <a:t>.incrementAndGet</a:t>
            </a:r>
            <a:r>
              <a:rPr lang="en" altLang="zh-CN" sz="1400" dirty="0"/>
              <a:t>()</a:t>
            </a:r>
            <a:r>
              <a:rPr lang="en" altLang="zh-CN" sz="1400" dirty="0">
                <a:solidFill>
                  <a:srgbClr val="CC7832"/>
                </a:solidFill>
              </a:rPr>
              <a:t>, </a:t>
            </a:r>
            <a:r>
              <a:rPr lang="en" altLang="zh-CN" sz="1400" dirty="0" err="1"/>
              <a:t>String.</a:t>
            </a:r>
            <a:r>
              <a:rPr lang="en" altLang="zh-CN" sz="1400" i="1" dirty="0" err="1"/>
              <a:t>format</a:t>
            </a:r>
            <a:r>
              <a:rPr lang="en" altLang="zh-CN" sz="1400" dirty="0"/>
              <a:t>(</a:t>
            </a:r>
            <a:r>
              <a:rPr lang="en" altLang="zh-CN" sz="1400" i="1" dirty="0">
                <a:solidFill>
                  <a:srgbClr val="9876AA"/>
                </a:solidFill>
              </a:rPr>
              <a:t>template</a:t>
            </a:r>
            <a:r>
              <a:rPr lang="en" altLang="zh-CN" sz="1400" dirty="0">
                <a:solidFill>
                  <a:srgbClr val="CC7832"/>
                </a:solidFill>
              </a:rPr>
              <a:t>, </a:t>
            </a:r>
            <a:r>
              <a:rPr lang="en" altLang="zh-CN" sz="1400" dirty="0"/>
              <a:t>name))</a:t>
            </a:r>
            <a:r>
              <a:rPr lang="en" altLang="zh-CN" sz="1400" dirty="0">
                <a:solidFill>
                  <a:srgbClr val="CC7832"/>
                </a:solidFill>
              </a:rPr>
              <a:t>;</a:t>
            </a:r>
            <a:br>
              <a:rPr lang="en" altLang="zh-CN" sz="1400" dirty="0">
                <a:solidFill>
                  <a:srgbClr val="CC7832"/>
                </a:solidFill>
              </a:rPr>
            </a:br>
            <a:r>
              <a:rPr lang="en" altLang="zh-CN" sz="1400" dirty="0">
                <a:solidFill>
                  <a:srgbClr val="CC7832"/>
                </a:solidFill>
              </a:rPr>
              <a:t>   </a:t>
            </a:r>
            <a:r>
              <a:rPr lang="en" altLang="zh-CN" sz="1400" dirty="0"/>
              <a:t>}</a:t>
            </a:r>
            <a:br>
              <a:rPr lang="en" altLang="zh-CN" sz="1400" dirty="0"/>
            </a:br>
            <a:br>
              <a:rPr lang="en" altLang="zh-CN" sz="1400" dirty="0"/>
            </a:br>
            <a:r>
              <a:rPr lang="en" altLang="zh-CN" sz="1400" dirty="0"/>
              <a:t>   </a:t>
            </a:r>
            <a:r>
              <a:rPr lang="en" altLang="zh-CN" sz="1400" dirty="0">
                <a:solidFill>
                  <a:srgbClr val="BBB529"/>
                </a:solidFill>
              </a:rPr>
              <a:t>@</a:t>
            </a:r>
            <a:r>
              <a:rPr lang="en" altLang="zh-CN" sz="1400" dirty="0" err="1">
                <a:solidFill>
                  <a:srgbClr val="BBB529"/>
                </a:solidFill>
              </a:rPr>
              <a:t>PostMapping</a:t>
            </a:r>
            <a:r>
              <a:rPr lang="en" altLang="zh-CN" sz="1400" dirty="0"/>
              <a:t>(</a:t>
            </a:r>
            <a:r>
              <a:rPr lang="en" altLang="zh-CN" sz="1400" dirty="0">
                <a:solidFill>
                  <a:srgbClr val="6A8759"/>
                </a:solidFill>
              </a:rPr>
              <a:t>"/greeting"</a:t>
            </a:r>
            <a:r>
              <a:rPr lang="en" altLang="zh-CN" sz="1400" dirty="0"/>
              <a:t>)</a:t>
            </a:r>
            <a:br>
              <a:rPr lang="en" altLang="zh-CN" sz="1400" dirty="0"/>
            </a:br>
            <a:r>
              <a:rPr lang="en" altLang="zh-CN" sz="1400" dirty="0"/>
              <a:t>   </a:t>
            </a:r>
            <a:r>
              <a:rPr lang="en" altLang="zh-CN" sz="1400" dirty="0">
                <a:solidFill>
                  <a:srgbClr val="CC7832"/>
                </a:solidFill>
              </a:rPr>
              <a:t>public </a:t>
            </a:r>
            <a:r>
              <a:rPr lang="en" altLang="zh-CN" sz="1400" dirty="0"/>
              <a:t>Greeting </a:t>
            </a:r>
            <a:r>
              <a:rPr lang="en" altLang="zh-CN" sz="1400" dirty="0" err="1">
                <a:solidFill>
                  <a:srgbClr val="FFC66D"/>
                </a:solidFill>
              </a:rPr>
              <a:t>greetingpost</a:t>
            </a:r>
            <a:r>
              <a:rPr lang="en" altLang="zh-CN" sz="1400" dirty="0"/>
              <a:t>(</a:t>
            </a:r>
            <a:r>
              <a:rPr lang="en" altLang="zh-CN" sz="1400" dirty="0">
                <a:solidFill>
                  <a:srgbClr val="BBB529"/>
                </a:solidFill>
              </a:rPr>
              <a:t>@</a:t>
            </a:r>
            <a:r>
              <a:rPr lang="en" altLang="zh-CN" sz="1400" dirty="0" err="1">
                <a:solidFill>
                  <a:srgbClr val="BBB529"/>
                </a:solidFill>
              </a:rPr>
              <a:t>RequestParam</a:t>
            </a:r>
            <a:r>
              <a:rPr lang="en" altLang="zh-CN" sz="1400" dirty="0"/>
              <a:t>(</a:t>
            </a:r>
            <a:r>
              <a:rPr lang="en" altLang="zh-CN" sz="1400" dirty="0">
                <a:solidFill>
                  <a:srgbClr val="D0D0FF"/>
                </a:solidFill>
              </a:rPr>
              <a:t>value </a:t>
            </a:r>
            <a:r>
              <a:rPr lang="en" altLang="zh-CN" sz="1400" dirty="0"/>
              <a:t>= </a:t>
            </a:r>
            <a:r>
              <a:rPr lang="en" altLang="zh-CN" sz="1400" dirty="0">
                <a:solidFill>
                  <a:srgbClr val="6A8759"/>
                </a:solidFill>
              </a:rPr>
              <a:t>"name"</a:t>
            </a:r>
            <a:r>
              <a:rPr lang="en" altLang="zh-CN" sz="1400" dirty="0">
                <a:solidFill>
                  <a:srgbClr val="CC7832"/>
                </a:solidFill>
              </a:rPr>
              <a:t>, </a:t>
            </a:r>
            <a:r>
              <a:rPr lang="en" altLang="zh-CN" sz="1400" dirty="0" err="1">
                <a:solidFill>
                  <a:srgbClr val="D0D0FF"/>
                </a:solidFill>
              </a:rPr>
              <a:t>defaultValue</a:t>
            </a:r>
            <a:r>
              <a:rPr lang="en" altLang="zh-CN" sz="1400" dirty="0">
                <a:solidFill>
                  <a:srgbClr val="D0D0FF"/>
                </a:solidFill>
              </a:rPr>
              <a:t> </a:t>
            </a:r>
            <a:r>
              <a:rPr lang="en" altLang="zh-CN" sz="1400" dirty="0"/>
              <a:t>= </a:t>
            </a:r>
            <a:r>
              <a:rPr lang="en" altLang="zh-CN" sz="1400" dirty="0">
                <a:solidFill>
                  <a:srgbClr val="6A8759"/>
                </a:solidFill>
              </a:rPr>
              <a:t>"Spring"</a:t>
            </a:r>
            <a:r>
              <a:rPr lang="en" altLang="zh-CN" sz="1400" dirty="0"/>
              <a:t>) String name) {</a:t>
            </a:r>
            <a:br>
              <a:rPr lang="en" altLang="zh-CN" sz="1400" dirty="0"/>
            </a:br>
            <a:r>
              <a:rPr lang="en" altLang="zh-CN" sz="1400" dirty="0"/>
              <a:t>      </a:t>
            </a:r>
            <a:r>
              <a:rPr lang="en" altLang="zh-CN" sz="1400" dirty="0">
                <a:solidFill>
                  <a:srgbClr val="CC7832"/>
                </a:solidFill>
              </a:rPr>
              <a:t>return new </a:t>
            </a:r>
            <a:r>
              <a:rPr lang="en" altLang="zh-CN" sz="1400" dirty="0"/>
              <a:t>Greeting(</a:t>
            </a:r>
            <a:r>
              <a:rPr lang="en" altLang="zh-CN" sz="1400" dirty="0" err="1">
                <a:solidFill>
                  <a:srgbClr val="9876AA"/>
                </a:solidFill>
              </a:rPr>
              <a:t>counter</a:t>
            </a:r>
            <a:r>
              <a:rPr lang="en" altLang="zh-CN" sz="1400" dirty="0" err="1"/>
              <a:t>.incrementAndGet</a:t>
            </a:r>
            <a:r>
              <a:rPr lang="en" altLang="zh-CN" sz="1400" dirty="0"/>
              <a:t>()</a:t>
            </a:r>
            <a:r>
              <a:rPr lang="en" altLang="zh-CN" sz="1400" dirty="0">
                <a:solidFill>
                  <a:srgbClr val="CC7832"/>
                </a:solidFill>
              </a:rPr>
              <a:t>, </a:t>
            </a:r>
            <a:r>
              <a:rPr lang="en" altLang="zh-CN" sz="1400" dirty="0" err="1"/>
              <a:t>String.</a:t>
            </a:r>
            <a:r>
              <a:rPr lang="en" altLang="zh-CN" sz="1400" i="1" dirty="0" err="1"/>
              <a:t>format</a:t>
            </a:r>
            <a:r>
              <a:rPr lang="en" altLang="zh-CN" sz="1400" dirty="0"/>
              <a:t>(</a:t>
            </a:r>
            <a:r>
              <a:rPr lang="en" altLang="zh-CN" sz="1400" i="1" dirty="0">
                <a:solidFill>
                  <a:srgbClr val="9876AA"/>
                </a:solidFill>
              </a:rPr>
              <a:t>template</a:t>
            </a:r>
            <a:r>
              <a:rPr lang="en" altLang="zh-CN" sz="1400" dirty="0">
                <a:solidFill>
                  <a:srgbClr val="CC7832"/>
                </a:solidFill>
              </a:rPr>
              <a:t>, </a:t>
            </a:r>
            <a:r>
              <a:rPr lang="en" altLang="zh-CN" sz="1400" dirty="0"/>
              <a:t>name))</a:t>
            </a:r>
            <a:r>
              <a:rPr lang="en" altLang="zh-CN" sz="1400" dirty="0">
                <a:solidFill>
                  <a:srgbClr val="CC7832"/>
                </a:solidFill>
              </a:rPr>
              <a:t>;</a:t>
            </a:r>
            <a:br>
              <a:rPr lang="en" altLang="zh-CN" sz="1400" dirty="0">
                <a:solidFill>
                  <a:srgbClr val="CC7832"/>
                </a:solidFill>
              </a:rPr>
            </a:br>
            <a:r>
              <a:rPr lang="en" altLang="zh-CN" sz="1400" dirty="0">
                <a:solidFill>
                  <a:srgbClr val="CC7832"/>
                </a:solidFill>
              </a:rPr>
              <a:t>   </a:t>
            </a:r>
            <a:r>
              <a:rPr lang="en" altLang="zh-CN" sz="1400" dirty="0"/>
              <a:t>}</a:t>
            </a:r>
            <a:br>
              <a:rPr lang="en" altLang="zh-CN" sz="1400" dirty="0"/>
            </a:br>
            <a:r>
              <a:rPr lang="en" altLang="zh-CN" sz="1400" dirty="0"/>
              <a:t>}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74573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9DD87-5672-6C48-AE13-0980FCB83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Building a RESTful Web 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80BF29-DBD9-BB4B-8978-FAFB9D652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1500" dirty="0" err="1"/>
              <a:t>Greeting.java</a:t>
            </a:r>
            <a:endParaRPr kumimoji="1" lang="zh-CN" altLang="en-US" sz="15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0E8CA0-E803-2340-92D2-7AD6358B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54</a:t>
            </a:fld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822DC3-75D8-C040-B1A7-904D242C7BAD}"/>
              </a:ext>
            </a:extLst>
          </p:cNvPr>
          <p:cNvSpPr/>
          <p:nvPr/>
        </p:nvSpPr>
        <p:spPr>
          <a:xfrm>
            <a:off x="1685287" y="2387084"/>
            <a:ext cx="5773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800" dirty="0">
                <a:solidFill>
                  <a:srgbClr val="0033B3"/>
                </a:solidFill>
                <a:effectLst/>
                <a:latin typeface="JetBrains Mono"/>
              </a:rPr>
              <a:t>public record </a:t>
            </a:r>
            <a:r>
              <a:rPr lang="en" altLang="zh-CN" sz="1800" dirty="0">
                <a:solidFill>
                  <a:srgbClr val="000000"/>
                </a:solidFill>
                <a:effectLst/>
                <a:latin typeface="JetBrains Mono"/>
              </a:rPr>
              <a:t>Greeting</a:t>
            </a:r>
            <a:r>
              <a:rPr lang="en" altLang="zh-C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" altLang="zh-CN" sz="1800" dirty="0">
                <a:solidFill>
                  <a:srgbClr val="0033B3"/>
                </a:solidFill>
                <a:effectLst/>
                <a:latin typeface="JetBrains Mono"/>
              </a:rPr>
              <a:t>long </a:t>
            </a:r>
            <a:r>
              <a:rPr lang="en" altLang="zh-CN" sz="1800" dirty="0">
                <a:solidFill>
                  <a:srgbClr val="080808"/>
                </a:solidFill>
                <a:effectLst/>
                <a:latin typeface="JetBrains Mono"/>
              </a:rPr>
              <a:t>id, </a:t>
            </a:r>
            <a:r>
              <a:rPr lang="en" altLang="zh-CN" sz="1800" dirty="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" altLang="zh-CN" sz="1800" dirty="0">
                <a:solidFill>
                  <a:srgbClr val="080808"/>
                </a:solidFill>
                <a:effectLst/>
                <a:latin typeface="JetBrains Mono"/>
              </a:rPr>
              <a:t>content) { }</a:t>
            </a:r>
          </a:p>
        </p:txBody>
      </p:sp>
    </p:spTree>
    <p:extLst>
      <p:ext uri="{BB962C8B-B14F-4D97-AF65-F5344CB8AC3E}">
        <p14:creationId xmlns:p14="http://schemas.microsoft.com/office/powerpoint/2010/main" val="382048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86277-DE4E-7143-9910-628FD01BF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Consuming a RESTful Web 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CDACE3-1F73-6B44-9129-7422E07A1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RESTful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4D3FEC-31A5-C045-B006-13E26359F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55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E74B2C-DEA1-6C46-BD1D-A65EAD23F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92" y="3229477"/>
            <a:ext cx="4995174" cy="19349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B175E15-1C71-B246-AC9F-78FD1AC86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392" y="1224414"/>
            <a:ext cx="4995174" cy="194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38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9DD87-5672-6C48-AE13-0980FCB83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Consuming a RESTful Web 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80BF29-DBD9-BB4B-8978-FAFB9D652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1500" dirty="0" err="1"/>
              <a:t>App.js</a:t>
            </a:r>
            <a:endParaRPr kumimoji="1" lang="zh-CN" altLang="en-US" sz="15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0E8CA0-E803-2340-92D2-7AD6358B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56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6149BD-FE24-744C-990D-30E74AF0850C}"/>
              </a:ext>
            </a:extLst>
          </p:cNvPr>
          <p:cNvSpPr/>
          <p:nvPr/>
        </p:nvSpPr>
        <p:spPr>
          <a:xfrm>
            <a:off x="1535985" y="1090558"/>
            <a:ext cx="62606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200" dirty="0">
                <a:solidFill>
                  <a:srgbClr val="CC7832"/>
                </a:solidFill>
              </a:rPr>
              <a:t>import </a:t>
            </a:r>
            <a:r>
              <a:rPr lang="en" altLang="zh-CN" sz="1200" b="1" i="1" dirty="0">
                <a:solidFill>
                  <a:srgbClr val="9876AA"/>
                </a:solidFill>
              </a:rPr>
              <a:t>React </a:t>
            </a:r>
            <a:r>
              <a:rPr lang="en" altLang="zh-CN" sz="1200" dirty="0">
                <a:solidFill>
                  <a:srgbClr val="CC7832"/>
                </a:solidFill>
              </a:rPr>
              <a:t>from </a:t>
            </a:r>
            <a:r>
              <a:rPr lang="en" altLang="zh-CN" sz="1200" dirty="0">
                <a:solidFill>
                  <a:srgbClr val="6A8759"/>
                </a:solidFill>
              </a:rPr>
              <a:t>'react'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import </a:t>
            </a:r>
            <a:r>
              <a:rPr lang="en" altLang="zh-CN" sz="1200" dirty="0"/>
              <a:t>logo </a:t>
            </a:r>
            <a:r>
              <a:rPr lang="en" altLang="zh-CN" sz="1200" dirty="0">
                <a:solidFill>
                  <a:srgbClr val="CC7832"/>
                </a:solidFill>
              </a:rPr>
              <a:t>from </a:t>
            </a:r>
            <a:r>
              <a:rPr lang="en" altLang="zh-CN" sz="1200" dirty="0">
                <a:solidFill>
                  <a:srgbClr val="6A8759"/>
                </a:solidFill>
              </a:rPr>
              <a:t>'./</a:t>
            </a:r>
            <a:r>
              <a:rPr lang="en" altLang="zh-CN" sz="1200" dirty="0" err="1">
                <a:solidFill>
                  <a:srgbClr val="6A8759"/>
                </a:solidFill>
              </a:rPr>
              <a:t>logo.svg</a:t>
            </a:r>
            <a:r>
              <a:rPr lang="en" altLang="zh-CN" sz="1200" dirty="0">
                <a:solidFill>
                  <a:srgbClr val="6A8759"/>
                </a:solidFill>
              </a:rPr>
              <a:t>'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import </a:t>
            </a:r>
            <a:r>
              <a:rPr lang="en" altLang="zh-CN" sz="1200" dirty="0">
                <a:solidFill>
                  <a:srgbClr val="6A8759"/>
                </a:solidFill>
              </a:rPr>
              <a:t>'./</a:t>
            </a:r>
            <a:r>
              <a:rPr lang="en" altLang="zh-CN" sz="1200" dirty="0" err="1">
                <a:solidFill>
                  <a:srgbClr val="6A8759"/>
                </a:solidFill>
              </a:rPr>
              <a:t>App.css</a:t>
            </a:r>
            <a:r>
              <a:rPr lang="en" altLang="zh-CN" sz="1200" dirty="0">
                <a:solidFill>
                  <a:srgbClr val="6A8759"/>
                </a:solidFill>
              </a:rPr>
              <a:t>'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>
                <a:solidFill>
                  <a:srgbClr val="CC7832"/>
                </a:solidFill>
              </a:rPr>
              <a:t>function </a:t>
            </a:r>
            <a:r>
              <a:rPr lang="en" altLang="zh-CN" sz="1200" dirty="0">
                <a:solidFill>
                  <a:srgbClr val="FFC66D"/>
                </a:solidFill>
              </a:rPr>
              <a:t>App</a:t>
            </a:r>
            <a:r>
              <a:rPr lang="en" altLang="zh-CN" sz="1200" dirty="0"/>
              <a:t>() {</a:t>
            </a:r>
            <a:br>
              <a:rPr lang="en" altLang="zh-CN" sz="1200" dirty="0"/>
            </a:br>
            <a:r>
              <a:rPr lang="en" altLang="zh-CN" sz="1200" dirty="0"/>
              <a:t>    </a:t>
            </a:r>
            <a:r>
              <a:rPr lang="en" altLang="zh-CN" sz="1200" dirty="0">
                <a:solidFill>
                  <a:srgbClr val="FFC66D"/>
                </a:solidFill>
              </a:rPr>
              <a:t>fetch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A8759"/>
                </a:solidFill>
              </a:rPr>
              <a:t>'http://localhost:8080/greeting'</a:t>
            </a:r>
            <a:r>
              <a:rPr lang="en" altLang="zh-CN" sz="1200" dirty="0"/>
              <a:t>)</a:t>
            </a:r>
            <a:br>
              <a:rPr lang="en" altLang="zh-CN" sz="1200" dirty="0"/>
            </a:br>
            <a:r>
              <a:rPr lang="en" altLang="zh-CN" sz="1200" dirty="0"/>
              <a:t>        .</a:t>
            </a:r>
            <a:r>
              <a:rPr lang="en" altLang="zh-CN" sz="1200" dirty="0">
                <a:solidFill>
                  <a:srgbClr val="FFC66D"/>
                </a:solidFill>
              </a:rPr>
              <a:t>then</a:t>
            </a:r>
            <a:r>
              <a:rPr lang="en" altLang="zh-CN" sz="1200" dirty="0"/>
              <a:t>(response =&gt; </a:t>
            </a:r>
            <a:r>
              <a:rPr lang="en" altLang="zh-CN" sz="1200" dirty="0" err="1"/>
              <a:t>response.</a:t>
            </a:r>
            <a:r>
              <a:rPr lang="en" altLang="zh-CN" sz="1200" dirty="0" err="1">
                <a:solidFill>
                  <a:srgbClr val="FFC66D"/>
                </a:solidFill>
              </a:rPr>
              <a:t>json</a:t>
            </a:r>
            <a:r>
              <a:rPr lang="en" altLang="zh-CN" sz="1200" dirty="0"/>
              <a:t>())</a:t>
            </a:r>
            <a:br>
              <a:rPr lang="en" altLang="zh-CN" sz="1200" dirty="0"/>
            </a:br>
            <a:r>
              <a:rPr lang="en" altLang="zh-CN" sz="1200" dirty="0"/>
              <a:t>        .</a:t>
            </a:r>
            <a:r>
              <a:rPr lang="en" altLang="zh-CN" sz="1200" dirty="0">
                <a:solidFill>
                  <a:srgbClr val="FFC66D"/>
                </a:solidFill>
              </a:rPr>
              <a:t>then</a:t>
            </a:r>
            <a:r>
              <a:rPr lang="en" altLang="zh-CN" sz="1200" dirty="0"/>
              <a:t>(data =&gt; {</a:t>
            </a:r>
            <a:br>
              <a:rPr lang="en" altLang="zh-CN" sz="1200" dirty="0"/>
            </a:br>
            <a:r>
              <a:rPr lang="en" altLang="zh-CN" sz="1200" dirty="0"/>
              <a:t>            </a:t>
            </a:r>
            <a:r>
              <a:rPr lang="en" altLang="zh-CN" sz="1200" b="1" i="1" dirty="0" err="1">
                <a:solidFill>
                  <a:srgbClr val="9876AA"/>
                </a:solidFill>
              </a:rPr>
              <a:t>document</a:t>
            </a:r>
            <a:r>
              <a:rPr lang="en" altLang="zh-CN" sz="1200" dirty="0" err="1"/>
              <a:t>.</a:t>
            </a:r>
            <a:r>
              <a:rPr lang="en" altLang="zh-CN" sz="1200" dirty="0" err="1">
                <a:solidFill>
                  <a:srgbClr val="FFC66D"/>
                </a:solidFill>
              </a:rPr>
              <a:t>getElementById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A8759"/>
                </a:solidFill>
              </a:rPr>
              <a:t>"</a:t>
            </a:r>
            <a:r>
              <a:rPr lang="en" altLang="zh-CN" sz="1200" dirty="0" err="1">
                <a:solidFill>
                  <a:srgbClr val="6A8759"/>
                </a:solidFill>
              </a:rPr>
              <a:t>anh</a:t>
            </a:r>
            <a:r>
              <a:rPr lang="en" altLang="zh-CN" sz="1200" dirty="0">
                <a:solidFill>
                  <a:srgbClr val="6A8759"/>
                </a:solidFill>
              </a:rPr>
              <a:t>"</a:t>
            </a:r>
            <a:r>
              <a:rPr lang="en" altLang="zh-CN" sz="1200" dirty="0"/>
              <a:t>).</a:t>
            </a:r>
            <a:r>
              <a:rPr lang="en" altLang="zh-CN" sz="1200" dirty="0" err="1">
                <a:solidFill>
                  <a:srgbClr val="9876AA"/>
                </a:solidFill>
              </a:rPr>
              <a:t>innerText</a:t>
            </a:r>
            <a:r>
              <a:rPr lang="en" altLang="zh-CN" sz="1200" dirty="0">
                <a:solidFill>
                  <a:srgbClr val="9876AA"/>
                </a:solidFill>
              </a:rPr>
              <a:t> </a:t>
            </a:r>
            <a:r>
              <a:rPr lang="en" altLang="zh-CN" sz="1200" dirty="0"/>
              <a:t>= </a:t>
            </a:r>
            <a:r>
              <a:rPr lang="en" altLang="zh-CN" sz="1200" b="1" i="1" dirty="0" err="1">
                <a:solidFill>
                  <a:srgbClr val="9876AA"/>
                </a:solidFill>
              </a:rPr>
              <a:t>JSON</a:t>
            </a:r>
            <a:r>
              <a:rPr lang="en" altLang="zh-CN" sz="1200" dirty="0" err="1"/>
              <a:t>.</a:t>
            </a:r>
            <a:r>
              <a:rPr lang="en" altLang="zh-CN" sz="1200" dirty="0" err="1">
                <a:solidFill>
                  <a:srgbClr val="FFC66D"/>
                </a:solidFill>
              </a:rPr>
              <a:t>stringify</a:t>
            </a:r>
            <a:r>
              <a:rPr lang="en" altLang="zh-CN" sz="1200" dirty="0"/>
              <a:t>(data)</a:t>
            </a:r>
            <a:br>
              <a:rPr lang="en" altLang="zh-CN" sz="1200" dirty="0"/>
            </a:br>
            <a:r>
              <a:rPr lang="en" altLang="zh-CN" sz="1200" dirty="0"/>
              <a:t>            </a:t>
            </a:r>
            <a:r>
              <a:rPr lang="en" altLang="zh-CN" sz="1200" b="1" i="1" dirty="0" err="1">
                <a:solidFill>
                  <a:srgbClr val="9876AA"/>
                </a:solidFill>
              </a:rPr>
              <a:t>console</a:t>
            </a:r>
            <a:r>
              <a:rPr lang="en" altLang="zh-CN" sz="1200" dirty="0" err="1"/>
              <a:t>.</a:t>
            </a:r>
            <a:r>
              <a:rPr lang="en" altLang="zh-CN" sz="1200" dirty="0" err="1">
                <a:solidFill>
                  <a:srgbClr val="FFC66D"/>
                </a:solidFill>
              </a:rPr>
              <a:t>log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A8759"/>
                </a:solidFill>
              </a:rPr>
              <a:t>'parsed json'</a:t>
            </a:r>
            <a:r>
              <a:rPr lang="en" altLang="zh-CN" sz="1200" dirty="0">
                <a:solidFill>
                  <a:srgbClr val="CC7832"/>
                </a:solidFill>
              </a:rPr>
              <a:t>, </a:t>
            </a:r>
            <a:r>
              <a:rPr lang="en" altLang="zh-CN" sz="1200" dirty="0"/>
              <a:t>data)</a:t>
            </a:r>
            <a:br>
              <a:rPr lang="en" altLang="zh-CN" sz="1200" dirty="0"/>
            </a:br>
            <a:r>
              <a:rPr lang="en" altLang="zh-CN" sz="1200" dirty="0"/>
              <a:t>        }).</a:t>
            </a:r>
            <a:r>
              <a:rPr lang="en" altLang="zh-CN" sz="1200" dirty="0">
                <a:solidFill>
                  <a:srgbClr val="FFC66D"/>
                </a:solidFill>
              </a:rPr>
              <a:t>catch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CC7832"/>
                </a:solidFill>
              </a:rPr>
              <a:t>function </a:t>
            </a:r>
            <a:r>
              <a:rPr lang="en" altLang="zh-CN" sz="1200" dirty="0"/>
              <a:t>(ex) {</a:t>
            </a:r>
            <a:br>
              <a:rPr lang="en" altLang="zh-CN" sz="1200" dirty="0"/>
            </a:br>
            <a:r>
              <a:rPr lang="en" altLang="zh-CN" sz="1200" dirty="0"/>
              <a:t>        </a:t>
            </a:r>
            <a:r>
              <a:rPr lang="en" altLang="zh-CN" sz="1200" b="1" i="1" dirty="0" err="1">
                <a:solidFill>
                  <a:srgbClr val="9876AA"/>
                </a:solidFill>
              </a:rPr>
              <a:t>console</a:t>
            </a:r>
            <a:r>
              <a:rPr lang="en" altLang="zh-CN" sz="1200" dirty="0" err="1"/>
              <a:t>.</a:t>
            </a:r>
            <a:r>
              <a:rPr lang="en" altLang="zh-CN" sz="1200" dirty="0" err="1">
                <a:solidFill>
                  <a:srgbClr val="FFC66D"/>
                </a:solidFill>
              </a:rPr>
              <a:t>log</a:t>
            </a:r>
            <a:r>
              <a:rPr lang="en" altLang="zh-CN" sz="1200" dirty="0"/>
              <a:t>(</a:t>
            </a:r>
            <a:r>
              <a:rPr lang="en" altLang="zh-CN" sz="1200" dirty="0">
                <a:solidFill>
                  <a:srgbClr val="6A8759"/>
                </a:solidFill>
              </a:rPr>
              <a:t>'parsing failed'</a:t>
            </a:r>
            <a:r>
              <a:rPr lang="en" altLang="zh-CN" sz="1200" dirty="0">
                <a:solidFill>
                  <a:srgbClr val="CC7832"/>
                </a:solidFill>
              </a:rPr>
              <a:t>, </a:t>
            </a:r>
            <a:r>
              <a:rPr lang="en" altLang="zh-CN" sz="1200" dirty="0"/>
              <a:t>ex)</a:t>
            </a:r>
            <a:br>
              <a:rPr lang="en" altLang="zh-CN" sz="1200" dirty="0"/>
            </a:br>
            <a:r>
              <a:rPr lang="en" altLang="zh-CN" sz="1200" dirty="0"/>
              <a:t>    })</a:t>
            </a:r>
            <a:br>
              <a:rPr lang="en" altLang="zh-CN" sz="1200" dirty="0"/>
            </a:br>
            <a:r>
              <a:rPr lang="en" altLang="zh-CN" sz="1200" dirty="0"/>
              <a:t>    </a:t>
            </a:r>
            <a:r>
              <a:rPr lang="en" altLang="zh-CN" sz="1200" dirty="0">
                <a:solidFill>
                  <a:srgbClr val="CC7832"/>
                </a:solidFill>
              </a:rPr>
              <a:t>return </a:t>
            </a:r>
            <a:r>
              <a:rPr lang="en" altLang="zh-CN" sz="1200" dirty="0"/>
              <a:t>(</a:t>
            </a:r>
            <a:br>
              <a:rPr lang="en" altLang="zh-CN" sz="1200" dirty="0"/>
            </a:br>
            <a:r>
              <a:rPr lang="en" altLang="zh-CN" sz="1200" dirty="0"/>
              <a:t>        </a:t>
            </a:r>
            <a:r>
              <a:rPr lang="en" altLang="zh-CN" sz="1200" dirty="0">
                <a:solidFill>
                  <a:srgbClr val="E8BF6A"/>
                </a:solidFill>
              </a:rPr>
              <a:t>&lt;div </a:t>
            </a:r>
            <a:r>
              <a:rPr lang="en" altLang="zh-CN" sz="1200" dirty="0" err="1">
                <a:solidFill>
                  <a:srgbClr val="BABABA"/>
                </a:solidFill>
              </a:rPr>
              <a:t>className</a:t>
            </a:r>
            <a:r>
              <a:rPr lang="en" altLang="zh-CN" sz="1200" dirty="0">
                <a:solidFill>
                  <a:srgbClr val="6A8759"/>
                </a:solidFill>
              </a:rPr>
              <a:t>="App"</a:t>
            </a:r>
            <a:r>
              <a:rPr lang="en" altLang="zh-CN" sz="1200" dirty="0">
                <a:solidFill>
                  <a:srgbClr val="E8BF6A"/>
                </a:solidFill>
              </a:rPr>
              <a:t>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    &lt;h1 </a:t>
            </a:r>
            <a:r>
              <a:rPr lang="en" altLang="zh-CN" sz="1200" dirty="0">
                <a:solidFill>
                  <a:srgbClr val="BABABA"/>
                </a:solidFill>
              </a:rPr>
              <a:t>id</a:t>
            </a:r>
            <a:r>
              <a:rPr lang="en" altLang="zh-CN" sz="1200" dirty="0">
                <a:solidFill>
                  <a:srgbClr val="6A8759"/>
                </a:solidFill>
              </a:rPr>
              <a:t>="</a:t>
            </a:r>
            <a:r>
              <a:rPr lang="en" altLang="zh-CN" sz="1200" dirty="0" err="1">
                <a:solidFill>
                  <a:srgbClr val="6A8759"/>
                </a:solidFill>
              </a:rPr>
              <a:t>anh</a:t>
            </a:r>
            <a:r>
              <a:rPr lang="en" altLang="zh-CN" sz="1200" dirty="0">
                <a:solidFill>
                  <a:srgbClr val="6A8759"/>
                </a:solidFill>
              </a:rPr>
              <a:t>"</a:t>
            </a:r>
            <a:r>
              <a:rPr lang="en" altLang="zh-CN" sz="1200" dirty="0">
                <a:solidFill>
                  <a:srgbClr val="E8BF6A"/>
                </a:solidFill>
              </a:rPr>
              <a:t>&gt;&lt;/h1&gt;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    &lt;/div&gt;</a:t>
            </a:r>
            <a:br>
              <a:rPr lang="en" altLang="zh-CN" sz="1200" dirty="0">
                <a:solidFill>
                  <a:srgbClr val="E8BF6A"/>
                </a:solidFill>
              </a:rPr>
            </a:br>
            <a:r>
              <a:rPr lang="en" altLang="zh-CN" sz="1200" dirty="0">
                <a:solidFill>
                  <a:srgbClr val="E8BF6A"/>
                </a:solidFill>
              </a:rPr>
              <a:t>    </a:t>
            </a:r>
            <a:r>
              <a:rPr lang="en" altLang="zh-CN" sz="1200" dirty="0"/>
              <a:t>)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br>
              <a:rPr lang="en" altLang="zh-CN" sz="1200" dirty="0">
                <a:solidFill>
                  <a:srgbClr val="CC7832"/>
                </a:solidFill>
              </a:rPr>
            </a:br>
            <a:r>
              <a:rPr lang="en" altLang="zh-CN" sz="1200" dirty="0"/>
              <a:t>}</a:t>
            </a:r>
            <a:br>
              <a:rPr lang="en" altLang="zh-CN" sz="1200" dirty="0"/>
            </a:br>
            <a:r>
              <a:rPr lang="en" altLang="zh-CN" sz="1200" dirty="0">
                <a:solidFill>
                  <a:srgbClr val="CC7832"/>
                </a:solidFill>
              </a:rPr>
              <a:t>export default </a:t>
            </a:r>
            <a:r>
              <a:rPr lang="en" altLang="zh-CN" sz="1200" dirty="0">
                <a:solidFill>
                  <a:srgbClr val="FFC66D"/>
                </a:solidFill>
              </a:rPr>
              <a:t>App</a:t>
            </a:r>
            <a:r>
              <a:rPr lang="en" altLang="zh-CN" sz="1200" dirty="0">
                <a:solidFill>
                  <a:srgbClr val="CC7832"/>
                </a:solidFill>
              </a:rPr>
              <a:t>;</a:t>
            </a:r>
            <a:endParaRPr lang="zh-CN" altLang="en-US" sz="1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87C599B-B984-1B46-A962-4CBD1443F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516" y="3960130"/>
            <a:ext cx="4080396" cy="67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82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9DD87-5672-6C48-AE13-0980FCB83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Consuming a RESTful Web Service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80BF29-DBD9-BB4B-8978-FAFB9D652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1500" dirty="0" err="1"/>
              <a:t>CorsConfig.java</a:t>
            </a:r>
            <a:endParaRPr kumimoji="1" lang="zh-CN" altLang="en-US" sz="15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0E8CA0-E803-2340-92D2-7AD6358B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57</a:t>
            </a:fld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A298DE-0092-8243-8C6A-3B170A8434A8}"/>
              </a:ext>
            </a:extLst>
          </p:cNvPr>
          <p:cNvSpPr/>
          <p:nvPr/>
        </p:nvSpPr>
        <p:spPr>
          <a:xfrm>
            <a:off x="1597638" y="1383618"/>
            <a:ext cx="4738836" cy="2793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350" dirty="0">
                <a:solidFill>
                  <a:srgbClr val="BBB529"/>
                </a:solidFill>
              </a:rPr>
              <a:t>@Configuration</a:t>
            </a:r>
            <a:br>
              <a:rPr lang="en" altLang="zh-CN" sz="1350" dirty="0">
                <a:solidFill>
                  <a:srgbClr val="BBB529"/>
                </a:solidFill>
              </a:rPr>
            </a:br>
            <a:r>
              <a:rPr lang="en" altLang="zh-CN" sz="1350" dirty="0">
                <a:solidFill>
                  <a:srgbClr val="CC7832"/>
                </a:solidFill>
              </a:rPr>
              <a:t>public class </a:t>
            </a:r>
            <a:r>
              <a:rPr lang="en" altLang="zh-CN" sz="1350" dirty="0" err="1"/>
              <a:t>CorsConfig</a:t>
            </a:r>
            <a:r>
              <a:rPr lang="en" altLang="zh-CN" sz="1350" dirty="0"/>
              <a:t> </a:t>
            </a:r>
            <a:r>
              <a:rPr lang="en" altLang="zh-CN" sz="1350" dirty="0">
                <a:solidFill>
                  <a:srgbClr val="CC7832"/>
                </a:solidFill>
              </a:rPr>
              <a:t>implements </a:t>
            </a:r>
            <a:r>
              <a:rPr lang="en" altLang="zh-CN" sz="1350" dirty="0" err="1"/>
              <a:t>WebMvcConfigurer</a:t>
            </a:r>
            <a:r>
              <a:rPr lang="en" altLang="zh-CN" sz="1350" dirty="0"/>
              <a:t> {</a:t>
            </a:r>
            <a:br>
              <a:rPr lang="en" altLang="zh-CN" sz="1350" dirty="0"/>
            </a:br>
            <a:br>
              <a:rPr lang="en" altLang="zh-CN" sz="1350" dirty="0"/>
            </a:br>
            <a:r>
              <a:rPr lang="en" altLang="zh-CN" sz="1350" dirty="0"/>
              <a:t>    </a:t>
            </a:r>
            <a:r>
              <a:rPr lang="en" altLang="zh-CN" sz="1350" dirty="0">
                <a:solidFill>
                  <a:srgbClr val="BBB529"/>
                </a:solidFill>
              </a:rPr>
              <a:t>@Override</a:t>
            </a:r>
            <a:br>
              <a:rPr lang="en" altLang="zh-CN" sz="1350" dirty="0">
                <a:solidFill>
                  <a:srgbClr val="BBB529"/>
                </a:solidFill>
              </a:rPr>
            </a:br>
            <a:r>
              <a:rPr lang="en" altLang="zh-CN" sz="1350" dirty="0">
                <a:solidFill>
                  <a:srgbClr val="BBB529"/>
                </a:solidFill>
              </a:rPr>
              <a:t>    </a:t>
            </a:r>
            <a:r>
              <a:rPr lang="en" altLang="zh-CN" sz="1350" dirty="0">
                <a:solidFill>
                  <a:srgbClr val="CC7832"/>
                </a:solidFill>
              </a:rPr>
              <a:t>public void </a:t>
            </a:r>
            <a:r>
              <a:rPr lang="en" altLang="zh-CN" sz="1350" dirty="0" err="1">
                <a:solidFill>
                  <a:srgbClr val="FFC66D"/>
                </a:solidFill>
              </a:rPr>
              <a:t>addCorsMappings</a:t>
            </a:r>
            <a:r>
              <a:rPr lang="en" altLang="zh-CN" sz="1350" dirty="0"/>
              <a:t>(</a:t>
            </a:r>
            <a:r>
              <a:rPr lang="en" altLang="zh-CN" sz="1350" dirty="0" err="1"/>
              <a:t>CorsRegistry</a:t>
            </a:r>
            <a:r>
              <a:rPr lang="en" altLang="zh-CN" sz="1350" dirty="0"/>
              <a:t> registry) {</a:t>
            </a:r>
            <a:br>
              <a:rPr lang="en" altLang="zh-CN" sz="1350" dirty="0"/>
            </a:br>
            <a:r>
              <a:rPr lang="en" altLang="zh-CN" sz="1350" dirty="0"/>
              <a:t>        </a:t>
            </a:r>
            <a:r>
              <a:rPr lang="en" altLang="zh-CN" sz="1350" dirty="0" err="1"/>
              <a:t>registry.addMapping</a:t>
            </a:r>
            <a:r>
              <a:rPr lang="en" altLang="zh-CN" sz="1350" dirty="0"/>
              <a:t>(</a:t>
            </a:r>
            <a:r>
              <a:rPr lang="en" altLang="zh-CN" sz="1350" dirty="0">
                <a:solidFill>
                  <a:srgbClr val="6A8759"/>
                </a:solidFill>
              </a:rPr>
              <a:t>"/**"</a:t>
            </a:r>
            <a:r>
              <a:rPr lang="en" altLang="zh-CN" sz="1350" dirty="0"/>
              <a:t>)</a:t>
            </a:r>
            <a:br>
              <a:rPr lang="en" altLang="zh-CN" sz="1350" dirty="0"/>
            </a:br>
            <a:r>
              <a:rPr lang="en" altLang="zh-CN" sz="1350" dirty="0"/>
              <a:t>                .</a:t>
            </a:r>
            <a:r>
              <a:rPr lang="en" altLang="zh-CN" sz="1350" dirty="0" err="1"/>
              <a:t>allowedOriginPatterns</a:t>
            </a:r>
            <a:r>
              <a:rPr lang="en" altLang="zh-CN" sz="1350" dirty="0"/>
              <a:t>(</a:t>
            </a:r>
            <a:r>
              <a:rPr lang="en" altLang="zh-CN" sz="1350" dirty="0">
                <a:solidFill>
                  <a:srgbClr val="6A8759"/>
                </a:solidFill>
              </a:rPr>
              <a:t>"*"</a:t>
            </a:r>
            <a:r>
              <a:rPr lang="en" altLang="zh-CN" sz="1350" dirty="0"/>
              <a:t>)</a:t>
            </a:r>
            <a:br>
              <a:rPr lang="en" altLang="zh-CN" sz="1350" dirty="0"/>
            </a:br>
            <a:r>
              <a:rPr lang="en" altLang="zh-CN" sz="1350" dirty="0"/>
              <a:t>                .</a:t>
            </a:r>
            <a:r>
              <a:rPr lang="en" altLang="zh-CN" sz="1350" dirty="0" err="1"/>
              <a:t>allowedMethods</a:t>
            </a:r>
            <a:r>
              <a:rPr lang="en" altLang="zh-CN" sz="1350" dirty="0"/>
              <a:t>(</a:t>
            </a:r>
            <a:r>
              <a:rPr lang="en" altLang="zh-CN" sz="1350" dirty="0">
                <a:solidFill>
                  <a:srgbClr val="6A8759"/>
                </a:solidFill>
              </a:rPr>
              <a:t>"*"</a:t>
            </a:r>
            <a:r>
              <a:rPr lang="en" altLang="zh-CN" sz="1350" dirty="0"/>
              <a:t>)</a:t>
            </a:r>
            <a:br>
              <a:rPr lang="en" altLang="zh-CN" sz="1350" dirty="0"/>
            </a:br>
            <a:r>
              <a:rPr lang="en" altLang="zh-CN" sz="1350" dirty="0"/>
              <a:t>                .</a:t>
            </a:r>
            <a:r>
              <a:rPr lang="en" altLang="zh-CN" sz="1350" dirty="0" err="1"/>
              <a:t>allowedHeaders</a:t>
            </a:r>
            <a:r>
              <a:rPr lang="en" altLang="zh-CN" sz="1350" dirty="0"/>
              <a:t>(</a:t>
            </a:r>
            <a:r>
              <a:rPr lang="en" altLang="zh-CN" sz="1350" dirty="0">
                <a:solidFill>
                  <a:srgbClr val="6A8759"/>
                </a:solidFill>
              </a:rPr>
              <a:t>"*"</a:t>
            </a:r>
            <a:r>
              <a:rPr lang="en" altLang="zh-CN" sz="1350" dirty="0"/>
              <a:t>)</a:t>
            </a:r>
            <a:br>
              <a:rPr lang="en" altLang="zh-CN" sz="1350" dirty="0"/>
            </a:br>
            <a:r>
              <a:rPr lang="en" altLang="zh-CN" sz="1350" dirty="0"/>
              <a:t>                .</a:t>
            </a:r>
            <a:r>
              <a:rPr lang="en" altLang="zh-CN" sz="1350" dirty="0" err="1"/>
              <a:t>exposedHeaders</a:t>
            </a:r>
            <a:r>
              <a:rPr lang="en" altLang="zh-CN" sz="1350" dirty="0"/>
              <a:t>(</a:t>
            </a:r>
            <a:r>
              <a:rPr lang="en" altLang="zh-CN" sz="1350" dirty="0" err="1"/>
              <a:t>HttpHeaders.</a:t>
            </a:r>
            <a:r>
              <a:rPr lang="en" altLang="zh-CN" sz="1350" i="1" dirty="0" err="1">
                <a:solidFill>
                  <a:srgbClr val="9876AA"/>
                </a:solidFill>
              </a:rPr>
              <a:t>SET_COOKIE</a:t>
            </a:r>
            <a:r>
              <a:rPr lang="en" altLang="zh-CN" sz="1350" dirty="0"/>
              <a:t>)</a:t>
            </a:r>
            <a:br>
              <a:rPr lang="en" altLang="zh-CN" sz="1350" dirty="0"/>
            </a:br>
            <a:r>
              <a:rPr lang="en" altLang="zh-CN" sz="1350" dirty="0"/>
              <a:t>                .</a:t>
            </a:r>
            <a:r>
              <a:rPr lang="en" altLang="zh-CN" sz="1350" dirty="0" err="1"/>
              <a:t>allowCredentials</a:t>
            </a:r>
            <a:r>
              <a:rPr lang="en" altLang="zh-CN" sz="1350" dirty="0"/>
              <a:t>(</a:t>
            </a:r>
            <a:r>
              <a:rPr lang="en" altLang="zh-CN" sz="1350" dirty="0">
                <a:solidFill>
                  <a:srgbClr val="CC7832"/>
                </a:solidFill>
              </a:rPr>
              <a:t>true</a:t>
            </a:r>
            <a:r>
              <a:rPr lang="en" altLang="zh-CN" sz="1350" dirty="0"/>
              <a:t>).</a:t>
            </a:r>
            <a:r>
              <a:rPr lang="en" altLang="zh-CN" sz="1350" dirty="0" err="1"/>
              <a:t>maxAge</a:t>
            </a:r>
            <a:r>
              <a:rPr lang="en" altLang="zh-CN" sz="1350" dirty="0"/>
              <a:t>(</a:t>
            </a:r>
            <a:r>
              <a:rPr lang="en" altLang="zh-CN" sz="1350" dirty="0">
                <a:solidFill>
                  <a:srgbClr val="6897BB"/>
                </a:solidFill>
              </a:rPr>
              <a:t>1800</a:t>
            </a:r>
            <a:r>
              <a:rPr lang="en" altLang="zh-CN" sz="1350" dirty="0"/>
              <a:t>)</a:t>
            </a:r>
            <a:r>
              <a:rPr lang="en" altLang="zh-CN" sz="1350" dirty="0">
                <a:solidFill>
                  <a:srgbClr val="CC7832"/>
                </a:solidFill>
              </a:rPr>
              <a:t>;</a:t>
            </a:r>
            <a:br>
              <a:rPr lang="en" altLang="zh-CN" sz="1350" dirty="0">
                <a:solidFill>
                  <a:srgbClr val="CC7832"/>
                </a:solidFill>
              </a:rPr>
            </a:br>
            <a:r>
              <a:rPr lang="en" altLang="zh-CN" sz="1350" dirty="0">
                <a:solidFill>
                  <a:srgbClr val="CC7832"/>
                </a:solidFill>
              </a:rPr>
              <a:t>    </a:t>
            </a:r>
            <a:r>
              <a:rPr lang="en" altLang="zh-CN" sz="1350" dirty="0"/>
              <a:t>}</a:t>
            </a:r>
            <a:br>
              <a:rPr lang="en" altLang="zh-CN" sz="1350" dirty="0"/>
            </a:br>
            <a:r>
              <a:rPr lang="en" altLang="zh-CN" sz="1350" dirty="0"/>
              <a:t>}</a:t>
            </a:r>
            <a:endParaRPr lang="zh-CN" altLang="en-US" sz="135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40B6D5-CA73-0B44-BF42-D49555850ADA}"/>
              </a:ext>
            </a:extLst>
          </p:cNvPr>
          <p:cNvSpPr/>
          <p:nvPr/>
        </p:nvSpPr>
        <p:spPr>
          <a:xfrm>
            <a:off x="6331302" y="918459"/>
            <a:ext cx="14041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Cross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origins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07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Trade-off of WS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CN" sz="1500" dirty="0">
                <a:ea typeface="宋体" pitchFamily="2" charset="-122"/>
                <a:cs typeface="Times New Roman" pitchFamily="18" charset="0"/>
              </a:rPr>
              <a:t>Advantages:</a:t>
            </a:r>
            <a:endParaRPr lang="zh-CN" altLang="en-US" sz="1500" dirty="0">
              <a:ea typeface="宋体" pitchFamily="2" charset="-122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sz="1350" dirty="0">
                <a:ea typeface="宋体" pitchFamily="2" charset="-122"/>
                <a:cs typeface="Times New Roman" pitchFamily="18" charset="0"/>
              </a:rPr>
              <a:t>Across platforms</a:t>
            </a:r>
          </a:p>
          <a:p>
            <a:pPr lvl="2">
              <a:defRPr/>
            </a:pPr>
            <a:r>
              <a:rPr lang="en-US" altLang="zh-CN" sz="1050" dirty="0">
                <a:ea typeface="宋体" pitchFamily="2" charset="-122"/>
                <a:cs typeface="Times New Roman" pitchFamily="18" charset="0"/>
              </a:rPr>
              <a:t>XML-based, independent of vendors</a:t>
            </a:r>
          </a:p>
          <a:p>
            <a:pPr lvl="1">
              <a:defRPr/>
            </a:pPr>
            <a:r>
              <a:rPr lang="en-US" altLang="zh-CN" sz="1350" dirty="0">
                <a:ea typeface="宋体" pitchFamily="2" charset="-122"/>
                <a:cs typeface="Times New Roman" pitchFamily="18" charset="0"/>
              </a:rPr>
              <a:t>Self-described</a:t>
            </a:r>
          </a:p>
          <a:p>
            <a:pPr lvl="2">
              <a:defRPr/>
            </a:pPr>
            <a:r>
              <a:rPr lang="en-US" altLang="zh-CN" sz="1050" dirty="0">
                <a:ea typeface="宋体" pitchFamily="2" charset="-122"/>
                <a:cs typeface="Times New Roman" pitchFamily="18" charset="0"/>
              </a:rPr>
              <a:t>WSDL: operations, parameters, types and return values</a:t>
            </a:r>
          </a:p>
          <a:p>
            <a:pPr lvl="1">
              <a:defRPr/>
            </a:pPr>
            <a:r>
              <a:rPr lang="en-US" altLang="zh-CN" sz="1350" dirty="0" err="1">
                <a:ea typeface="宋体" pitchFamily="2" charset="-122"/>
                <a:cs typeface="Times New Roman" pitchFamily="18" charset="0"/>
              </a:rPr>
              <a:t>Modulization</a:t>
            </a:r>
            <a:endParaRPr lang="en-US" altLang="zh-CN" sz="1350" dirty="0">
              <a:ea typeface="宋体" pitchFamily="2" charset="-122"/>
              <a:cs typeface="Times New Roman" pitchFamily="18" charset="0"/>
            </a:endParaRPr>
          </a:p>
          <a:p>
            <a:pPr lvl="2">
              <a:defRPr/>
            </a:pPr>
            <a:r>
              <a:rPr lang="en-US" altLang="zh-CN" sz="1050" dirty="0">
                <a:ea typeface="宋体" pitchFamily="2" charset="-122"/>
                <a:cs typeface="Times New Roman" pitchFamily="18" charset="0"/>
              </a:rPr>
              <a:t>Encapsulate components</a:t>
            </a:r>
          </a:p>
          <a:p>
            <a:pPr lvl="1">
              <a:defRPr/>
            </a:pPr>
            <a:r>
              <a:rPr lang="en-US" altLang="zh-CN" sz="1350" dirty="0">
                <a:ea typeface="宋体" pitchFamily="2" charset="-122"/>
                <a:cs typeface="Times New Roman" pitchFamily="18" charset="0"/>
              </a:rPr>
              <a:t>Across Firewall</a:t>
            </a:r>
          </a:p>
          <a:p>
            <a:pPr lvl="2">
              <a:defRPr/>
            </a:pPr>
            <a:r>
              <a:rPr lang="en-US" altLang="zh-CN" sz="1050" dirty="0">
                <a:ea typeface="宋体" pitchFamily="2" charset="-122"/>
                <a:cs typeface="Times New Roman" pitchFamily="18" charset="0"/>
              </a:rPr>
              <a:t>HTTP</a:t>
            </a:r>
            <a:br>
              <a:rPr lang="en-US" altLang="zh-CN" sz="1050" dirty="0">
                <a:ea typeface="宋体" pitchFamily="2" charset="-122"/>
                <a:cs typeface="Times New Roman" pitchFamily="18" charset="0"/>
              </a:rPr>
            </a:br>
            <a:endParaRPr lang="en-US" altLang="zh-CN" sz="1050" dirty="0">
              <a:ea typeface="宋体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1500" dirty="0">
                <a:ea typeface="宋体" pitchFamily="2" charset="-122"/>
                <a:cs typeface="Times New Roman" pitchFamily="18" charset="0"/>
              </a:rPr>
              <a:t>Disadvantages:</a:t>
            </a:r>
          </a:p>
          <a:p>
            <a:pPr lvl="1">
              <a:defRPr/>
            </a:pPr>
            <a:r>
              <a:rPr lang="en-US" altLang="zh-CN" sz="1350" dirty="0">
                <a:ea typeface="宋体" pitchFamily="2" charset="-122"/>
                <a:cs typeface="Times New Roman" pitchFamily="18" charset="0"/>
              </a:rPr>
              <a:t>Lower productivity</a:t>
            </a:r>
          </a:p>
          <a:p>
            <a:pPr lvl="2">
              <a:defRPr/>
            </a:pPr>
            <a:r>
              <a:rPr lang="en-US" altLang="zh-CN" sz="1050" dirty="0">
                <a:ea typeface="宋体" pitchFamily="2" charset="-122"/>
                <a:cs typeface="Times New Roman" pitchFamily="18" charset="0"/>
              </a:rPr>
              <a:t>Not suitable for stand-alone applications</a:t>
            </a:r>
            <a:endParaRPr lang="zh-CN" altLang="en-US" sz="1050" dirty="0">
              <a:ea typeface="宋体" pitchFamily="2" charset="-122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sz="1350" dirty="0">
                <a:ea typeface="宋体" pitchFamily="2" charset="-122"/>
                <a:cs typeface="Times New Roman" pitchFamily="18" charset="0"/>
              </a:rPr>
              <a:t>Lower performance</a:t>
            </a:r>
          </a:p>
          <a:p>
            <a:pPr lvl="2">
              <a:defRPr/>
            </a:pPr>
            <a:r>
              <a:rPr lang="en-US" altLang="zh-CN" sz="1050" dirty="0">
                <a:ea typeface="宋体" pitchFamily="2" charset="-122"/>
                <a:cs typeface="Times New Roman" pitchFamily="18" charset="0"/>
              </a:rPr>
              <a:t>Parse and  assembly</a:t>
            </a:r>
          </a:p>
          <a:p>
            <a:pPr lvl="1">
              <a:defRPr/>
            </a:pPr>
            <a:r>
              <a:rPr lang="en-US" altLang="zh-CN" sz="1350" dirty="0">
                <a:ea typeface="宋体" pitchFamily="2" charset="-122"/>
                <a:cs typeface="Times New Roman" pitchFamily="18" charset="0"/>
              </a:rPr>
              <a:t>Security</a:t>
            </a:r>
            <a:endParaRPr lang="en-US" altLang="zh-CN" dirty="0">
              <a:ea typeface="宋体" pitchFamily="2" charset="-122"/>
              <a:cs typeface="Times New Roman" pitchFamily="18" charset="0"/>
            </a:endParaRPr>
          </a:p>
          <a:p>
            <a:pPr lvl="2">
              <a:defRPr/>
            </a:pPr>
            <a:r>
              <a:rPr lang="en-US" altLang="zh-CN" sz="1050" dirty="0">
                <a:ea typeface="宋体" pitchFamily="2" charset="-122"/>
                <a:cs typeface="Times New Roman" pitchFamily="18" charset="0"/>
              </a:rPr>
              <a:t>Depend on other mechanism, such as HTTP+SSL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466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When we should use WS:</a:t>
            </a:r>
            <a:endParaRPr lang="zh-CN" altLang="en-US" dirty="0">
              <a:ea typeface="宋体" pitchFamily="2" charset="-122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Support communication across firewall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Support application integration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Support B2B integration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Encourage  reusing software</a:t>
            </a:r>
            <a:br>
              <a:rPr lang="en-US" altLang="zh-CN" dirty="0">
                <a:ea typeface="宋体" pitchFamily="2" charset="-122"/>
                <a:cs typeface="Times New Roman" pitchFamily="18" charset="0"/>
              </a:rPr>
            </a:br>
            <a:endParaRPr lang="en-US" altLang="zh-CN" dirty="0">
              <a:ea typeface="宋体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When we should NOT use WS: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Stand-alone applications</a:t>
            </a:r>
          </a:p>
          <a:p>
            <a:pPr lvl="2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Such as MS Office</a:t>
            </a:r>
            <a:endParaRPr lang="zh-CN" altLang="en-US" sz="1200" dirty="0">
              <a:ea typeface="宋体" pitchFamily="2" charset="-122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dirty="0">
                <a:ea typeface="宋体" pitchFamily="2" charset="-122"/>
                <a:cs typeface="Times New Roman" pitchFamily="18" charset="0"/>
              </a:rPr>
              <a:t>Homogeneous applications in LAN</a:t>
            </a:r>
          </a:p>
          <a:p>
            <a:pPr lvl="2">
              <a:defRPr/>
            </a:pP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Such as communication between COM+s or EJBs</a:t>
            </a:r>
            <a:br>
              <a:rPr lang="en-US" altLang="zh-CN" sz="1200" dirty="0">
                <a:ea typeface="宋体" pitchFamily="2" charset="-122"/>
                <a:cs typeface="Times New Roman" pitchFamily="18" charset="0"/>
              </a:rPr>
            </a:br>
            <a:r>
              <a:rPr lang="en-US" altLang="zh-CN" sz="1200" dirty="0">
                <a:ea typeface="宋体" pitchFamily="2" charset="-122"/>
                <a:cs typeface="Times New Roman" pitchFamily="18" charset="0"/>
              </a:rPr>
              <a:t>     </a:t>
            </a:r>
            <a:endParaRPr lang="zh-CN" altLang="en-US" sz="1200" dirty="0"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920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dirty="0"/>
              <a:t>Producing a SOAP web service</a:t>
            </a:r>
          </a:p>
          <a:p>
            <a:pPr lvl="1"/>
            <a:r>
              <a:rPr lang="en" altLang="zh-CN" dirty="0">
                <a:hlinkClick r:id="rId3"/>
              </a:rPr>
              <a:t>https://spring.io/guides/gs/producing-web-service/</a:t>
            </a:r>
            <a:r>
              <a:rPr lang="en-US" altLang="zh-CN" dirty="0"/>
              <a:t> </a:t>
            </a:r>
          </a:p>
          <a:p>
            <a:r>
              <a:rPr lang="en" altLang="zh-CN" dirty="0"/>
              <a:t>Consuming a SOAP web service</a:t>
            </a:r>
          </a:p>
          <a:p>
            <a:pPr lvl="1"/>
            <a:r>
              <a:rPr lang="en" altLang="zh-CN" dirty="0">
                <a:hlinkClick r:id="rId4"/>
              </a:rPr>
              <a:t>https://spring.io/guides/gs/consuming-web-service/</a:t>
            </a:r>
            <a:endParaRPr lang="en" altLang="zh-CN" dirty="0"/>
          </a:p>
          <a:p>
            <a:r>
              <a:rPr lang="en" altLang="zh-CN" dirty="0"/>
              <a:t>Building a RESTful Web Service</a:t>
            </a:r>
          </a:p>
          <a:p>
            <a:pPr lvl="1"/>
            <a:r>
              <a:rPr lang="en" altLang="zh-CN" dirty="0">
                <a:hlinkClick r:id="rId5"/>
              </a:rPr>
              <a:t>https://spring.io/guides/gs/rest-service/</a:t>
            </a:r>
            <a:endParaRPr lang="e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097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01670" y="3327834"/>
            <a:ext cx="351039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Thank You!</a:t>
            </a:r>
            <a:endParaRPr lang="zh-CN" altLang="en-US" sz="4500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108" y="489226"/>
            <a:ext cx="1848521" cy="517586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03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34951</TotalTime>
  <Words>5620</Words>
  <Application>Microsoft Macintosh PowerPoint</Application>
  <PresentationFormat>全屏显示(16:9)</PresentationFormat>
  <Paragraphs>624</Paragraphs>
  <Slides>61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5" baseType="lpstr">
      <vt:lpstr>-apple-system</vt:lpstr>
      <vt:lpstr>DengXian</vt:lpstr>
      <vt:lpstr>微软雅黑</vt:lpstr>
      <vt:lpstr>IBMPlexMono, Monaco,  Courier New</vt:lpstr>
      <vt:lpstr>JetBrains Mono</vt:lpstr>
      <vt:lpstr>Arial</vt:lpstr>
      <vt:lpstr>Calibri</vt:lpstr>
      <vt:lpstr>Cambria</vt:lpstr>
      <vt:lpstr>Consolas</vt:lpstr>
      <vt:lpstr>Courier New</vt:lpstr>
      <vt:lpstr>Tahoma</vt:lpstr>
      <vt:lpstr>Times New Roman</vt:lpstr>
      <vt:lpstr>Wingdings</vt:lpstr>
      <vt:lpstr>Office 主题​​</vt:lpstr>
      <vt:lpstr>Architecture of Enterprise Applications 9 Web Services </vt:lpstr>
      <vt:lpstr>Contents and Objectives</vt:lpstr>
      <vt:lpstr>Web Services Overview</vt:lpstr>
      <vt:lpstr>SOAP</vt:lpstr>
      <vt:lpstr>WSDL</vt:lpstr>
      <vt:lpstr>WSDL</vt:lpstr>
      <vt:lpstr>WSDL</vt:lpstr>
      <vt:lpstr>WSDL</vt:lpstr>
      <vt:lpstr>Accessing Web Service</vt:lpstr>
      <vt:lpstr>Producing a SOAP Web Service</vt:lpstr>
      <vt:lpstr>Producing a SOAP Web Service</vt:lpstr>
      <vt:lpstr>Producing a SOAP Web Service</vt:lpstr>
      <vt:lpstr>Producing a SOAP Web Service</vt:lpstr>
      <vt:lpstr>Producing a SOAP Web Service</vt:lpstr>
      <vt:lpstr>Producing a SOAP Web Service</vt:lpstr>
      <vt:lpstr>Producing a SOAP Web Service</vt:lpstr>
      <vt:lpstr>Producing a SOAP Web Service</vt:lpstr>
      <vt:lpstr>Producing a SOAP Web Service</vt:lpstr>
      <vt:lpstr>Producing a SOAP Web Service</vt:lpstr>
      <vt:lpstr>Producing a SOAP Web Service</vt:lpstr>
      <vt:lpstr>Consuming a SOAP web service</vt:lpstr>
      <vt:lpstr>Consuming a SOAP web service</vt:lpstr>
      <vt:lpstr>Consuming a SOAP web service</vt:lpstr>
      <vt:lpstr>Consuming a SOAP web service</vt:lpstr>
      <vt:lpstr>Consuming a SOAP web service</vt:lpstr>
      <vt:lpstr>Consuming a SOAP web service</vt:lpstr>
      <vt:lpstr>JAX-WS Web Service</vt:lpstr>
      <vt:lpstr>JAX-WS Web Service</vt:lpstr>
      <vt:lpstr>JAX-WS Web Service</vt:lpstr>
      <vt:lpstr>JAX-WS Web Service</vt:lpstr>
      <vt:lpstr>JAX-WS Web Service</vt:lpstr>
      <vt:lpstr>Consuming JAX-WS in Java</vt:lpstr>
      <vt:lpstr>Consuming JAX-WS in Java</vt:lpstr>
      <vt:lpstr>Why</vt:lpstr>
      <vt:lpstr>Restful Web Service</vt:lpstr>
      <vt:lpstr>What</vt:lpstr>
      <vt:lpstr>What</vt:lpstr>
      <vt:lpstr>How to design REST</vt:lpstr>
      <vt:lpstr>How to design REST</vt:lpstr>
      <vt:lpstr>How to Get a Cup of Coffee</vt:lpstr>
      <vt:lpstr>How to Get a Cup of Coffee</vt:lpstr>
      <vt:lpstr>How to Get a Cup of Coffee</vt:lpstr>
      <vt:lpstr>How to Get a Cup of Coffee</vt:lpstr>
      <vt:lpstr>How to Get a Cup of Coffee</vt:lpstr>
      <vt:lpstr>How to Get a Cup of Coffee</vt:lpstr>
      <vt:lpstr>How to Get a Cup of Coffee</vt:lpstr>
      <vt:lpstr>How to Get a Cup of Coffee</vt:lpstr>
      <vt:lpstr>How to Get a Cup of Coffee</vt:lpstr>
      <vt:lpstr>How to Get a Cup of Coffee</vt:lpstr>
      <vt:lpstr>How to Get a Cup of Coffee</vt:lpstr>
      <vt:lpstr>How to Get a Cup of Coffee</vt:lpstr>
      <vt:lpstr>How to Get a Cup of Coffee</vt:lpstr>
      <vt:lpstr>Building a RESTful Web Service</vt:lpstr>
      <vt:lpstr>Building a RESTful Web Service</vt:lpstr>
      <vt:lpstr>Consuming a RESTful Web Service</vt:lpstr>
      <vt:lpstr>Consuming a RESTful Web Service</vt:lpstr>
      <vt:lpstr>Consuming a RESTful Web Service</vt:lpstr>
      <vt:lpstr>Trade-off of WS</vt:lpstr>
      <vt:lpstr>When </vt:lpstr>
      <vt:lpstr>References</vt:lpstr>
      <vt:lpstr>PowerPoint 演示文稿</vt:lpstr>
    </vt:vector>
  </TitlesOfParts>
  <Company>REINS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REINS PPT</dc:title>
  <dc:subject>REINS BLUE</dc:subject>
  <dc:creator>REINS</dc:creator>
  <cp:lastModifiedBy>haopeng chen</cp:lastModifiedBy>
  <cp:revision>1711</cp:revision>
  <dcterms:created xsi:type="dcterms:W3CDTF">2011-12-13T14:18:46Z</dcterms:created>
  <dcterms:modified xsi:type="dcterms:W3CDTF">2023-10-16T05:36:22Z</dcterms:modified>
</cp:coreProperties>
</file>